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6" r:id="rId5"/>
    <p:sldMasterId id="2147483671" r:id="rId6"/>
  </p:sldMasterIdLst>
  <p:notesMasterIdLst>
    <p:notesMasterId r:id="rId29"/>
  </p:notesMasterIdLst>
  <p:sldIdLst>
    <p:sldId id="561" r:id="rId7"/>
    <p:sldId id="2147483647" r:id="rId8"/>
    <p:sldId id="260" r:id="rId9"/>
    <p:sldId id="261" r:id="rId10"/>
    <p:sldId id="282" r:id="rId11"/>
    <p:sldId id="267" r:id="rId12"/>
    <p:sldId id="264" r:id="rId13"/>
    <p:sldId id="269" r:id="rId14"/>
    <p:sldId id="283" r:id="rId15"/>
    <p:sldId id="314" r:id="rId16"/>
    <p:sldId id="323" r:id="rId17"/>
    <p:sldId id="344" r:id="rId18"/>
    <p:sldId id="345" r:id="rId19"/>
    <p:sldId id="346" r:id="rId20"/>
    <p:sldId id="325" r:id="rId21"/>
    <p:sldId id="331" r:id="rId22"/>
    <p:sldId id="327" r:id="rId23"/>
    <p:sldId id="326" r:id="rId24"/>
    <p:sldId id="342" r:id="rId25"/>
    <p:sldId id="258" r:id="rId26"/>
    <p:sldId id="259" r:id="rId27"/>
    <p:sldId id="256" r:id="rId28"/>
  </p:sldIdLst>
  <p:sldSz cx="20104100" cy="11309350"/>
  <p:notesSz cx="6858000" cy="9144000"/>
  <p:defaultTextStyle>
    <a:defPPr>
      <a:defRPr lang="en-US"/>
    </a:defPPr>
    <a:lvl1pPr marL="0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1pPr>
    <a:lvl2pPr marL="753923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2pPr>
    <a:lvl3pPr marL="1507846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3pPr>
    <a:lvl4pPr marL="2261768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4pPr>
    <a:lvl5pPr marL="3015691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5pPr>
    <a:lvl6pPr marL="3769614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6pPr>
    <a:lvl7pPr marL="4523537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7pPr>
    <a:lvl8pPr marL="5277460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8pPr>
    <a:lvl9pPr marL="6031382" algn="l" defTabSz="1507846" rtl="0" eaLnBrk="1" latinLnBrk="0" hangingPunct="1">
      <a:defRPr sz="296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BE8724-8E98-411C-9684-ABD8152EB447}">
          <p14:sldIdLst>
            <p14:sldId id="561"/>
          </p14:sldIdLst>
        </p14:section>
        <p14:section name="SPD Dashboard" id="{B4561748-8AAB-4082-AEEA-65130E6E8119}">
          <p14:sldIdLst>
            <p14:sldId id="2147483647"/>
          </p14:sldIdLst>
        </p14:section>
        <p14:section name="FDC" id="{FB243C43-CAE2-457A-8919-A50068D07D64}">
          <p14:sldIdLst>
            <p14:sldId id="260"/>
            <p14:sldId id="261"/>
          </p14:sldIdLst>
        </p14:section>
        <p14:section name="SCV" id="{724B2FBC-61BE-4E96-9562-010897B56495}">
          <p14:sldIdLst>
            <p14:sldId id="282"/>
            <p14:sldId id="267"/>
          </p14:sldIdLst>
        </p14:section>
        <p14:section name="M1Install" id="{E960ECDA-F107-49BA-AF22-45F50AE95925}">
          <p14:sldIdLst>
            <p14:sldId id="264"/>
            <p14:sldId id="269"/>
            <p14:sldId id="283"/>
            <p14:sldId id="314"/>
            <p14:sldId id="323"/>
          </p14:sldIdLst>
        </p14:section>
        <p14:section name="FIV" id="{2EC3B98B-AD9B-4D9F-8976-C6218D9E585C}">
          <p14:sldIdLst>
            <p14:sldId id="344"/>
            <p14:sldId id="345"/>
            <p14:sldId id="346"/>
          </p14:sldIdLst>
        </p14:section>
        <p14:section name="M2 Activate" id="{6A958018-8FEA-4D38-902B-5EB5279DF521}">
          <p14:sldIdLst>
            <p14:sldId id="325"/>
            <p14:sldId id="331"/>
            <p14:sldId id="327"/>
            <p14:sldId id="326"/>
            <p14:sldId id="342"/>
          </p14:sldIdLst>
        </p14:section>
        <p14:section name="PPC -Permit Pak Complete" id="{235FA0A1-F696-4DE8-AA6A-B0D56C578FCA}">
          <p14:sldIdLst>
            <p14:sldId id="258"/>
            <p14:sldId id="259"/>
          </p14:sldIdLst>
        </p14:section>
        <p14:section name="NH Dashboard" id="{0DC4311D-53C5-488A-817F-33F5FB1A10C1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00CC99"/>
    <a:srgbClr val="009900"/>
    <a:srgbClr val="FF6600"/>
    <a:srgbClr val="E468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9F065-F12F-4CB7-BC36-BB2236E6A818}" v="5" dt="2026-07-07T11:25:37.5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118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F - Edryl Figueroa" userId="e064a264-e925-45e4-bb52-a7a49365f90b" providerId="ADAL" clId="{02A356EF-B411-4AD7-A36A-223A5F5064DF}"/>
    <pc:docChg chg="addSld delSld modSld modSection">
      <pc:chgData name="ERF - Edryl Figueroa" userId="e064a264-e925-45e4-bb52-a7a49365f90b" providerId="ADAL" clId="{02A356EF-B411-4AD7-A36A-223A5F5064DF}" dt="2026-07-07T11:35:32.261" v="89" actId="1076"/>
      <pc:docMkLst>
        <pc:docMk/>
      </pc:docMkLst>
      <pc:sldChg chg="modSp mod">
        <pc:chgData name="ERF - Edryl Figueroa" userId="e064a264-e925-45e4-bb52-a7a49365f90b" providerId="ADAL" clId="{02A356EF-B411-4AD7-A36A-223A5F5064DF}" dt="2026-07-07T11:35:32.261" v="89" actId="1076"/>
        <pc:sldMkLst>
          <pc:docMk/>
          <pc:sldMk cId="2803480080" sldId="256"/>
        </pc:sldMkLst>
        <pc:spChg chg="mod">
          <ac:chgData name="ERF - Edryl Figueroa" userId="e064a264-e925-45e4-bb52-a7a49365f90b" providerId="ADAL" clId="{02A356EF-B411-4AD7-A36A-223A5F5064DF}" dt="2026-07-07T11:35:32.261" v="89" actId="1076"/>
          <ac:spMkLst>
            <pc:docMk/>
            <pc:sldMk cId="2803480080" sldId="256"/>
            <ac:spMk id="4" creationId="{4D82331A-2CC6-802D-40E1-3C79515DD58C}"/>
          </ac:spMkLst>
        </pc:spChg>
        <pc:spChg chg="mod">
          <ac:chgData name="ERF - Edryl Figueroa" userId="e064a264-e925-45e4-bb52-a7a49365f90b" providerId="ADAL" clId="{02A356EF-B411-4AD7-A36A-223A5F5064DF}" dt="2026-07-07T11:35:05.607" v="88" actId="20577"/>
          <ac:spMkLst>
            <pc:docMk/>
            <pc:sldMk cId="2803480080" sldId="256"/>
            <ac:spMk id="6" creationId="{19D346E1-508B-B465-5B03-9383BE368FD6}"/>
          </ac:spMkLst>
        </pc:spChg>
        <pc:graphicFrameChg chg="modGraphic">
          <ac:chgData name="ERF - Edryl Figueroa" userId="e064a264-e925-45e4-bb52-a7a49365f90b" providerId="ADAL" clId="{02A356EF-B411-4AD7-A36A-223A5F5064DF}" dt="2026-07-07T11:26:00.776" v="32" actId="20577"/>
          <ac:graphicFrameMkLst>
            <pc:docMk/>
            <pc:sldMk cId="2803480080" sldId="256"/>
            <ac:graphicFrameMk id="5" creationId="{EB15402C-443F-4BF2-65CC-AE118FAE5A76}"/>
          </ac:graphicFrameMkLst>
        </pc:graphicFrameChg>
      </pc:sldChg>
      <pc:sldChg chg="del">
        <pc:chgData name="ERF - Edryl Figueroa" userId="e064a264-e925-45e4-bb52-a7a49365f90b" providerId="ADAL" clId="{02A356EF-B411-4AD7-A36A-223A5F5064DF}" dt="2026-07-07T11:23:13.265" v="23" actId="47"/>
        <pc:sldMkLst>
          <pc:docMk/>
          <pc:sldMk cId="1812711589" sldId="257"/>
        </pc:sldMkLst>
      </pc:sldChg>
      <pc:sldChg chg="modSp add mod">
        <pc:chgData name="ERF - Edryl Figueroa" userId="e064a264-e925-45e4-bb52-a7a49365f90b" providerId="ADAL" clId="{02A356EF-B411-4AD7-A36A-223A5F5064DF}" dt="2026-07-07T11:21:06.631" v="20" actId="20577"/>
        <pc:sldMkLst>
          <pc:docMk/>
          <pc:sldMk cId="960876856" sldId="260"/>
        </pc:sldMkLst>
        <pc:spChg chg="mod">
          <ac:chgData name="ERF - Edryl Figueroa" userId="e064a264-e925-45e4-bb52-a7a49365f90b" providerId="ADAL" clId="{02A356EF-B411-4AD7-A36A-223A5F5064DF}" dt="2026-07-07T11:21:06.631" v="20" actId="20577"/>
          <ac:spMkLst>
            <pc:docMk/>
            <pc:sldMk cId="960876856" sldId="260"/>
            <ac:spMk id="24" creationId="{8744F8F2-B3B5-A915-36EE-C48085DCF7FC}"/>
          </ac:spMkLst>
        </pc:spChg>
      </pc:sldChg>
      <pc:sldChg chg="add">
        <pc:chgData name="ERF - Edryl Figueroa" userId="e064a264-e925-45e4-bb52-a7a49365f90b" providerId="ADAL" clId="{02A356EF-B411-4AD7-A36A-223A5F5064DF}" dt="2026-07-07T11:18:24.590" v="13"/>
        <pc:sldMkLst>
          <pc:docMk/>
          <pc:sldMk cId="3993314866" sldId="261"/>
        </pc:sldMkLst>
      </pc:sldChg>
      <pc:sldChg chg="add">
        <pc:chgData name="ERF - Edryl Figueroa" userId="e064a264-e925-45e4-bb52-a7a49365f90b" providerId="ADAL" clId="{02A356EF-B411-4AD7-A36A-223A5F5064DF}" dt="2026-07-07T11:23:17.333" v="24"/>
        <pc:sldMkLst>
          <pc:docMk/>
          <pc:sldMk cId="3057977440" sldId="264"/>
        </pc:sldMkLst>
      </pc:sldChg>
      <pc:sldChg chg="add">
        <pc:chgData name="ERF - Edryl Figueroa" userId="e064a264-e925-45e4-bb52-a7a49365f90b" providerId="ADAL" clId="{02A356EF-B411-4AD7-A36A-223A5F5064DF}" dt="2026-07-07T11:22:09.248" v="22"/>
        <pc:sldMkLst>
          <pc:docMk/>
          <pc:sldMk cId="3244098183" sldId="267"/>
        </pc:sldMkLst>
      </pc:sldChg>
      <pc:sldChg chg="del">
        <pc:chgData name="ERF - Edryl Figueroa" userId="e064a264-e925-45e4-bb52-a7a49365f90b" providerId="ADAL" clId="{02A356EF-B411-4AD7-A36A-223A5F5064DF}" dt="2026-07-07T11:22:03.966" v="21" actId="47"/>
        <pc:sldMkLst>
          <pc:docMk/>
          <pc:sldMk cId="4021148107" sldId="267"/>
        </pc:sldMkLst>
      </pc:sldChg>
      <pc:sldChg chg="add">
        <pc:chgData name="ERF - Edryl Figueroa" userId="e064a264-e925-45e4-bb52-a7a49365f90b" providerId="ADAL" clId="{02A356EF-B411-4AD7-A36A-223A5F5064DF}" dt="2026-07-07T11:23:17.333" v="24"/>
        <pc:sldMkLst>
          <pc:docMk/>
          <pc:sldMk cId="3667254705" sldId="269"/>
        </pc:sldMkLst>
      </pc:sldChg>
      <pc:sldChg chg="add">
        <pc:chgData name="ERF - Edryl Figueroa" userId="e064a264-e925-45e4-bb52-a7a49365f90b" providerId="ADAL" clId="{02A356EF-B411-4AD7-A36A-223A5F5064DF}" dt="2026-07-07T11:22:09.248" v="22"/>
        <pc:sldMkLst>
          <pc:docMk/>
          <pc:sldMk cId="1410042476" sldId="282"/>
        </pc:sldMkLst>
      </pc:sldChg>
      <pc:sldChg chg="add">
        <pc:chgData name="ERF - Edryl Figueroa" userId="e064a264-e925-45e4-bb52-a7a49365f90b" providerId="ADAL" clId="{02A356EF-B411-4AD7-A36A-223A5F5064DF}" dt="2026-07-07T11:23:17.333" v="24"/>
        <pc:sldMkLst>
          <pc:docMk/>
          <pc:sldMk cId="1375683983" sldId="283"/>
        </pc:sldMkLst>
      </pc:sldChg>
      <pc:sldChg chg="del">
        <pc:chgData name="ERF - Edryl Figueroa" userId="e064a264-e925-45e4-bb52-a7a49365f90b" providerId="ADAL" clId="{02A356EF-B411-4AD7-A36A-223A5F5064DF}" dt="2026-07-07T11:23:13.265" v="23" actId="47"/>
        <pc:sldMkLst>
          <pc:docMk/>
          <pc:sldMk cId="1862058849" sldId="293"/>
        </pc:sldMkLst>
      </pc:sldChg>
      <pc:sldChg chg="del">
        <pc:chgData name="ERF - Edryl Figueroa" userId="e064a264-e925-45e4-bb52-a7a49365f90b" providerId="ADAL" clId="{02A356EF-B411-4AD7-A36A-223A5F5064DF}" dt="2026-07-07T11:23:13.265" v="23" actId="47"/>
        <pc:sldMkLst>
          <pc:docMk/>
          <pc:sldMk cId="3549505609" sldId="294"/>
        </pc:sldMkLst>
      </pc:sldChg>
      <pc:sldChg chg="del">
        <pc:chgData name="ERF - Edryl Figueroa" userId="e064a264-e925-45e4-bb52-a7a49365f90b" providerId="ADAL" clId="{02A356EF-B411-4AD7-A36A-223A5F5064DF}" dt="2026-07-07T11:22:03.966" v="21" actId="47"/>
        <pc:sldMkLst>
          <pc:docMk/>
          <pc:sldMk cId="854944380" sldId="296"/>
        </pc:sldMkLst>
      </pc:sldChg>
      <pc:sldChg chg="del">
        <pc:chgData name="ERF - Edryl Figueroa" userId="e064a264-e925-45e4-bb52-a7a49365f90b" providerId="ADAL" clId="{02A356EF-B411-4AD7-A36A-223A5F5064DF}" dt="2026-07-07T11:23:13.265" v="23" actId="47"/>
        <pc:sldMkLst>
          <pc:docMk/>
          <pc:sldMk cId="1996929365" sldId="297"/>
        </pc:sldMkLst>
      </pc:sldChg>
      <pc:sldChg chg="del">
        <pc:chgData name="ERF - Edryl Figueroa" userId="e064a264-e925-45e4-bb52-a7a49365f90b" providerId="ADAL" clId="{02A356EF-B411-4AD7-A36A-223A5F5064DF}" dt="2026-07-07T11:25:33.459" v="27" actId="47"/>
        <pc:sldMkLst>
          <pc:docMk/>
          <pc:sldMk cId="2198720116" sldId="303"/>
        </pc:sldMkLst>
      </pc:sldChg>
      <pc:sldChg chg="del">
        <pc:chgData name="ERF - Edryl Figueroa" userId="e064a264-e925-45e4-bb52-a7a49365f90b" providerId="ADAL" clId="{02A356EF-B411-4AD7-A36A-223A5F5064DF}" dt="2026-07-07T11:25:33.459" v="27" actId="47"/>
        <pc:sldMkLst>
          <pc:docMk/>
          <pc:sldMk cId="1879891311" sldId="304"/>
        </pc:sldMkLst>
      </pc:sldChg>
      <pc:sldChg chg="del">
        <pc:chgData name="ERF - Edryl Figueroa" userId="e064a264-e925-45e4-bb52-a7a49365f90b" providerId="ADAL" clId="{02A356EF-B411-4AD7-A36A-223A5F5064DF}" dt="2026-07-07T11:25:33.459" v="27" actId="47"/>
        <pc:sldMkLst>
          <pc:docMk/>
          <pc:sldMk cId="3776485016" sldId="308"/>
        </pc:sldMkLst>
      </pc:sldChg>
      <pc:sldChg chg="del">
        <pc:chgData name="ERF - Edryl Figueroa" userId="e064a264-e925-45e4-bb52-a7a49365f90b" providerId="ADAL" clId="{02A356EF-B411-4AD7-A36A-223A5F5064DF}" dt="2026-07-07T11:25:33.459" v="27" actId="47"/>
        <pc:sldMkLst>
          <pc:docMk/>
          <pc:sldMk cId="1819778719" sldId="310"/>
        </pc:sldMkLst>
      </pc:sldChg>
      <pc:sldChg chg="del">
        <pc:chgData name="ERF - Edryl Figueroa" userId="e064a264-e925-45e4-bb52-a7a49365f90b" providerId="ADAL" clId="{02A356EF-B411-4AD7-A36A-223A5F5064DF}" dt="2026-07-07T11:25:33.459" v="27" actId="47"/>
        <pc:sldMkLst>
          <pc:docMk/>
          <pc:sldMk cId="3795707798" sldId="313"/>
        </pc:sldMkLst>
      </pc:sldChg>
      <pc:sldChg chg="add">
        <pc:chgData name="ERF - Edryl Figueroa" userId="e064a264-e925-45e4-bb52-a7a49365f90b" providerId="ADAL" clId="{02A356EF-B411-4AD7-A36A-223A5F5064DF}" dt="2026-07-07T11:23:17.333" v="24"/>
        <pc:sldMkLst>
          <pc:docMk/>
          <pc:sldMk cId="4081582031" sldId="314"/>
        </pc:sldMkLst>
      </pc:sldChg>
      <pc:sldChg chg="add">
        <pc:chgData name="ERF - Edryl Figueroa" userId="e064a264-e925-45e4-bb52-a7a49365f90b" providerId="ADAL" clId="{02A356EF-B411-4AD7-A36A-223A5F5064DF}" dt="2026-07-07T11:23:17.333" v="24"/>
        <pc:sldMkLst>
          <pc:docMk/>
          <pc:sldMk cId="3009526268" sldId="323"/>
        </pc:sldMkLst>
      </pc:sldChg>
      <pc:sldChg chg="del">
        <pc:chgData name="ERF - Edryl Figueroa" userId="e064a264-e925-45e4-bb52-a7a49365f90b" providerId="ADAL" clId="{02A356EF-B411-4AD7-A36A-223A5F5064DF}" dt="2026-07-07T11:23:13.265" v="23" actId="47"/>
        <pc:sldMkLst>
          <pc:docMk/>
          <pc:sldMk cId="3998575436" sldId="324"/>
        </pc:sldMkLst>
      </pc:sldChg>
      <pc:sldChg chg="add">
        <pc:chgData name="ERF - Edryl Figueroa" userId="e064a264-e925-45e4-bb52-a7a49365f90b" providerId="ADAL" clId="{02A356EF-B411-4AD7-A36A-223A5F5064DF}" dt="2026-07-07T11:25:37.542" v="28"/>
        <pc:sldMkLst>
          <pc:docMk/>
          <pc:sldMk cId="2977967260" sldId="325"/>
        </pc:sldMkLst>
      </pc:sldChg>
      <pc:sldChg chg="add">
        <pc:chgData name="ERF - Edryl Figueroa" userId="e064a264-e925-45e4-bb52-a7a49365f90b" providerId="ADAL" clId="{02A356EF-B411-4AD7-A36A-223A5F5064DF}" dt="2026-07-07T11:25:37.542" v="28"/>
        <pc:sldMkLst>
          <pc:docMk/>
          <pc:sldMk cId="170303771" sldId="326"/>
        </pc:sldMkLst>
      </pc:sldChg>
      <pc:sldChg chg="add">
        <pc:chgData name="ERF - Edryl Figueroa" userId="e064a264-e925-45e4-bb52-a7a49365f90b" providerId="ADAL" clId="{02A356EF-B411-4AD7-A36A-223A5F5064DF}" dt="2026-07-07T11:25:37.542" v="28"/>
        <pc:sldMkLst>
          <pc:docMk/>
          <pc:sldMk cId="1666295951" sldId="327"/>
        </pc:sldMkLst>
      </pc:sldChg>
      <pc:sldChg chg="del">
        <pc:chgData name="ERF - Edryl Figueroa" userId="e064a264-e925-45e4-bb52-a7a49365f90b" providerId="ADAL" clId="{02A356EF-B411-4AD7-A36A-223A5F5064DF}" dt="2026-07-07T11:18:28.846" v="14" actId="47"/>
        <pc:sldMkLst>
          <pc:docMk/>
          <pc:sldMk cId="3817393051" sldId="328"/>
        </pc:sldMkLst>
      </pc:sldChg>
      <pc:sldChg chg="add">
        <pc:chgData name="ERF - Edryl Figueroa" userId="e064a264-e925-45e4-bb52-a7a49365f90b" providerId="ADAL" clId="{02A356EF-B411-4AD7-A36A-223A5F5064DF}" dt="2026-07-07T11:25:37.542" v="28"/>
        <pc:sldMkLst>
          <pc:docMk/>
          <pc:sldMk cId="3270601496" sldId="331"/>
        </pc:sldMkLst>
      </pc:sldChg>
      <pc:sldChg chg="add">
        <pc:chgData name="ERF - Edryl Figueroa" userId="e064a264-e925-45e4-bb52-a7a49365f90b" providerId="ADAL" clId="{02A356EF-B411-4AD7-A36A-223A5F5064DF}" dt="2026-07-07T11:25:37.542" v="28"/>
        <pc:sldMkLst>
          <pc:docMk/>
          <pc:sldMk cId="1612666698" sldId="342"/>
        </pc:sldMkLst>
      </pc:sldChg>
      <pc:sldChg chg="del">
        <pc:chgData name="ERF - Edryl Figueroa" userId="e064a264-e925-45e4-bb52-a7a49365f90b" providerId="ADAL" clId="{02A356EF-B411-4AD7-A36A-223A5F5064DF}" dt="2026-07-07T11:18:28.846" v="14" actId="47"/>
        <pc:sldMkLst>
          <pc:docMk/>
          <pc:sldMk cId="302970217" sldId="343"/>
        </pc:sldMkLst>
      </pc:sldChg>
      <pc:sldChg chg="add del">
        <pc:chgData name="ERF - Edryl Figueroa" userId="e064a264-e925-45e4-bb52-a7a49365f90b" providerId="ADAL" clId="{02A356EF-B411-4AD7-A36A-223A5F5064DF}" dt="2026-07-07T11:24:00.691" v="26"/>
        <pc:sldMkLst>
          <pc:docMk/>
          <pc:sldMk cId="2273466997" sldId="344"/>
        </pc:sldMkLst>
      </pc:sldChg>
      <pc:sldChg chg="add del">
        <pc:chgData name="ERF - Edryl Figueroa" userId="e064a264-e925-45e4-bb52-a7a49365f90b" providerId="ADAL" clId="{02A356EF-B411-4AD7-A36A-223A5F5064DF}" dt="2026-07-07T11:24:00.691" v="26"/>
        <pc:sldMkLst>
          <pc:docMk/>
          <pc:sldMk cId="1492166039" sldId="345"/>
        </pc:sldMkLst>
      </pc:sldChg>
      <pc:sldChg chg="add del">
        <pc:chgData name="ERF - Edryl Figueroa" userId="e064a264-e925-45e4-bb52-a7a49365f90b" providerId="ADAL" clId="{02A356EF-B411-4AD7-A36A-223A5F5064DF}" dt="2026-07-07T11:24:00.691" v="26"/>
        <pc:sldMkLst>
          <pc:docMk/>
          <pc:sldMk cId="2582704156" sldId="346"/>
        </pc:sldMkLst>
      </pc:sldChg>
      <pc:sldChg chg="modSp mod">
        <pc:chgData name="ERF - Edryl Figueroa" userId="e064a264-e925-45e4-bb52-a7a49365f90b" providerId="ADAL" clId="{02A356EF-B411-4AD7-A36A-223A5F5064DF}" dt="2026-07-07T11:33:38.832" v="81" actId="20577"/>
        <pc:sldMkLst>
          <pc:docMk/>
          <pc:sldMk cId="3119984881" sldId="2147483647"/>
        </pc:sldMkLst>
        <pc:spChg chg="mod">
          <ac:chgData name="ERF - Edryl Figueroa" userId="e064a264-e925-45e4-bb52-a7a49365f90b" providerId="ADAL" clId="{02A356EF-B411-4AD7-A36A-223A5F5064DF}" dt="2026-07-07T11:28:46.412" v="60" actId="20577"/>
          <ac:spMkLst>
            <pc:docMk/>
            <pc:sldMk cId="3119984881" sldId="2147483647"/>
            <ac:spMk id="6" creationId="{79246A5D-60CA-F942-021A-8E91B02184EF}"/>
          </ac:spMkLst>
        </pc:spChg>
        <pc:graphicFrameChg chg="modGraphic">
          <ac:chgData name="ERF - Edryl Figueroa" userId="e064a264-e925-45e4-bb52-a7a49365f90b" providerId="ADAL" clId="{02A356EF-B411-4AD7-A36A-223A5F5064DF}" dt="2026-07-07T11:33:38.832" v="81" actId="20577"/>
          <ac:graphicFrameMkLst>
            <pc:docMk/>
            <pc:sldMk cId="3119984881" sldId="2147483647"/>
            <ac:graphicFrameMk id="10" creationId="{8DFDCCA2-F747-CCE1-1DB0-7316103F749D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PowerPoint]FPY_Summary!FPY_MILESTONE</c:name>
    <c:fmtId val="6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n-US" dirty="0"/>
              <a:t>SPWR DIRECT: FDC FIRST PASS YIELD</a:t>
            </a:r>
          </a:p>
          <a:p>
            <a:pPr>
              <a:defRPr sz="2800"/>
            </a:pPr>
            <a:r>
              <a:rPr lang="en-US" dirty="0"/>
              <a:t>FPY TARGET = 100%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FPY_Summary!$F$49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FPY_Summary!$B$50:$B$56</c:f>
              <c:multiLvlStrCache>
                <c:ptCount val="5"/>
                <c:lvl>
                  <c:pt idx="0">
                    <c:v>23</c:v>
                  </c:pt>
                  <c:pt idx="1">
                    <c:v>24</c:v>
                  </c:pt>
                  <c:pt idx="2">
                    <c:v>25</c:v>
                  </c:pt>
                  <c:pt idx="3">
                    <c:v>26</c:v>
                  </c:pt>
                  <c:pt idx="4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FPY_Summary!$F$50:$F$56</c:f>
              <c:numCache>
                <c:formatCode>#,##0</c:formatCode>
                <c:ptCount val="5"/>
                <c:pt idx="0">
                  <c:v>165</c:v>
                </c:pt>
                <c:pt idx="1">
                  <c:v>139</c:v>
                </c:pt>
                <c:pt idx="2">
                  <c:v>75</c:v>
                </c:pt>
                <c:pt idx="3">
                  <c:v>67</c:v>
                </c:pt>
                <c:pt idx="4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2121840"/>
        <c:axId val="42121360"/>
      </c:barChart>
      <c:lineChart>
        <c:grouping val="standard"/>
        <c:varyColors val="0"/>
        <c:ser>
          <c:idx val="0"/>
          <c:order val="0"/>
          <c:tx>
            <c:strRef>
              <c:f>FPY_Summary!$C$49</c:f>
              <c:strCache>
                <c:ptCount val="1"/>
                <c:pt idx="0">
                  <c:v>FPY</c:v>
                </c:pt>
              </c:strCache>
            </c:strRef>
          </c:tx>
          <c:spPr>
            <a:ln w="38100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2">
                  <a:lumMod val="90000"/>
                  <a:lumOff val="1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FPY_Summary!$B$50:$B$56</c:f>
              <c:multiLvlStrCache>
                <c:ptCount val="5"/>
                <c:lvl>
                  <c:pt idx="0">
                    <c:v>23</c:v>
                  </c:pt>
                  <c:pt idx="1">
                    <c:v>24</c:v>
                  </c:pt>
                  <c:pt idx="2">
                    <c:v>25</c:v>
                  </c:pt>
                  <c:pt idx="3">
                    <c:v>26</c:v>
                  </c:pt>
                  <c:pt idx="4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FPY_Summary!$C$50:$C$56</c:f>
              <c:numCache>
                <c:formatCode>0%</c:formatCode>
                <c:ptCount val="5"/>
                <c:pt idx="0">
                  <c:v>0.73333333333333328</c:v>
                </c:pt>
                <c:pt idx="1">
                  <c:v>0.70503597122302153</c:v>
                </c:pt>
                <c:pt idx="2">
                  <c:v>0.62666666666666671</c:v>
                </c:pt>
                <c:pt idx="3">
                  <c:v>0.62686567164179108</c:v>
                </c:pt>
                <c:pt idx="4">
                  <c:v>0.60869565217391308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B6-4B24-A9C0-8F37A96F5FA4}"/>
            </c:ext>
          </c:extLst>
        </c:ser>
        <c:ser>
          <c:idx val="1"/>
          <c:order val="1"/>
          <c:tx>
            <c:strRef>
              <c:f>FPY_Summary!$D$49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FPY_Summary!$B$50:$B$56</c:f>
              <c:multiLvlStrCache>
                <c:ptCount val="5"/>
                <c:lvl>
                  <c:pt idx="0">
                    <c:v>23</c:v>
                  </c:pt>
                  <c:pt idx="1">
                    <c:v>24</c:v>
                  </c:pt>
                  <c:pt idx="2">
                    <c:v>25</c:v>
                  </c:pt>
                  <c:pt idx="3">
                    <c:v>26</c:v>
                  </c:pt>
                  <c:pt idx="4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FPY_Summary!$D$50:$D$56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B6-4B24-A9C0-8F37A96F5FA4}"/>
            </c:ext>
          </c:extLst>
        </c:ser>
        <c:ser>
          <c:idx val="2"/>
          <c:order val="2"/>
          <c:tx>
            <c:strRef>
              <c:f>FPY_Summary!$E$49</c:f>
              <c:strCache>
                <c:ptCount val="1"/>
                <c:pt idx="0">
                  <c:v>Escalation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FPY_Summary!$B$50:$B$56</c:f>
              <c:multiLvlStrCache>
                <c:ptCount val="5"/>
                <c:lvl>
                  <c:pt idx="0">
                    <c:v>23</c:v>
                  </c:pt>
                  <c:pt idx="1">
                    <c:v>24</c:v>
                  </c:pt>
                  <c:pt idx="2">
                    <c:v>25</c:v>
                  </c:pt>
                  <c:pt idx="3">
                    <c:v>26</c:v>
                  </c:pt>
                  <c:pt idx="4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FPY_Summary!$E$50:$E$56</c:f>
              <c:numCache>
                <c:formatCode>0%</c:formatCode>
                <c:ptCount val="5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444800"/>
        <c:axId val="61445280"/>
      </c:lineChart>
      <c:catAx>
        <c:axId val="61444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Work Week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5280"/>
        <c:crosses val="autoZero"/>
        <c:auto val="1"/>
        <c:lblAlgn val="ctr"/>
        <c:lblOffset val="100"/>
        <c:noMultiLvlLbl val="0"/>
      </c:catAx>
      <c:valAx>
        <c:axId val="6144528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First Pass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%" sourceLinked="1"/>
        <c:majorTickMark val="cross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4800"/>
        <c:crosses val="autoZero"/>
        <c:crossBetween val="between"/>
      </c:valAx>
      <c:valAx>
        <c:axId val="421213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42121840"/>
        <c:crosses val="max"/>
        <c:crossBetween val="between"/>
      </c:valAx>
      <c:catAx>
        <c:axId val="42121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2121360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span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[Chart in Microsoft PowerPoint]SPD_LR_FPY!spd_m1_fpy</c:name>
    <c:fmtId val="30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n-US"/>
              <a:t>SPWR DIRECT FPY M1 SUBMISSION TO CORPORATE QA</a:t>
            </a:r>
          </a:p>
          <a:p>
            <a:pPr>
              <a:defRPr sz="2800"/>
            </a:pPr>
            <a:r>
              <a:rPr lang="en-US"/>
              <a:t>FPY TARGET = 100%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8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bg1">
              <a:lumMod val="9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38100" cap="rnd">
            <a:solidFill>
              <a:schemeClr val="tx2">
                <a:lumMod val="90000"/>
                <a:lumOff val="10000"/>
              </a:schemeClr>
            </a:solidFill>
            <a:round/>
          </a:ln>
          <a:effectLst/>
        </c:spPr>
        <c:marker>
          <c:symbol val="circle"/>
          <c:size val="10"/>
          <c:spPr>
            <a:solidFill>
              <a:schemeClr val="tx2">
                <a:lumMod val="90000"/>
                <a:lumOff val="10000"/>
              </a:schemeClr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rgbClr val="FF0000"/>
            </a:solidFill>
            <a:prstDash val="sysDash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SPD_LR_FPY!$F$39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SPD_LR_FPY!$B$40:$B$51</c:f>
              <c:multiLvlStrCache>
                <c:ptCount val="10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  <c:pt idx="8">
                    <c:v>26</c:v>
                  </c:pt>
                  <c:pt idx="9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SPD_LR_FPY!$F$40:$F$51</c:f>
              <c:numCache>
                <c:formatCode>0</c:formatCode>
                <c:ptCount val="10"/>
                <c:pt idx="0">
                  <c:v>44</c:v>
                </c:pt>
                <c:pt idx="1">
                  <c:v>57</c:v>
                </c:pt>
                <c:pt idx="2">
                  <c:v>45</c:v>
                </c:pt>
                <c:pt idx="3">
                  <c:v>18</c:v>
                </c:pt>
                <c:pt idx="4">
                  <c:v>27</c:v>
                </c:pt>
                <c:pt idx="5">
                  <c:v>32</c:v>
                </c:pt>
                <c:pt idx="6">
                  <c:v>42</c:v>
                </c:pt>
                <c:pt idx="7">
                  <c:v>33</c:v>
                </c:pt>
                <c:pt idx="8">
                  <c:v>69</c:v>
                </c:pt>
                <c:pt idx="9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2121840"/>
        <c:axId val="42121360"/>
      </c:barChart>
      <c:lineChart>
        <c:grouping val="standard"/>
        <c:varyColors val="0"/>
        <c:ser>
          <c:idx val="0"/>
          <c:order val="0"/>
          <c:tx>
            <c:strRef>
              <c:f>SPD_LR_FPY!$C$39</c:f>
              <c:strCache>
                <c:ptCount val="1"/>
                <c:pt idx="0">
                  <c:v>FPY</c:v>
                </c:pt>
              </c:strCache>
            </c:strRef>
          </c:tx>
          <c:spPr>
            <a:ln w="38100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2">
                  <a:lumMod val="90000"/>
                  <a:lumOff val="10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E4DA-4CE6-9776-EF2F4F08F66D}"/>
                </c:ext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E4DA-4CE6-9776-EF2F4F08F66D}"/>
                </c:ext>
              </c:extLst>
            </c:dLbl>
            <c:dLbl>
              <c:idx val="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E4DA-4CE6-9776-EF2F4F08F6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SPD_LR_FPY!$B$40:$B$51</c:f>
              <c:multiLvlStrCache>
                <c:ptCount val="10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  <c:pt idx="8">
                    <c:v>26</c:v>
                  </c:pt>
                  <c:pt idx="9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SPD_LR_FPY!$C$40:$C$51</c:f>
              <c:numCache>
                <c:formatCode>0%</c:formatCode>
                <c:ptCount val="10"/>
                <c:pt idx="0">
                  <c:v>0.63636363636363635</c:v>
                </c:pt>
                <c:pt idx="1">
                  <c:v>0.70175438596491224</c:v>
                </c:pt>
                <c:pt idx="2">
                  <c:v>0.68888888888888888</c:v>
                </c:pt>
                <c:pt idx="3">
                  <c:v>0.88888888888888884</c:v>
                </c:pt>
                <c:pt idx="4">
                  <c:v>1</c:v>
                </c:pt>
                <c:pt idx="5">
                  <c:v>1</c:v>
                </c:pt>
                <c:pt idx="6">
                  <c:v>0.88095238095238093</c:v>
                </c:pt>
                <c:pt idx="7">
                  <c:v>0.96969696969696972</c:v>
                </c:pt>
                <c:pt idx="8">
                  <c:v>0.97101449275362317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B6-4B24-A9C0-8F37A96F5FA4}"/>
            </c:ext>
          </c:extLst>
        </c:ser>
        <c:ser>
          <c:idx val="1"/>
          <c:order val="1"/>
          <c:tx>
            <c:strRef>
              <c:f>SPD_LR_FPY!$D$39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SPD_LR_FPY!$B$40:$B$51</c:f>
              <c:multiLvlStrCache>
                <c:ptCount val="10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  <c:pt idx="8">
                    <c:v>26</c:v>
                  </c:pt>
                  <c:pt idx="9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SPD_LR_FPY!$D$40:$D$51</c:f>
              <c:numCache>
                <c:formatCode>0%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B6-4B24-A9C0-8F37A96F5FA4}"/>
            </c:ext>
          </c:extLst>
        </c:ser>
        <c:ser>
          <c:idx val="2"/>
          <c:order val="2"/>
          <c:tx>
            <c:strRef>
              <c:f>SPD_LR_FPY!$E$39</c:f>
              <c:strCache>
                <c:ptCount val="1"/>
                <c:pt idx="0">
                  <c:v>Escalation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multiLvlStrRef>
              <c:f>SPD_LR_FPY!$B$40:$B$51</c:f>
              <c:multiLvlStrCache>
                <c:ptCount val="10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  <c:pt idx="5">
                    <c:v>23</c:v>
                  </c:pt>
                  <c:pt idx="6">
                    <c:v>24</c:v>
                  </c:pt>
                  <c:pt idx="7">
                    <c:v>25</c:v>
                  </c:pt>
                  <c:pt idx="8">
                    <c:v>26</c:v>
                  </c:pt>
                  <c:pt idx="9">
                    <c:v>27</c:v>
                  </c:pt>
                </c:lvl>
                <c:lvl>
                  <c:pt idx="0">
                    <c:v>2026</c:v>
                  </c:pt>
                </c:lvl>
              </c:multiLvlStrCache>
            </c:multiLvlStrRef>
          </c:cat>
          <c:val>
            <c:numRef>
              <c:f>SPD_LR_FPY!$E$40:$E$51</c:f>
              <c:numCache>
                <c:formatCode>0%</c:formatCode>
                <c:ptCount val="10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  <c:pt idx="4">
                  <c:v>0.97</c:v>
                </c:pt>
                <c:pt idx="5">
                  <c:v>0.97</c:v>
                </c:pt>
                <c:pt idx="6">
                  <c:v>0.97</c:v>
                </c:pt>
                <c:pt idx="7">
                  <c:v>0.97</c:v>
                </c:pt>
                <c:pt idx="8">
                  <c:v>0.97</c:v>
                </c:pt>
                <c:pt idx="9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B6-4B24-A9C0-8F37A96F5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444800"/>
        <c:axId val="61445280"/>
      </c:lineChart>
      <c:catAx>
        <c:axId val="61444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Work Week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5280"/>
        <c:crosses val="autoZero"/>
        <c:auto val="1"/>
        <c:lblAlgn val="ctr"/>
        <c:lblOffset val="100"/>
        <c:noMultiLvlLbl val="0"/>
      </c:catAx>
      <c:valAx>
        <c:axId val="61445280"/>
        <c:scaling>
          <c:orientation val="minMax"/>
          <c:max val="1.1000000000000001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First Pass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%" sourceLinked="1"/>
        <c:majorTickMark val="cross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61444800"/>
        <c:crosses val="autoZero"/>
        <c:crossBetween val="between"/>
      </c:valAx>
      <c:valAx>
        <c:axId val="421213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r>
                  <a:rPr lang="en-US"/>
                  <a:t>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bg1">
                      <a:lumMod val="6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pPr>
              <a:endParaRPr lang="en-US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n-US"/>
          </a:p>
        </c:txPr>
        <c:crossAx val="42121840"/>
        <c:crosses val="max"/>
        <c:crossBetween val="between"/>
      </c:valAx>
      <c:catAx>
        <c:axId val="421218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2121360"/>
        <c:crosses val="autoZero"/>
        <c:auto val="1"/>
        <c:lblAlgn val="ctr"/>
        <c:lblOffset val="100"/>
        <c:noMultiLvlLbl val="0"/>
      </c:catAx>
      <c:spPr>
        <a:noFill/>
        <a:ln>
          <a:solidFill>
            <a:schemeClr val="bg1">
              <a:lumMod val="85000"/>
            </a:schemeClr>
          </a:solidFill>
        </a:ln>
        <a:effectLst/>
      </c:spPr>
    </c:plotArea>
    <c:plotVisOnly val="1"/>
    <c:dispBlanksAs val="span"/>
    <c:showDLblsOverMax val="0"/>
    <c:extLst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16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6A89E-7EA6-4427-A327-0EF9B6FA9C8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C4C73-F2CB-4413-B3B0-2BA2AA496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68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1pPr>
    <a:lvl2pPr marL="753923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2pPr>
    <a:lvl3pPr marL="1507846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3pPr>
    <a:lvl4pPr marL="2261768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4pPr>
    <a:lvl5pPr marL="3015691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5pPr>
    <a:lvl6pPr marL="3769614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6pPr>
    <a:lvl7pPr marL="4523537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7pPr>
    <a:lvl8pPr marL="5277460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8pPr>
    <a:lvl9pPr marL="6031382" algn="l" defTabSz="1507846" rtl="0" eaLnBrk="1" latinLnBrk="0" hangingPunct="1">
      <a:defRPr sz="19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156A-D3A2-DB65-016D-97001A1F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56775-EB14-62AF-95DD-C5A7A2846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A2D1B-B9B2-4E5D-5341-BA80FB1B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Add links to the spec</a:t>
            </a:r>
          </a:p>
          <a:p>
            <a:pPr marL="171450" indent="-171450">
              <a:buFontTx/>
              <a:buChar char="-"/>
            </a:pPr>
            <a:r>
              <a:rPr lang="en-US"/>
              <a:t>Put RCCA stage (D1,D2,etc </a:t>
            </a:r>
            <a:r>
              <a:rPr lang="en-US" err="1"/>
              <a:t>etc</a:t>
            </a:r>
            <a:r>
              <a:rPr lang="en-US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7FDAA-8C79-5103-957F-0883E6FBB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8D1E01-5660-4F4C-8C97-FFE340BD1E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605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2054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F1E90-EA39-EC9C-07B4-F17056B2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06A1C-ADF6-4118-4AFD-6FC2E3BC8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F6C48-AC84-FE51-D6BF-80D3D27B5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02CC2-E035-91C4-A54B-9C650301C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5254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Update to 25.1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3715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External Factors: Excluding AHJ, Customer, Weather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4789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739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8150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7B6151-C1A4-4908-8C54-519F3B8273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322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45BB-0D01-BD7C-0FEB-6427DA5B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C2D76-E1C9-5193-B25C-570DD99BE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97FE6-50FB-64E2-A410-75BF462A0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73406-ADB5-F3EA-D7E1-4917C424E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8D1E01-5660-4F4C-8C97-FFE340BD1E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49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yellow circle with a white circle&#10;&#10;AI-generated content may be incorrect.">
            <a:extLst>
              <a:ext uri="{FF2B5EF4-FFF2-40B4-BE49-F238E27FC236}">
                <a16:creationId xmlns:a16="http://schemas.microsoft.com/office/drawing/2014/main" id="{40E9DCC0-E6BA-0896-1B1E-44970378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5584" y="8076781"/>
            <a:ext cx="3366746" cy="4183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A8E7A0-4245-CE95-07F0-EDE27DC4C8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0204621" cy="1136589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3AE9961-7995-01EB-9F51-177FDF9941BC}"/>
              </a:ext>
            </a:extLst>
          </p:cNvPr>
          <p:cNvSpPr txBox="1">
            <a:spLocks/>
          </p:cNvSpPr>
          <p:nvPr/>
        </p:nvSpPr>
        <p:spPr>
          <a:xfrm>
            <a:off x="15418319" y="10583757"/>
            <a:ext cx="4523423" cy="602118"/>
          </a:xfrm>
          <a:prstGeom prst="rect">
            <a:avLst/>
          </a:prstGeom>
        </p:spPr>
        <p:txBody>
          <a:bodyPr vert="horz" lIns="150781" tIns="75390" rIns="150781" bIns="753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1FD3A-6AEB-0E42-877A-4FD8026E6CF2}" type="slidenum">
              <a:rPr lang="en-US" sz="1979" smtClean="0">
                <a:solidFill>
                  <a:schemeClr val="accent6"/>
                </a:solidFill>
              </a:rPr>
              <a:pPr/>
              <a:t>‹#›</a:t>
            </a:fld>
            <a:endParaRPr lang="en-US" sz="1979">
              <a:solidFill>
                <a:schemeClr val="accent6"/>
              </a:solidFill>
            </a:endParaRPr>
          </a:p>
        </p:txBody>
      </p:sp>
      <p:pic>
        <p:nvPicPr>
          <p:cNvPr id="12" name="Picture 11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5AFB21AA-5283-8B28-EB30-4E545659003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52050" y="478253"/>
            <a:ext cx="8858468" cy="110083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1B714A6-582E-70A6-082C-5FAB75A3B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766" y="7889241"/>
            <a:ext cx="9757619" cy="2186474"/>
          </a:xfrm>
        </p:spPr>
        <p:txBody>
          <a:bodyPr anchor="b">
            <a:normAutofit/>
          </a:bodyPr>
          <a:lstStyle>
            <a:lvl1pPr algn="ctr">
              <a:defRPr sz="7256" b="1" i="0" baseline="0">
                <a:solidFill>
                  <a:schemeClr val="accent5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1F7FD28-25C6-3603-8084-580A9F8EF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8505" y="10279447"/>
            <a:ext cx="7894141" cy="906420"/>
          </a:xfrm>
        </p:spPr>
        <p:txBody>
          <a:bodyPr>
            <a:normAutofit/>
          </a:bodyPr>
          <a:lstStyle>
            <a:lvl1pPr marL="0" indent="0" algn="ctr">
              <a:buNone/>
              <a:defRPr sz="2968" b="0" i="0">
                <a:solidFill>
                  <a:schemeClr val="bg2"/>
                </a:solidFill>
                <a:latin typeface="Segoe UI" panose="020B0502040204020203" pitchFamily="34" charset="0"/>
                <a:ea typeface="Open Sans Light" pitchFamily="2" charset="0"/>
                <a:cs typeface="Segoe UI" panose="020B0502040204020203" pitchFamily="34" charset="0"/>
              </a:defRPr>
            </a:lvl1pPr>
            <a:lvl2pPr marL="753888" indent="0">
              <a:buNone/>
              <a:defRPr sz="3298">
                <a:solidFill>
                  <a:schemeClr val="tx1">
                    <a:tint val="82000"/>
                  </a:schemeClr>
                </a:solidFill>
              </a:defRPr>
            </a:lvl2pPr>
            <a:lvl3pPr marL="1507776" indent="0">
              <a:buNone/>
              <a:defRPr sz="2968">
                <a:solidFill>
                  <a:schemeClr val="tx1">
                    <a:tint val="82000"/>
                  </a:schemeClr>
                </a:solidFill>
              </a:defRPr>
            </a:lvl3pPr>
            <a:lvl4pPr marL="2261663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4pPr>
            <a:lvl5pPr marL="3015551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5pPr>
            <a:lvl6pPr marL="3769439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6pPr>
            <a:lvl7pPr marL="4523327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7pPr>
            <a:lvl8pPr marL="5277216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8pPr>
            <a:lvl9pPr marL="6031102" indent="0">
              <a:buNone/>
              <a:defRPr sz="263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5011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D3C10F-713C-25A3-022A-D6DB8072F3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0204621" cy="113658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5FCBE8-2340-04A3-3CEF-E0C65C179FE1}"/>
              </a:ext>
            </a:extLst>
          </p:cNvPr>
          <p:cNvSpPr/>
          <p:nvPr/>
        </p:nvSpPr>
        <p:spPr>
          <a:xfrm>
            <a:off x="2767757" y="-174828"/>
            <a:ext cx="17533014" cy="11677047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  <a:alpha val="0"/>
                </a:schemeClr>
              </a:gs>
              <a:gs pos="49000">
                <a:schemeClr val="tx1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D04EBEF-3DBF-BE6B-A6B1-BBC926081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52637" y="5654675"/>
            <a:ext cx="7559692" cy="1533735"/>
          </a:xfrm>
        </p:spPr>
        <p:txBody>
          <a:bodyPr/>
          <a:lstStyle>
            <a:lvl1pPr marL="0" indent="0" algn="r">
              <a:buNone/>
              <a:defRPr sz="3958" b="0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753888" indent="0" algn="ctr">
              <a:buNone/>
              <a:defRPr sz="3298"/>
            </a:lvl2pPr>
            <a:lvl3pPr marL="1507776" indent="0" algn="ctr">
              <a:buNone/>
              <a:defRPr sz="2968"/>
            </a:lvl3pPr>
            <a:lvl4pPr marL="2261663" indent="0" algn="ctr">
              <a:buNone/>
              <a:defRPr sz="2638"/>
            </a:lvl4pPr>
            <a:lvl5pPr marL="3015551" indent="0" algn="ctr">
              <a:buNone/>
              <a:defRPr sz="2638"/>
            </a:lvl5pPr>
            <a:lvl6pPr marL="3769439" indent="0" algn="ctr">
              <a:buNone/>
              <a:defRPr sz="2638"/>
            </a:lvl6pPr>
            <a:lvl7pPr marL="4523327" indent="0" algn="ctr">
              <a:buNone/>
              <a:defRPr sz="2638"/>
            </a:lvl7pPr>
            <a:lvl8pPr marL="5277216" indent="0" algn="ctr">
              <a:buNone/>
              <a:defRPr sz="2638"/>
            </a:lvl8pPr>
            <a:lvl9pPr marL="6031102" indent="0" algn="ctr">
              <a:buNone/>
              <a:defRPr sz="2638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Picture 12" descr="A yellow circle with a white circle&#10;&#10;AI-generated content may be incorrect.">
            <a:extLst>
              <a:ext uri="{FF2B5EF4-FFF2-40B4-BE49-F238E27FC236}">
                <a16:creationId xmlns:a16="http://schemas.microsoft.com/office/drawing/2014/main" id="{8A8BEE67-FFA7-CEC6-3E3C-254687D60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5584" y="8076781"/>
            <a:ext cx="3366746" cy="41838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7EE9454-ECDD-6F81-959E-25AF96CA6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1783" y="486930"/>
            <a:ext cx="10740546" cy="3937329"/>
          </a:xfrm>
        </p:spPr>
        <p:txBody>
          <a:bodyPr anchor="b"/>
          <a:lstStyle>
            <a:lvl1pPr algn="r">
              <a:defRPr sz="9894" b="1" i="0" baseline="0">
                <a:solidFill>
                  <a:schemeClr val="accent5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1881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AF1351-6FEB-42E9-2FD4-682B353ACA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687" y="507498"/>
            <a:ext cx="18656732" cy="1380953"/>
          </a:xfrm>
        </p:spPr>
        <p:txBody>
          <a:bodyPr anchor="ctr" anchorCtr="0">
            <a:normAutofit/>
          </a:bodyPr>
          <a:lstStyle>
            <a:lvl1pPr algn="ctr">
              <a:defRPr sz="8575" b="1" i="0">
                <a:solidFill>
                  <a:schemeClr val="accent2"/>
                </a:solidFill>
                <a:latin typeface="Segoe UI Semibold" panose="020B0502040204020203" pitchFamily="34" charset="0"/>
                <a:ea typeface="Open Sans Light" pitchFamily="2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heavy content style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191D99C6-42BE-C19B-1B04-D643C89B874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23685" y="2100267"/>
            <a:ext cx="18656733" cy="8107765"/>
          </a:xfrm>
        </p:spPr>
        <p:txBody>
          <a:bodyPr>
            <a:noAutofit/>
          </a:bodyPr>
          <a:lstStyle>
            <a:lvl1pPr marL="0" indent="0" algn="l">
              <a:buNone/>
              <a:defRPr sz="2638" b="0" i="0">
                <a:solidFill>
                  <a:schemeClr val="accent4"/>
                </a:solidFill>
                <a:latin typeface="Segoe UI" panose="020B0502040204020203" pitchFamily="34" charset="0"/>
                <a:ea typeface="Open Sans Light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Edit content.</a:t>
            </a:r>
          </a:p>
        </p:txBody>
      </p:sp>
      <p:pic>
        <p:nvPicPr>
          <p:cNvPr id="3" name="Picture 2" descr="A black and white drawing of a solar panel&#10;&#10;AI-generated content may be incorrect.">
            <a:extLst>
              <a:ext uri="{FF2B5EF4-FFF2-40B4-BE49-F238E27FC236}">
                <a16:creationId xmlns:a16="http://schemas.microsoft.com/office/drawing/2014/main" id="{073DBE75-93FC-752F-DA71-5E0E748FDA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641889" y="10456722"/>
            <a:ext cx="1148173" cy="747586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F7413-DFCB-DFC0-7D27-B45D4BCCC0D1}"/>
              </a:ext>
            </a:extLst>
          </p:cNvPr>
          <p:cNvSpPr txBox="1">
            <a:spLocks/>
          </p:cNvSpPr>
          <p:nvPr userDrawn="1"/>
        </p:nvSpPr>
        <p:spPr>
          <a:xfrm>
            <a:off x="9515985" y="10602190"/>
            <a:ext cx="1072133" cy="602118"/>
          </a:xfrm>
          <a:prstGeom prst="rect">
            <a:avLst/>
          </a:prstGeom>
        </p:spPr>
        <p:txBody>
          <a:bodyPr vert="horz" lIns="150781" tIns="75390" rIns="150781" bIns="753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C8A1FD3A-6AEB-0E42-877A-4FD8026E6CF2}" type="slidenum">
              <a:rPr lang="en-US" sz="1979" b="0" i="0" smtClean="0">
                <a:solidFill>
                  <a:schemeClr val="accent6"/>
                </a:solidFill>
                <a:latin typeface="Segoe UI Semilight" panose="020B0502040204020203" pitchFamily="34" charset="0"/>
                <a:cs typeface="Segoe UI Semilight" panose="020B0502040204020203" pitchFamily="34" charset="0"/>
              </a:rPr>
              <a:pPr algn="ctr"/>
              <a:t>‹#›</a:t>
            </a:fld>
            <a:endParaRPr lang="en-US" sz="1979" b="0" i="0">
              <a:solidFill>
                <a:schemeClr val="accent6"/>
              </a:solidFill>
              <a:latin typeface="Segoe UI Semilight" panose="020B0502040204020203" pitchFamily="34" charset="0"/>
              <a:cs typeface="Segoe UI Semilight" panose="020B0502040204020203" pitchFamily="34" charset="0"/>
            </a:endParaRPr>
          </a:p>
        </p:txBody>
      </p:sp>
      <p:pic>
        <p:nvPicPr>
          <p:cNvPr id="9" name="Picture 8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2A0E9080-BBDF-CAE6-5A62-13CEF3F1B6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3946" y="10752405"/>
            <a:ext cx="2427570" cy="30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1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5FDB5C-A31D-BF32-0C0F-3EC582BA7E02}"/>
              </a:ext>
            </a:extLst>
          </p:cNvPr>
          <p:cNvSpPr txBox="1"/>
          <p:nvPr/>
        </p:nvSpPr>
        <p:spPr>
          <a:xfrm>
            <a:off x="998683" y="4170329"/>
            <a:ext cx="18113271" cy="100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936" b="1" i="0">
                <a:solidFill>
                  <a:schemeClr val="bg1"/>
                </a:solidFill>
                <a:latin typeface="Segoe UI Semibold" panose="020B0502040204020203" pitchFamily="34" charset="0"/>
                <a:ea typeface="Open Sans Light" pitchFamily="2" charset="0"/>
                <a:cs typeface="Segoe UI Semibold" panose="020B0502040204020203" pitchFamily="34" charset="0"/>
              </a:rPr>
              <a:t>Powering a Brighter Future.</a:t>
            </a:r>
            <a:endParaRPr lang="zh-CN" altLang="en-US" sz="5936" b="1" i="0">
              <a:solidFill>
                <a:schemeClr val="bg1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2" name="Picture 1" descr="A yellow circle with a white circle&#10;&#10;AI-generated content may be incorrect.">
            <a:extLst>
              <a:ext uri="{FF2B5EF4-FFF2-40B4-BE49-F238E27FC236}">
                <a16:creationId xmlns:a16="http://schemas.microsoft.com/office/drawing/2014/main" id="{9985F9DA-3DA9-A774-0F81-EF127AF2A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680" y="6097644"/>
            <a:ext cx="3366746" cy="418383"/>
          </a:xfrm>
          <a:prstGeom prst="rect">
            <a:avLst/>
          </a:prstGeom>
        </p:spPr>
      </p:pic>
      <p:pic>
        <p:nvPicPr>
          <p:cNvPr id="3" name="Picture 2" descr="A drawing of a flying airplane&#10;&#10;AI-generated content may be incorrect.">
            <a:extLst>
              <a:ext uri="{FF2B5EF4-FFF2-40B4-BE49-F238E27FC236}">
                <a16:creationId xmlns:a16="http://schemas.microsoft.com/office/drawing/2014/main" id="{CAC49E0C-8768-4128-01DB-FD84A08DB0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410225" y="10274480"/>
            <a:ext cx="1283646" cy="83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D41E-AA35-2A07-32AC-3E38D86ED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D96D-D050-5566-8EEA-A7BB2AECB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6AE0CA-0997-3583-ED4A-5C959D5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2B970-8A85-4374-8FCE-9C17402800B0}" type="datetime1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9C7677-25B9-4467-9CAF-15DD2840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Author: JYH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6E64-F095-9E64-9B97-BFCF0A22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A7B61-EF3F-45A1-A87E-B7B2FE770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84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6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7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7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08" lvl="0" indent="-3180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8" y="2545919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08" lvl="0" indent="-47708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6" y="10939602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42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3" y="10823443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4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4" userDrawn="1">
          <p15:clr>
            <a:srgbClr val="FBAE40"/>
          </p15:clr>
        </p15:guide>
        <p15:guide id="2" pos="1237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D41E-AA35-2A07-32AC-3E38D86E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284" y="1458037"/>
            <a:ext cx="4471035" cy="45858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D96D-D050-5566-8EEA-A7BB2AEC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570" y="3969385"/>
            <a:ext cx="11010899" cy="1384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6AE0CA-0997-3583-ED4A-5C959D5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8C5C3-F851-43F1-9254-F8F2A8FBFA54}" type="datetime1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9C7677-25B9-4467-9CAF-15DD2840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Team: DAS, EVV, JYH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6E64-F095-9E64-9B97-BFCF0A22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A7B61-EF3F-45A1-A87E-B7B2FE770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3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1_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6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7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7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08" lvl="0" indent="-3180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8" y="2545919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08" lvl="0" indent="-47708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6" y="10939602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42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3" y="10823443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6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4" userDrawn="1">
          <p15:clr>
            <a:srgbClr val="FBAE40"/>
          </p15:clr>
        </p15:guide>
        <p15:guide id="2" pos="1237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2_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6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7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7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08" lvl="0" indent="-3180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8" y="2545919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08" lvl="0" indent="-47708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220" lvl="1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330" lvl="2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442" lvl="3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552" lvl="4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6662" lvl="5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2772" lvl="6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8882" lvl="7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4990" lvl="8" indent="-44174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6" y="10939602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42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3" y="10823443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4" userDrawn="1">
          <p15:clr>
            <a:srgbClr val="FBAE40"/>
          </p15:clr>
        </p15:guide>
        <p15:guide id="2" pos="1237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DD95F3A-5BBC-3BA0-F622-8444B330D25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1" y="0"/>
            <a:ext cx="20943" cy="20943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39">
              <a:latin typeface="Roboto" pitchFamily="2" charset="0"/>
            </a:endParaRPr>
          </a:p>
        </p:txBody>
      </p:sp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674972" y="319708"/>
            <a:ext cx="18733323" cy="113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339" b="1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9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body" idx="1"/>
          </p:nvPr>
        </p:nvSpPr>
        <p:spPr>
          <a:xfrm>
            <a:off x="674972" y="1526566"/>
            <a:ext cx="18733323" cy="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91425" bIns="91425" anchor="t" anchorCtr="0">
            <a:noAutofit/>
          </a:bodyPr>
          <a:lstStyle>
            <a:lvl1pPr marL="636168" lvl="0" indent="-31808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298" b="1"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339" lvl="1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908508" lvl="2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544676" lvl="3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180847" lvl="4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817015" lvl="5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3184" lvl="6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9353" lvl="7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5521" lvl="8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685473" y="2545912"/>
            <a:ext cx="18733323" cy="77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36168" lvl="0" indent="-47712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682B4"/>
              </a:buClr>
              <a:buSzPts val="1800"/>
              <a:buChar char="●"/>
              <a:defRPr>
                <a:solidFill>
                  <a:srgbClr val="4682B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72339" lvl="1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908508" lvl="2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544676" lvl="3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180847" lvl="4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817015" lvl="5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453184" lvl="6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089353" lvl="7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725521" lvl="8" indent="-44178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27;p39">
            <a:extLst>
              <a:ext uri="{FF2B5EF4-FFF2-40B4-BE49-F238E27FC236}">
                <a16:creationId xmlns:a16="http://schemas.microsoft.com/office/drawing/2014/main" id="{44F387EA-F625-C582-A33D-83F09832E0F2}"/>
              </a:ext>
            </a:extLst>
          </p:cNvPr>
          <p:cNvSpPr txBox="1"/>
          <p:nvPr userDrawn="1"/>
        </p:nvSpPr>
        <p:spPr>
          <a:xfrm>
            <a:off x="9728761" y="10939595"/>
            <a:ext cx="703441" cy="38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814" b="1" i="0" u="none" strike="noStrike" cap="none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814" b="1" i="0" u="none" strike="noStrike" cap="none">
              <a:solidFill>
                <a:schemeClr val="bg1">
                  <a:lumMod val="6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black and white drawing of a solar powered airplane&#10;&#10;AI-generated content may be incorrect.">
            <a:extLst>
              <a:ext uri="{FF2B5EF4-FFF2-40B4-BE49-F238E27FC236}">
                <a16:creationId xmlns:a16="http://schemas.microsoft.com/office/drawing/2014/main" id="{EC6DE54B-5814-6016-8C3B-C61474AA11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60" t="20606" r="4141" b="23333"/>
          <a:stretch/>
        </p:blipFill>
        <p:spPr>
          <a:xfrm>
            <a:off x="17812037" y="10162586"/>
            <a:ext cx="2265083" cy="1130282"/>
          </a:xfrm>
          <a:prstGeom prst="rect">
            <a:avLst/>
          </a:prstGeom>
        </p:spPr>
      </p:pic>
      <p:pic>
        <p:nvPicPr>
          <p:cNvPr id="4" name="Picture 3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C12B16E3-10C8-7041-FCA3-AE0CD133B7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102" y="10823436"/>
            <a:ext cx="3313992" cy="34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64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750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D41E-AA35-2A07-32AC-3E38D86E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284" y="1458033"/>
            <a:ext cx="4471035" cy="4585871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D96D-D050-5566-8EEA-A7BB2AEC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570" y="3969377"/>
            <a:ext cx="11010900" cy="1384995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C6AE0CA-0997-3583-ED4A-5C959D5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8C5C3-F851-43F1-9254-F8F2A8FBFA54}" type="datetime1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79C7677-25B9-4467-9CAF-15DD2840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Team: DAS, EVV, JYH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6E64-F095-9E64-9B97-BFCF0A22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A7B61-EF3F-45A1-A87E-B7B2FE770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79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71215-5710-DFD3-1634-170A94C14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157" y="602125"/>
            <a:ext cx="17339786" cy="2185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5286F-ECA1-FBDC-26C5-AE31828E8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157" y="3010591"/>
            <a:ext cx="17339786" cy="717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3F12-B128-0232-8455-5B510F931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418319" y="10583757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3D368-438A-044B-8141-471639BA7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6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1507776" rtl="0" eaLnBrk="1" latinLnBrk="0" hangingPunct="1">
        <a:lnSpc>
          <a:spcPct val="90000"/>
        </a:lnSpc>
        <a:spcBef>
          <a:spcPct val="0"/>
        </a:spcBef>
        <a:buNone/>
        <a:defRPr sz="7256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</p:titleStyle>
    <p:bodyStyle>
      <a:lvl1pPr marL="376943" indent="-376943" algn="l" defTabSz="150777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1130831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884720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2638608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3392496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b="0" i="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4146382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271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159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047" indent="-376943" algn="l" defTabSz="150777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888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776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663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551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439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327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216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102" algn="l" defTabSz="150777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555284" y="1458034"/>
            <a:ext cx="4471035" cy="114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50" b="0" i="0" u="none" strike="noStrike" cap="none">
                <a:solidFill>
                  <a:srgbClr val="839FFE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7442570" y="3969385"/>
            <a:ext cx="11010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14929254" y="10502954"/>
            <a:ext cx="3871594" cy="13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9pPr>
          </a:lstStyle>
          <a:p>
            <a:endParaRPr lang="en-US"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1005205" y="10517703"/>
            <a:ext cx="4623943" cy="27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1">
                <a:solidFill>
                  <a:srgbClr val="88888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1"/>
            </a:lvl9pPr>
          </a:lstStyle>
          <a:p>
            <a:endParaRPr lang="en-US"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19250545" y="10493790"/>
            <a:ext cx="187960" cy="138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699" lv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marL="12699" lvl="1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2pPr>
            <a:lvl3pPr marL="12699" lvl="2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3pPr>
            <a:lvl4pPr marL="12699" lvl="3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4pPr>
            <a:lvl5pPr marL="12699" lvl="4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5pPr>
            <a:lvl6pPr marL="12699" lvl="5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6pPr>
            <a:lvl7pPr marL="12699" lvl="6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7pPr>
            <a:lvl8pPr marL="12699" lvl="7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8pPr>
            <a:lvl9pPr marL="12699" lvl="8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991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555284" y="1458033"/>
            <a:ext cx="4471035" cy="114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450" b="0" i="0" u="none" strike="noStrike" cap="none">
                <a:solidFill>
                  <a:srgbClr val="839FFE"/>
                </a:solidFill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7442570" y="3969377"/>
            <a:ext cx="110109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14929253" y="10502948"/>
            <a:ext cx="387159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lang="en-US"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lang="en-US"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19250544" y="10493783"/>
            <a:ext cx="18795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gtree Medium"/>
              </a:defRPr>
            </a:lvl1pPr>
            <a:lvl2pPr marL="12700" lvl="1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2pPr>
            <a:lvl3pPr marL="12700" lvl="2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3pPr>
            <a:lvl4pPr marL="12700" lvl="3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4pPr>
            <a:lvl5pPr marL="12700" lvl="4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5pPr>
            <a:lvl6pPr marL="12700" lvl="5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6pPr>
            <a:lvl7pPr marL="12700" lvl="6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7pPr>
            <a:lvl8pPr marL="12700" lvl="7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8pPr>
            <a:lvl9pPr marL="12700" lvl="8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294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https://blueravensolar.sharepoint.com/sites/QualityOMandCustomerSuccess/Shared%20Documents/Quality%20Data%20Repository/SPWR%20Direct%20FPY/FPY_SPD_8_rev00.xlsb!FPY_Summary!%5bFPY_SPD_8_rev00.xlsb%5dFPY_Summary%20Chart%205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BRS%20SCV/BRS%20SCV_Corp_Audit_rev01.xlsx!QA-BRS_FPY_Pareto!%5bBRS%20SCV_Corp_Audit_rev01.xlsx%5dQA-BRS_FPY_Pareto%20Chart%201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BRS%20SCV/BRS%20SCV_Corp_Audit_rev01.xlsx!QA-BRS_FPY_Pareto!%5bBRS%20SCV_Corp_Audit_rev01.xlsx%5dQA-BRS_FPY_Pareto%20Chart%20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Pareto_M1QA" TargetMode="Externa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22" TargetMode="Externa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Pareto_M1QA" TargetMode="Externa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16" TargetMode="Externa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Quality%20Data%20Repository/SPWR%20Direct%20FPY/14%20Final%20Inspection%20Verified/S14_FIV_FPY_rev00.xlsb!FPY_Pareto!%5bS14_FIV_FPY_rev00.xlsb%5dFPY_Pareto%20Chart%205" TargetMode="External"/><Relationship Id="rId7" Type="http://schemas.openxmlformats.org/officeDocument/2006/relationships/hyperlink" Target="https://ambia.lightning.force.com/lightning/r/Report/00OUS00000Arvon2AB/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ambia.lightning.force.com/lightning/r/Report/00OUS00000AoD172AF/view" TargetMode="External"/><Relationship Id="rId5" Type="http://schemas.openxmlformats.org/officeDocument/2006/relationships/hyperlink" Target="https://ambia.lightning.force.com/lightning/r/Dashboard/01ZUS00000Iajtu2AB/view?queryScope=userFolders" TargetMode="External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https://blueravensolar.sharepoint.com/sites/QualityOMandCustomerSuccess/Shared%20Documents/Quality%20Data%20Repository/SPWR%20Direct%20FPY/14%20Final%20Inspection%20Verified/S14_FIV_FPY_rev00.xlsb!FPY_Pareto!%5bS14_FIV_FPY_rev00.xlsb%5dFPY_Pareto%20Chart%20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ambia.lightning.force.com/lightning/r/Dashboard/01ZUS00000Iajtu2AB/view?queryScope=userFolders" TargetMode="External"/><Relationship Id="rId4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mbia.lightning.force.com/lightning/r/Dashboard/01ZUS00000Iajtu2AB/view?queryScope=userFolder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oleObject" Target="https://blueravensolar.sharepoint.com/sites/QualityOMandCustomerSuccess/Shared%20Documents/Quality%20Data%20Repository/SPWR%20Direct%20FPY/14%20Final%20Inspection%20Verified/S14_FIV_FPY_rev00.xlsb!FPY_Pareto!%5bS14_FIV_FPY_rev00.xlsb%5dFPY_Pareto%20Chart%204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FPY!%5bNH%20M2%20FPY%20for%20CorpQA_rev00.xlsx%5dSPD_LR_FPY%20Chart%205" TargetMode="Externa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6" TargetMode="Externa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8" TargetMode="Externa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6" TargetMode="Externa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https://blueravensolar.sharepoint.com/sites/QualityOMandCustomerSuccess/Shared%20Documents/NH%20JCO%20First%20Pass%20Yield%20Data/NH%20M2%20FPY%20for%20CorpQA_rev00.xlsx!SPD_LR_JF_Pareto!%5bNH%20M2%20FPY%20for%20CorpQA_rev00.xlsx%5dSPD_LR_JF_Pareto%20Chart%208" TargetMode="Externa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24BB-A96C-2FCF-8C07-7A67FEB0F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Cignetti Turnaround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053FD-7943-A32F-26FB-3F71980E1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WW25 2026</a:t>
            </a:r>
          </a:p>
        </p:txBody>
      </p:sp>
    </p:spTree>
    <p:extLst>
      <p:ext uri="{BB962C8B-B14F-4D97-AF65-F5344CB8AC3E}">
        <p14:creationId xmlns:p14="http://schemas.microsoft.com/office/powerpoint/2010/main" val="114096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BEB47-EE9A-3603-3CB9-B22ACE8D1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0784-21A5-E885-A24B-B2AA8AAEC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04" y="393740"/>
            <a:ext cx="19045896" cy="881700"/>
          </a:xfrm>
        </p:spPr>
        <p:txBody>
          <a:bodyPr>
            <a:noAutofit/>
          </a:bodyPr>
          <a:lstStyle/>
          <a:p>
            <a:pPr algn="l"/>
            <a:r>
              <a:rPr lang="en-US" sz="4617" b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SUNPOWER DIRECT PROCESSES: TARGET TO FPY=100%</a:t>
            </a:r>
            <a:endParaRPr lang="en-US" sz="461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246A5D-60CA-F942-021A-8E91B02184EF}"/>
              </a:ext>
            </a:extLst>
          </p:cNvPr>
          <p:cNvSpPr/>
          <p:nvPr/>
        </p:nvSpPr>
        <p:spPr>
          <a:xfrm>
            <a:off x="529099" y="10198363"/>
            <a:ext cx="3439058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Author: JYH/EVV/ERF, 7/7/2026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D5237F-95C9-9DCE-DCA4-FAD05D9EF7B8}"/>
              </a:ext>
            </a:extLst>
          </p:cNvPr>
          <p:cNvSpPr/>
          <p:nvPr/>
        </p:nvSpPr>
        <p:spPr>
          <a:xfrm>
            <a:off x="4181485" y="1020689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Owner: ERF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35D173-80CF-88B9-18E6-E7C13E70548F}"/>
              </a:ext>
            </a:extLst>
          </p:cNvPr>
          <p:cNvSpPr/>
          <p:nvPr/>
        </p:nvSpPr>
        <p:spPr>
          <a:xfrm>
            <a:off x="6418989" y="1019836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Spec: 10009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DFDCCA2-F747-CCE1-1DB0-7316103F749D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240269954"/>
              </p:ext>
            </p:extLst>
          </p:nvPr>
        </p:nvGraphicFramePr>
        <p:xfrm>
          <a:off x="529101" y="1186301"/>
          <a:ext cx="19045897" cy="896722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55465">
                  <a:extLst>
                    <a:ext uri="{9D8B030D-6E8A-4147-A177-3AD203B41FA5}">
                      <a16:colId xmlns:a16="http://schemas.microsoft.com/office/drawing/2014/main" val="1518125497"/>
                    </a:ext>
                  </a:extLst>
                </a:gridCol>
                <a:gridCol w="1056814">
                  <a:extLst>
                    <a:ext uri="{9D8B030D-6E8A-4147-A177-3AD203B41FA5}">
                      <a16:colId xmlns:a16="http://schemas.microsoft.com/office/drawing/2014/main" val="3675496511"/>
                    </a:ext>
                  </a:extLst>
                </a:gridCol>
                <a:gridCol w="2110931">
                  <a:extLst>
                    <a:ext uri="{9D8B030D-6E8A-4147-A177-3AD203B41FA5}">
                      <a16:colId xmlns:a16="http://schemas.microsoft.com/office/drawing/2014/main" val="1210708615"/>
                    </a:ext>
                  </a:extLst>
                </a:gridCol>
                <a:gridCol w="3707284">
                  <a:extLst>
                    <a:ext uri="{9D8B030D-6E8A-4147-A177-3AD203B41FA5}">
                      <a16:colId xmlns:a16="http://schemas.microsoft.com/office/drawing/2014/main" val="2171911438"/>
                    </a:ext>
                  </a:extLst>
                </a:gridCol>
                <a:gridCol w="666610">
                  <a:extLst>
                    <a:ext uri="{9D8B030D-6E8A-4147-A177-3AD203B41FA5}">
                      <a16:colId xmlns:a16="http://schemas.microsoft.com/office/drawing/2014/main" val="1930453277"/>
                    </a:ext>
                  </a:extLst>
                </a:gridCol>
                <a:gridCol w="3838678">
                  <a:extLst>
                    <a:ext uri="{9D8B030D-6E8A-4147-A177-3AD203B41FA5}">
                      <a16:colId xmlns:a16="http://schemas.microsoft.com/office/drawing/2014/main" val="2252815029"/>
                    </a:ext>
                  </a:extLst>
                </a:gridCol>
                <a:gridCol w="1398969">
                  <a:extLst>
                    <a:ext uri="{9D8B030D-6E8A-4147-A177-3AD203B41FA5}">
                      <a16:colId xmlns:a16="http://schemas.microsoft.com/office/drawing/2014/main" val="969082246"/>
                    </a:ext>
                  </a:extLst>
                </a:gridCol>
                <a:gridCol w="1743188">
                  <a:extLst>
                    <a:ext uri="{9D8B030D-6E8A-4147-A177-3AD203B41FA5}">
                      <a16:colId xmlns:a16="http://schemas.microsoft.com/office/drawing/2014/main" val="1043205116"/>
                    </a:ext>
                  </a:extLst>
                </a:gridCol>
                <a:gridCol w="1206246">
                  <a:extLst>
                    <a:ext uri="{9D8B030D-6E8A-4147-A177-3AD203B41FA5}">
                      <a16:colId xmlns:a16="http://schemas.microsoft.com/office/drawing/2014/main" val="1893318163"/>
                    </a:ext>
                  </a:extLst>
                </a:gridCol>
                <a:gridCol w="1130856">
                  <a:extLst>
                    <a:ext uri="{9D8B030D-6E8A-4147-A177-3AD203B41FA5}">
                      <a16:colId xmlns:a16="http://schemas.microsoft.com/office/drawing/2014/main" val="2761053476"/>
                    </a:ext>
                  </a:extLst>
                </a:gridCol>
                <a:gridCol w="1130856">
                  <a:extLst>
                    <a:ext uri="{9D8B030D-6E8A-4147-A177-3AD203B41FA5}">
                      <a16:colId xmlns:a16="http://schemas.microsoft.com/office/drawing/2014/main" val="655202858"/>
                    </a:ext>
                  </a:extLst>
                </a:gridCol>
              </a:tblGrid>
              <a:tr h="35182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 Level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Stage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Process Owner/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Quality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Milesone1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Milestone2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2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3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RCCA/ 8D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Latest FPY</a:t>
                      </a:r>
                      <a:endParaRPr lang="en-US" sz="1800" b="0" i="0" u="none" strike="noStrike" baseline="300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baseline="300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313161"/>
                  </a:ext>
                </a:extLst>
              </a:tr>
              <a:tr h="1853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WW26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WW27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89437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KXW/DJF</a:t>
                      </a:r>
                      <a:endParaRPr lang="en-US" sz="1800" b="0" i="0" u="none" strike="noStrike" kern="12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Booking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Received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12885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10848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147, D8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656348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S2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Received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Layout and Upgrade Review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12304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147, D8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422312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S3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</a:t>
                      </a: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/DJF</a:t>
                      </a:r>
                      <a:endParaRPr lang="en-US" sz="1800" b="0" u="none" strike="noStrike" kern="1200" noProof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Layout and Upgrade Review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Huddle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12304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922580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S4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</a:t>
                      </a: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/DJF</a:t>
                      </a:r>
                      <a:endParaRPr lang="en-US" sz="1800" b="0" u="none" strike="noStrike" kern="1200" noProof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Huddle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FDC (Project Acceptance)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10470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235, D1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63%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61%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814576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S5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SGS/DJF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Design Complete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Pack Completed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12777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12385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138, D6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488054"/>
                  </a:ext>
                </a:extLst>
              </a:tr>
              <a:tr h="42721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S6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PXA/DJF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Pack Completed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Request Permit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10823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040417"/>
                  </a:ext>
                </a:extLst>
              </a:tr>
              <a:tr h="427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PKN/EZD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IXP1 Submission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12649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12460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994253"/>
                  </a:ext>
                </a:extLst>
              </a:tr>
              <a:tr h="42721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S7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PXA/DJF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Request Permit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Approved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12649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12556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950506"/>
                  </a:ext>
                </a:extLst>
              </a:tr>
              <a:tr h="4272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PKN/EZD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IXP1 Submission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IXP1 Approval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12649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12556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222, D1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98%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229415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S8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strike="noStrike" kern="120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SAH/DJF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Permit Approved/IXP1 Approval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Ready To Schedule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12783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10961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954875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S9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SAH/ZJW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Ready To Schedule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 Scheduled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12783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11819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302325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S10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IPG/ZJW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 Scheduled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Substantial Completion Verified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12022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10496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188, D6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95%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585576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S11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KMM/RJG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Substantial Completion Verified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Install Submission</a:t>
                      </a: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(Parallel)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 Spec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12285/12430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228, D4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97%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777781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S12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KMM/RJG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Submission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Install Approved</a:t>
                      </a: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(Parallel)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 Spec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12285/12430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228, D4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96%</a:t>
                      </a:r>
                      <a:endParaRPr lang="en-US" sz="13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lang="en-US" sz="13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6622670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S13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RLJ/ZJW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Substantial Complete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Scheduled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12807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11001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187, D3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778971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S14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RLJ/ZJW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Scheduled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Verified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12807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10899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Arial"/>
                        </a:rPr>
                        <a:t>242, D3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64%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76%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793290"/>
                  </a:ext>
                </a:extLst>
              </a:tr>
              <a:tr h="427212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T3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S15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PKN/EZD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Inspection Verified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12834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11143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40790"/>
                  </a:ext>
                </a:extLst>
              </a:tr>
              <a:tr h="427212">
                <a:tc v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100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KMM/RJG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M3 Activation Approved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No Spec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12445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234, D3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94%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766708"/>
                  </a:ext>
                </a:extLst>
              </a:tr>
              <a:tr h="42721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T3</a:t>
                      </a:r>
                      <a:endParaRPr lang="en-US" sz="180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ea typeface="Arial" panose="020B0604020202020204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S16</a:t>
                      </a:r>
                      <a:endParaRPr lang="en-US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800" b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MBC/TGM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</a:t>
                      </a:r>
                      <a:endParaRPr lang="en-US" sz="18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0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>
                          <a:solidFill>
                            <a:sysClr val="windowText" lastClr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Grant PTO To Customer</a:t>
                      </a:r>
                      <a:endParaRPr lang="en-US" sz="1800" b="1" i="0" u="none" strike="noStrike">
                        <a:solidFill>
                          <a:sysClr val="windowText" lastClr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507776" rtl="0" eaLnBrk="1" fontAlgn="b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13050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13049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87758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B3122A2-8748-1240-DDA1-5BA99E67D11F}"/>
              </a:ext>
            </a:extLst>
          </p:cNvPr>
          <p:cNvSpPr/>
          <p:nvPr/>
        </p:nvSpPr>
        <p:spPr>
          <a:xfrm>
            <a:off x="16719332" y="10104640"/>
            <a:ext cx="2855668" cy="354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* Salesforce Data gathering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ACE9A1-4A62-032F-5F45-F8816C5C4B79}"/>
              </a:ext>
            </a:extLst>
          </p:cNvPr>
          <p:cNvSpPr/>
          <p:nvPr/>
        </p:nvSpPr>
        <p:spPr>
          <a:xfrm>
            <a:off x="13629049" y="10198363"/>
            <a:ext cx="310242" cy="1310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9A7800-1766-5907-B05E-CC7A5B8F5287}"/>
              </a:ext>
            </a:extLst>
          </p:cNvPr>
          <p:cNvSpPr/>
          <p:nvPr/>
        </p:nvSpPr>
        <p:spPr>
          <a:xfrm>
            <a:off x="13727220" y="10096341"/>
            <a:ext cx="3300368" cy="354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Cignetti Turnaround Focus – SSB-217D </a:t>
            </a:r>
          </a:p>
        </p:txBody>
      </p:sp>
    </p:spTree>
    <p:extLst>
      <p:ext uri="{BB962C8B-B14F-4D97-AF65-F5344CB8AC3E}">
        <p14:creationId xmlns:p14="http://schemas.microsoft.com/office/powerpoint/2010/main" val="3119984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F243B01-BB11-3365-B317-208735951001}"/>
              </a:ext>
            </a:extLst>
          </p:cNvPr>
          <p:cNvGraphicFramePr>
            <a:graphicFrameLocks/>
          </p:cNvGraphicFramePr>
          <p:nvPr/>
        </p:nvGraphicFramePr>
        <p:xfrm>
          <a:off x="450850" y="1539875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FDC FPY, WW23-WW27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450850" y="9769475"/>
            <a:ext cx="137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EVV, 7/06/2026		Owner: SGS / BCB			QA: DJF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042C97BD-EB5E-484F-2D70-61A1B9149A2C}"/>
              </a:ext>
            </a:extLst>
          </p:cNvPr>
          <p:cNvSpPr txBox="1"/>
          <p:nvPr/>
        </p:nvSpPr>
        <p:spPr>
          <a:xfrm>
            <a:off x="1813281" y="3187863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97%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Escalate to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SSB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771F6A7-EF7C-4450-E68F-388602CC2EC8}"/>
              </a:ext>
            </a:extLst>
          </p:cNvPr>
          <p:cNvGrpSpPr/>
          <p:nvPr/>
        </p:nvGrpSpPr>
        <p:grpSpPr>
          <a:xfrm>
            <a:off x="15303563" y="3227109"/>
            <a:ext cx="2252737" cy="5389949"/>
            <a:chOff x="14317252" y="3227109"/>
            <a:chExt cx="2252737" cy="5389949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3FC25E-2F47-91F6-AFB1-C7496019A831}"/>
                </a:ext>
              </a:extLst>
            </p:cNvPr>
            <p:cNvCxnSpPr>
              <a:cxnSpLocks/>
            </p:cNvCxnSpPr>
            <p:nvPr/>
          </p:nvCxnSpPr>
          <p:spPr>
            <a:xfrm>
              <a:off x="16569989" y="3227109"/>
              <a:ext cx="0" cy="538994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44F8F2-B3B5-A915-36EE-C48085DCF7FC}"/>
                </a:ext>
              </a:extLst>
            </p:cNvPr>
            <p:cNvSpPr txBox="1"/>
            <p:nvPr/>
          </p:nvSpPr>
          <p:spPr>
            <a:xfrm>
              <a:off x="14317252" y="3780372"/>
              <a:ext cx="2206243" cy="86774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SPEC 10470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RCCA 243, D3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(OPEN)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4979042-799A-4C8B-D9D4-46F71B56FE4E}"/>
              </a:ext>
            </a:extLst>
          </p:cNvPr>
          <p:cNvSpPr/>
          <p:nvPr/>
        </p:nvSpPr>
        <p:spPr>
          <a:xfrm>
            <a:off x="17067447" y="193730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10470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3F573934-9D11-3F01-02A4-54DC18677E3E}"/>
              </a:ext>
            </a:extLst>
          </p:cNvPr>
          <p:cNvSpPr txBox="1"/>
          <p:nvPr/>
        </p:nvSpPr>
        <p:spPr>
          <a:xfrm>
            <a:off x="15350057" y="2644342"/>
            <a:ext cx="2206243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THIS IS CANDIDATE FOR ANDON CORD</a:t>
            </a:r>
          </a:p>
        </p:txBody>
      </p:sp>
    </p:spTree>
    <p:extLst>
      <p:ext uri="{BB962C8B-B14F-4D97-AF65-F5344CB8AC3E}">
        <p14:creationId xmlns:p14="http://schemas.microsoft.com/office/powerpoint/2010/main" val="96087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6681F62-500D-42F2-FACF-517FF5B2EE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113" y="1547813"/>
          <a:ext cx="18808700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10448615" imgH="4572000" progId="Excel.SheetBinaryMacroEnabled.12">
                  <p:link updateAutomatic="1"/>
                </p:oleObj>
              </mc:Choice>
              <mc:Fallback>
                <p:oleObj name="Binary Worksheet" r:id="rId2" imgW="10448615" imgH="4572000" progId="Excel.SheetBinary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6681F62-500D-42F2-FACF-517FF5B2EE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6113" y="1547813"/>
                        <a:ext cx="18808700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FDC FPY, WW23-WW27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327858" y="193730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10470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6EE32-EB37-033B-DE68-293A6BFE5608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235. D1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B555A-8A4E-8509-F517-DCE27C786851}"/>
              </a:ext>
            </a:extLst>
          </p:cNvPr>
          <p:cNvSpPr txBox="1"/>
          <p:nvPr/>
        </p:nvSpPr>
        <p:spPr>
          <a:xfrm>
            <a:off x="646113" y="9769475"/>
            <a:ext cx="960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EVV, 7/06/2026		Owner: SGS / BCB 		QA: DJF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C8E21-1435-5468-BC66-9DB4377AF648}"/>
              </a:ext>
            </a:extLst>
          </p:cNvPr>
          <p:cNvSpPr txBox="1"/>
          <p:nvPr/>
        </p:nvSpPr>
        <p:spPr>
          <a:xfrm>
            <a:off x="10247313" y="9769475"/>
            <a:ext cx="6825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Specs L2: 12777	Specs L3: 10470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B19F44-61BA-A63E-1606-C2ABF31348B2}"/>
              </a:ext>
            </a:extLst>
          </p:cNvPr>
          <p:cNvSpPr/>
          <p:nvPr/>
        </p:nvSpPr>
        <p:spPr>
          <a:xfrm>
            <a:off x="8360410" y="2165900"/>
            <a:ext cx="338328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INPUT TO DESIGN</a:t>
            </a:r>
          </a:p>
        </p:txBody>
      </p:sp>
    </p:spTree>
    <p:extLst>
      <p:ext uri="{BB962C8B-B14F-4D97-AF65-F5344CB8AC3E}">
        <p14:creationId xmlns:p14="http://schemas.microsoft.com/office/powerpoint/2010/main" val="399331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C25E495-F134-8842-EBFF-E521EC9E39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" y="1785938"/>
          <a:ext cx="18905538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0524638" imgH="4572000" progId="Excel.Sheet.12">
                  <p:link updateAutomatic="1"/>
                </p:oleObj>
              </mc:Choice>
              <mc:Fallback>
                <p:oleObj name="Worksheet" r:id="rId3" imgW="10524638" imgH="4572000" progId="Excel.Sheet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C25E495-F134-8842-EBFF-E521EC9E39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0075" y="1785938"/>
                        <a:ext cx="18905538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S10: SPWR Direct SCV Corporate QA Inspection, WW27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B82FC-8E19-F6BB-AE56-DD1F0179AF59}"/>
              </a:ext>
            </a:extLst>
          </p:cNvPr>
          <p:cNvSpPr/>
          <p:nvPr/>
        </p:nvSpPr>
        <p:spPr>
          <a:xfrm>
            <a:off x="450850" y="10073562"/>
            <a:ext cx="4600245" cy="407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TGM/ZJW/EVV, 7/06/2026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B8AE9F-9FD7-4FDC-568F-4766406AB9A2}"/>
              </a:ext>
            </a:extLst>
          </p:cNvPr>
          <p:cNvSpPr/>
          <p:nvPr/>
        </p:nvSpPr>
        <p:spPr>
          <a:xfrm>
            <a:off x="5051094" y="10073562"/>
            <a:ext cx="11546961" cy="407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SPEC: 10496, RCCA: 188, D6         	* WW17, WW23: Revised the FPY Data to 100% for spec alignment.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5" name="TextBox 23">
            <a:extLst>
              <a:ext uri="{FF2B5EF4-FFF2-40B4-BE49-F238E27FC236}">
                <a16:creationId xmlns:a16="http://schemas.microsoft.com/office/drawing/2014/main" id="{0D19B146-82D4-259E-3816-9B54641F5074}"/>
              </a:ext>
            </a:extLst>
          </p:cNvPr>
          <p:cNvSpPr txBox="1"/>
          <p:nvPr/>
        </p:nvSpPr>
        <p:spPr>
          <a:xfrm>
            <a:off x="7030335" y="5951630"/>
            <a:ext cx="6131963" cy="4540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ROOT CAUSE CORRECTIVE ACTION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88D6A8-7F66-D85B-2D50-3CDF98742A03}"/>
              </a:ext>
            </a:extLst>
          </p:cNvPr>
          <p:cNvCxnSpPr>
            <a:cxnSpLocks/>
          </p:cNvCxnSpPr>
          <p:nvPr/>
        </p:nvCxnSpPr>
        <p:spPr>
          <a:xfrm flipV="1">
            <a:off x="5701825" y="3906118"/>
            <a:ext cx="0" cy="50196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F12F38-4B0F-D921-C021-ABA4C8B107BE}"/>
              </a:ext>
            </a:extLst>
          </p:cNvPr>
          <p:cNvCxnSpPr>
            <a:cxnSpLocks/>
          </p:cNvCxnSpPr>
          <p:nvPr/>
        </p:nvCxnSpPr>
        <p:spPr>
          <a:xfrm flipV="1">
            <a:off x="6408123" y="3906118"/>
            <a:ext cx="0" cy="486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3B82EE-4D2A-A096-C6EC-B5D3D640713D}"/>
              </a:ext>
            </a:extLst>
          </p:cNvPr>
          <p:cNvCxnSpPr>
            <a:cxnSpLocks/>
          </p:cNvCxnSpPr>
          <p:nvPr/>
        </p:nvCxnSpPr>
        <p:spPr>
          <a:xfrm flipV="1">
            <a:off x="8349370" y="3796799"/>
            <a:ext cx="0" cy="4869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958456-4704-5258-146F-9A55519330FE}"/>
              </a:ext>
            </a:extLst>
          </p:cNvPr>
          <p:cNvGrpSpPr/>
          <p:nvPr/>
        </p:nvGrpSpPr>
        <p:grpSpPr>
          <a:xfrm>
            <a:off x="854190" y="3493963"/>
            <a:ext cx="17627443" cy="5245845"/>
            <a:chOff x="2869518" y="3011416"/>
            <a:chExt cx="17627443" cy="5245845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A7C2342-1B17-4323-AEB2-DD73DBE07C76}"/>
                </a:ext>
              </a:extLst>
            </p:cNvPr>
            <p:cNvGrpSpPr/>
            <p:nvPr/>
          </p:nvGrpSpPr>
          <p:grpSpPr>
            <a:xfrm>
              <a:off x="2869518" y="3011416"/>
              <a:ext cx="17627443" cy="5245845"/>
              <a:chOff x="2869518" y="3011416"/>
              <a:chExt cx="17627443" cy="524584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954250D-B290-10A2-8B99-74AC04D75348}"/>
                  </a:ext>
                </a:extLst>
              </p:cNvPr>
              <p:cNvGrpSpPr/>
              <p:nvPr/>
            </p:nvGrpSpPr>
            <p:grpSpPr>
              <a:xfrm>
                <a:off x="2869518" y="3011416"/>
                <a:ext cx="17627443" cy="5245845"/>
                <a:chOff x="2869518" y="3011416"/>
                <a:chExt cx="17627443" cy="5245845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6DA15BEE-5A15-4890-BB9C-8A3E34783184}"/>
                    </a:ext>
                  </a:extLst>
                </p:cNvPr>
                <p:cNvGrpSpPr/>
                <p:nvPr/>
              </p:nvGrpSpPr>
              <p:grpSpPr>
                <a:xfrm>
                  <a:off x="2869518" y="3011416"/>
                  <a:ext cx="16312252" cy="5245845"/>
                  <a:chOff x="2869518" y="3011416"/>
                  <a:chExt cx="16312252" cy="5245845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251CCFB3-4444-7AE8-251D-EFD54820211D}"/>
                      </a:ext>
                    </a:extLst>
                  </p:cNvPr>
                  <p:cNvGrpSpPr/>
                  <p:nvPr/>
                </p:nvGrpSpPr>
                <p:grpSpPr>
                  <a:xfrm>
                    <a:off x="3376890" y="3026405"/>
                    <a:ext cx="15804880" cy="5230856"/>
                    <a:chOff x="1614639" y="684244"/>
                    <a:chExt cx="15804880" cy="2721555"/>
                  </a:xfrm>
                </p:grpSpPr>
                <p:cxnSp>
                  <p:nvCxnSpPr>
                    <p:cNvPr id="16" name="Straight Connector 15">
                      <a:extLst>
                        <a:ext uri="{FF2B5EF4-FFF2-40B4-BE49-F238E27FC236}">
                          <a16:creationId xmlns:a16="http://schemas.microsoft.com/office/drawing/2014/main" id="{7CB5645D-2325-AA5C-7233-62A8107CA35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587931" y="684244"/>
                      <a:ext cx="0" cy="2721555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  <a:prstDash val="dash"/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" name="TextBox 8">
                      <a:extLst>
                        <a:ext uri="{FF2B5EF4-FFF2-40B4-BE49-F238E27FC236}">
                          <a16:creationId xmlns:a16="http://schemas.microsoft.com/office/drawing/2014/main" id="{0D6F13EC-3C19-6473-109B-D2ABA15345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14639" y="2542275"/>
                      <a:ext cx="2973292" cy="510529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ANDON CORD ACTIVATED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1/27/2026, 3PM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SSB-164A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RCCA188, D6 (OPEN)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SPEC 10496</a:t>
                      </a:r>
                    </a:p>
                  </p:txBody>
                </p:sp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49533C7A-C27E-3167-9A77-71B32C8410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7419519" y="684244"/>
                      <a:ext cx="0" cy="2721555"/>
                    </a:xfrm>
                    <a:prstGeom prst="line">
                      <a:avLst/>
                    </a:prstGeom>
                    <a:ln w="38100">
                      <a:solidFill>
                        <a:srgbClr val="FF0000"/>
                      </a:solidFill>
                      <a:prstDash val="dash"/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" name="TextBox 8">
                      <a:extLst>
                        <a:ext uri="{FF2B5EF4-FFF2-40B4-BE49-F238E27FC236}">
                          <a16:creationId xmlns:a16="http://schemas.microsoft.com/office/drawing/2014/main" id="{15EF0238-1733-76F7-BBEE-7EA2F79912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446227" y="2833730"/>
                      <a:ext cx="2973292" cy="510529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Re-Open RCCA 188 at D6 to address Electrical defects from WW24 and 25</a:t>
                      </a:r>
                    </a:p>
                  </p:txBody>
                </p:sp>
              </p:grpSp>
              <p:sp>
                <p:nvSpPr>
                  <p:cNvPr id="21" name="TextBox 6">
                    <a:extLst>
                      <a:ext uri="{FF2B5EF4-FFF2-40B4-BE49-F238E27FC236}">
                        <a16:creationId xmlns:a16="http://schemas.microsoft.com/office/drawing/2014/main" id="{4B0D651F-118D-75CA-AFC4-C4C1A3802747}"/>
                      </a:ext>
                    </a:extLst>
                  </p:cNvPr>
                  <p:cNvSpPr txBox="1"/>
                  <p:nvPr/>
                </p:nvSpPr>
                <p:spPr>
                  <a:xfrm>
                    <a:off x="2869518" y="3011416"/>
                    <a:ext cx="1217941" cy="546325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97%</a:t>
                    </a:r>
                  </a:p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Escalate to</a:t>
                    </a:r>
                  </a:p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SSB</a:t>
                    </a:r>
                  </a:p>
                </p:txBody>
              </p:sp>
            </p:grpSp>
            <p:sp>
              <p:nvSpPr>
                <p:cNvPr id="26" name="TextBox 30">
                  <a:extLst>
                    <a:ext uri="{FF2B5EF4-FFF2-40B4-BE49-F238E27FC236}">
                      <a16:creationId xmlns:a16="http://schemas.microsoft.com/office/drawing/2014/main" id="{64002656-ACE5-F93D-61E3-98F79CE3CD47}"/>
                    </a:ext>
                  </a:extLst>
                </p:cNvPr>
                <p:cNvSpPr txBox="1"/>
                <p:nvPr/>
              </p:nvSpPr>
              <p:spPr>
                <a:xfrm>
                  <a:off x="6366582" y="5928466"/>
                  <a:ext cx="1448856" cy="540586"/>
                </a:xfrm>
                <a:prstGeom prst="rect">
                  <a:avLst/>
                </a:prstGeom>
                <a:noFill/>
                <a:ln w="9525" cmpd="sng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TRAINING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TGM-74A</a:t>
                  </a:r>
                </a:p>
              </p:txBody>
            </p:sp>
            <p:sp>
              <p:nvSpPr>
                <p:cNvPr id="20" name="TextBox 30">
                  <a:extLst>
                    <a:ext uri="{FF2B5EF4-FFF2-40B4-BE49-F238E27FC236}">
                      <a16:creationId xmlns:a16="http://schemas.microsoft.com/office/drawing/2014/main" id="{DB3BF857-7ED1-DDCC-7490-349BEC8037A3}"/>
                    </a:ext>
                  </a:extLst>
                </p:cNvPr>
                <p:cNvSpPr txBox="1"/>
                <p:nvPr/>
              </p:nvSpPr>
              <p:spPr>
                <a:xfrm>
                  <a:off x="6531105" y="4206348"/>
                  <a:ext cx="2167210" cy="739015"/>
                </a:xfrm>
                <a:prstGeom prst="accentCallout1">
                  <a:avLst>
                    <a:gd name="adj1" fmla="val 826"/>
                    <a:gd name="adj2" fmla="val 391"/>
                    <a:gd name="adj3" fmla="val -73833"/>
                    <a:gd name="adj4" fmla="val 34484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Missing Photos,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23" name="TextBox 30">
                  <a:extLst>
                    <a:ext uri="{FF2B5EF4-FFF2-40B4-BE49-F238E27FC236}">
                      <a16:creationId xmlns:a16="http://schemas.microsoft.com/office/drawing/2014/main" id="{AA70BFD0-0812-7179-5425-17033AB0EA0B}"/>
                    </a:ext>
                  </a:extLst>
                </p:cNvPr>
                <p:cNvSpPr txBox="1"/>
                <p:nvPr/>
              </p:nvSpPr>
              <p:spPr>
                <a:xfrm>
                  <a:off x="8295655" y="4256830"/>
                  <a:ext cx="2383995" cy="850435"/>
                </a:xfrm>
                <a:prstGeom prst="accentCallout1">
                  <a:avLst>
                    <a:gd name="adj1" fmla="val -2384"/>
                    <a:gd name="adj2" fmla="val 391"/>
                    <a:gd name="adj3" fmla="val -36015"/>
                    <a:gd name="adj4" fmla="val -11250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Permit Set Mismatch,</a:t>
                  </a:r>
                  <a:b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</a:b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11" name="TextBox 30">
                  <a:extLst>
                    <a:ext uri="{FF2B5EF4-FFF2-40B4-BE49-F238E27FC236}">
                      <a16:creationId xmlns:a16="http://schemas.microsoft.com/office/drawing/2014/main" id="{70E16B09-1DAD-4CFE-6FE0-0DBFFB2EBB07}"/>
                    </a:ext>
                  </a:extLst>
                </p:cNvPr>
                <p:cNvSpPr txBox="1"/>
                <p:nvPr/>
              </p:nvSpPr>
              <p:spPr>
                <a:xfrm>
                  <a:off x="10632476" y="4256830"/>
                  <a:ext cx="2383995" cy="955817"/>
                </a:xfrm>
                <a:prstGeom prst="accentCallout1">
                  <a:avLst>
                    <a:gd name="adj1" fmla="val -1366"/>
                    <a:gd name="adj2" fmla="val 1020"/>
                    <a:gd name="adj3" fmla="val -66361"/>
                    <a:gd name="adj4" fmla="val -19864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lIns="91440" tIns="45720" rIns="91440" bIns="45720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Electrical Defect,</a:t>
                  </a:r>
                  <a:b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</a:b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Arial"/>
                    </a:rPr>
                    <a:t>RCCA188, D6 (CLOSED)</a:t>
                  </a:r>
                  <a:b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Arial"/>
                    </a:rPr>
                  </a:b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Arial"/>
                    </a:rPr>
                    <a:t>TRAINING – CMM-50A</a:t>
                  </a:r>
                  <a:endPara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/>
                    <a:sym typeface="Arial"/>
                  </a:endParaRPr>
                </a:p>
              </p:txBody>
            </p:sp>
            <p:sp>
              <p:nvSpPr>
                <p:cNvPr id="9" name="TextBox 30">
                  <a:extLst>
                    <a:ext uri="{FF2B5EF4-FFF2-40B4-BE49-F238E27FC236}">
                      <a16:creationId xmlns:a16="http://schemas.microsoft.com/office/drawing/2014/main" id="{2904D007-0EDE-FAB5-D786-4C2CA4FC524F}"/>
                    </a:ext>
                  </a:extLst>
                </p:cNvPr>
                <p:cNvSpPr txBox="1"/>
                <p:nvPr/>
              </p:nvSpPr>
              <p:spPr>
                <a:xfrm>
                  <a:off x="14667858" y="4096518"/>
                  <a:ext cx="2167210" cy="1037536"/>
                </a:xfrm>
                <a:prstGeom prst="accentCallout1">
                  <a:avLst>
                    <a:gd name="adj1" fmla="val 826"/>
                    <a:gd name="adj2" fmla="val 391"/>
                    <a:gd name="adj3" fmla="val -42033"/>
                    <a:gd name="adj4" fmla="val 40043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Tilt Photo,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10" name="TextBox 30">
                  <a:extLst>
                    <a:ext uri="{FF2B5EF4-FFF2-40B4-BE49-F238E27FC236}">
                      <a16:creationId xmlns:a16="http://schemas.microsoft.com/office/drawing/2014/main" id="{81F121EB-3981-8964-92E9-74FC52FE31EC}"/>
                    </a:ext>
                  </a:extLst>
                </p:cNvPr>
                <p:cNvSpPr txBox="1"/>
                <p:nvPr/>
              </p:nvSpPr>
              <p:spPr>
                <a:xfrm flipH="1">
                  <a:off x="16094279" y="4707110"/>
                  <a:ext cx="2167210" cy="1484082"/>
                </a:xfrm>
                <a:prstGeom prst="accentCallout1">
                  <a:avLst>
                    <a:gd name="adj1" fmla="val 826"/>
                    <a:gd name="adj2" fmla="val 391"/>
                    <a:gd name="adj3" fmla="val -36892"/>
                    <a:gd name="adj4" fmla="val 312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Blurry Photo, Permit Set Mismatch, Electrical Defect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3 Submission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 (CLOSED)</a:t>
                  </a:r>
                </a:p>
              </p:txBody>
            </p:sp>
            <p:sp>
              <p:nvSpPr>
                <p:cNvPr id="7" name="TextBox 30">
                  <a:extLst>
                    <a:ext uri="{FF2B5EF4-FFF2-40B4-BE49-F238E27FC236}">
                      <a16:creationId xmlns:a16="http://schemas.microsoft.com/office/drawing/2014/main" id="{4FE0D686-92D5-01F1-1CCC-3301FEE428B3}"/>
                    </a:ext>
                  </a:extLst>
                </p:cNvPr>
                <p:cNvSpPr txBox="1"/>
                <p:nvPr/>
              </p:nvSpPr>
              <p:spPr>
                <a:xfrm flipH="1">
                  <a:off x="16749910" y="6513912"/>
                  <a:ext cx="2167210" cy="540586"/>
                </a:xfrm>
                <a:prstGeom prst="accentCallout1">
                  <a:avLst>
                    <a:gd name="adj1" fmla="val 826"/>
                    <a:gd name="adj2" fmla="val 391"/>
                    <a:gd name="adj3" fmla="val -439610"/>
                    <a:gd name="adj4" fmla="val 312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Electrical Defect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3 Submission</a:t>
                  </a:r>
                </a:p>
              </p:txBody>
            </p:sp>
            <p:sp>
              <p:nvSpPr>
                <p:cNvPr id="12" name="TextBox 30">
                  <a:extLst>
                    <a:ext uri="{FF2B5EF4-FFF2-40B4-BE49-F238E27FC236}">
                      <a16:creationId xmlns:a16="http://schemas.microsoft.com/office/drawing/2014/main" id="{B31E326D-BE0B-C9FE-610A-B7DE0212B3BE}"/>
                    </a:ext>
                  </a:extLst>
                </p:cNvPr>
                <p:cNvSpPr txBox="1"/>
                <p:nvPr/>
              </p:nvSpPr>
              <p:spPr>
                <a:xfrm flipH="1">
                  <a:off x="18878859" y="4392013"/>
                  <a:ext cx="1618102" cy="981242"/>
                </a:xfrm>
                <a:prstGeom prst="accentCallout1">
                  <a:avLst>
                    <a:gd name="adj1" fmla="val 826"/>
                    <a:gd name="adj2" fmla="val 391"/>
                    <a:gd name="adj3" fmla="val -67955"/>
                    <a:gd name="adj4" fmla="val 13498"/>
                  </a:avLst>
                </a:prstGeom>
                <a:noFill/>
                <a:ln w="12700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 rtlCol="0" anchor="t"/>
                <a:lstStyle>
                  <a:lvl1pPr marL="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Permit Set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Mismatch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1 Submission</a:t>
                  </a:r>
                </a:p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rPr>
                    <a:t>RCCA188, D6</a:t>
                  </a:r>
                </a:p>
              </p:txBody>
            </p:sp>
          </p:grpSp>
          <p:sp>
            <p:nvSpPr>
              <p:cNvPr id="28" name="TextBox 23">
                <a:extLst>
                  <a:ext uri="{FF2B5EF4-FFF2-40B4-BE49-F238E27FC236}">
                    <a16:creationId xmlns:a16="http://schemas.microsoft.com/office/drawing/2014/main" id="{ED7913EE-C7A5-46CF-9480-84C00AE98465}"/>
                  </a:ext>
                </a:extLst>
              </p:cNvPr>
              <p:cNvSpPr txBox="1"/>
              <p:nvPr/>
            </p:nvSpPr>
            <p:spPr>
              <a:xfrm>
                <a:off x="3775336" y="5197910"/>
                <a:ext cx="3215531" cy="4540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DON'T PUT RAW SEWAGE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IN THEIR COMPUTER</a:t>
                </a:r>
              </a:p>
            </p:txBody>
          </p:sp>
          <p:sp>
            <p:nvSpPr>
              <p:cNvPr id="29" name="TextBox 23">
                <a:extLst>
                  <a:ext uri="{FF2B5EF4-FFF2-40B4-BE49-F238E27FC236}">
                    <a16:creationId xmlns:a16="http://schemas.microsoft.com/office/drawing/2014/main" id="{E0C88997-2DE0-4C12-B8D1-9D7F7832749B}"/>
                  </a:ext>
                </a:extLst>
              </p:cNvPr>
              <p:cNvSpPr txBox="1"/>
              <p:nvPr/>
            </p:nvSpPr>
            <p:spPr>
              <a:xfrm>
                <a:off x="6350182" y="5474441"/>
                <a:ext cx="3069717" cy="4540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CONTAINMENT</a:t>
                </a:r>
              </a:p>
            </p:txBody>
          </p:sp>
        </p:grp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4763855E-E43A-43D4-BACE-33F125E61987}"/>
                </a:ext>
                <a:ext uri="{147F2762-F138-4A5C-976F-8EAC2B608ADB}">
                  <a16:predDERef xmlns:a16="http://schemas.microsoft.com/office/drawing/2014/main" pred="{ED7913EE-C7A5-46CF-9480-84C00AE98465}"/>
                </a:ext>
              </a:extLst>
            </p:cNvPr>
            <p:cNvSpPr txBox="1"/>
            <p:nvPr/>
          </p:nvSpPr>
          <p:spPr>
            <a:xfrm>
              <a:off x="6350182" y="6597559"/>
              <a:ext cx="2850707" cy="105080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ANDON CORD LIFTED 2/01/2026. 11:15AM Sunday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SSB-164B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0042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D33A-4FFC-70E7-6094-3A18AED3D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A5242E2-A27D-667B-79CA-348417EFB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5463" y="1350963"/>
          <a:ext cx="16511587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191315" imgH="4572000" progId="Excel.Sheet.12">
                  <p:link updateAutomatic="1"/>
                </p:oleObj>
              </mc:Choice>
              <mc:Fallback>
                <p:oleObj name="Worksheet" r:id="rId3" imgW="9191315" imgH="4572000" progId="Excel.Sheet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A5242E2-A27D-667B-79CA-348417EFB6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463" y="1350963"/>
                        <a:ext cx="16511587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0258CE9-09B8-3714-F8D8-BE3C35EA418C}"/>
              </a:ext>
            </a:extLst>
          </p:cNvPr>
          <p:cNvSpPr txBox="1"/>
          <p:nvPr/>
        </p:nvSpPr>
        <p:spPr>
          <a:xfrm>
            <a:off x="222250" y="58262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Arial"/>
                <a:sym typeface="Open Sans"/>
              </a:rPr>
              <a:t>SPWR Direct 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Figtree Light"/>
              </a:rPr>
              <a:t>S10 SCV Corporate QA WW52-WW27’2026 </a:t>
            </a:r>
            <a:endParaRPr kumimoji="0" lang="en-US" sz="4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  <a:sym typeface="Open Sa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E7554-362B-A611-7B3D-FEAD9073DBCC}"/>
              </a:ext>
            </a:extLst>
          </p:cNvPr>
          <p:cNvSpPr/>
          <p:nvPr/>
        </p:nvSpPr>
        <p:spPr>
          <a:xfrm>
            <a:off x="9587927" y="9572647"/>
            <a:ext cx="7986015" cy="660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3000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1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Funding Defect: AVL LightReach eligibility, PV Panel mismatch, Missing Cell kit</a:t>
            </a:r>
          </a:p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3000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2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Electrical Defect: Main breaker/sub-panel issues, Point of interconnection issues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13B738-B477-A3CF-9C72-79219E00096D}"/>
              </a:ext>
            </a:extLst>
          </p:cNvPr>
          <p:cNvSpPr/>
          <p:nvPr/>
        </p:nvSpPr>
        <p:spPr>
          <a:xfrm>
            <a:off x="7271614" y="8795139"/>
            <a:ext cx="410511" cy="46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1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CD56F3-77A2-75A9-3B96-687DB655A65C}"/>
              </a:ext>
            </a:extLst>
          </p:cNvPr>
          <p:cNvSpPr/>
          <p:nvPr/>
        </p:nvSpPr>
        <p:spPr>
          <a:xfrm>
            <a:off x="5082192" y="8780148"/>
            <a:ext cx="410511" cy="46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2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E1FA06-3F85-C6DE-3ED6-FBA613C4E459}"/>
              </a:ext>
            </a:extLst>
          </p:cNvPr>
          <p:cNvSpPr/>
          <p:nvPr/>
        </p:nvSpPr>
        <p:spPr>
          <a:xfrm>
            <a:off x="1791083" y="9572647"/>
            <a:ext cx="4600245" cy="407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TGM/EVV, 7/06/2026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8BE43E-D90C-C2A2-F63B-7C8AE5DE5E94}"/>
              </a:ext>
            </a:extLst>
          </p:cNvPr>
          <p:cNvSpPr/>
          <p:nvPr/>
        </p:nvSpPr>
        <p:spPr>
          <a:xfrm>
            <a:off x="16339321" y="1537765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10496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E043C9-E475-C57C-02ED-2D3B53EAD72F}"/>
              </a:ext>
            </a:extLst>
          </p:cNvPr>
          <p:cNvGrpSpPr/>
          <p:nvPr/>
        </p:nvGrpSpPr>
        <p:grpSpPr>
          <a:xfrm>
            <a:off x="3313965" y="3849378"/>
            <a:ext cx="12630889" cy="1289619"/>
            <a:chOff x="3313965" y="3248892"/>
            <a:chExt cx="12630889" cy="12896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2FB7EA-9FCD-6B38-C0CB-88156025A17A}"/>
                </a:ext>
              </a:extLst>
            </p:cNvPr>
            <p:cNvSpPr/>
            <p:nvPr/>
          </p:nvSpPr>
          <p:spPr>
            <a:xfrm>
              <a:off x="5721664" y="3288779"/>
              <a:ext cx="155448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195. D6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(OPEN)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B943DF-2424-4C48-230B-43D6E0BDD155}"/>
                </a:ext>
              </a:extLst>
            </p:cNvPr>
            <p:cNvSpPr/>
            <p:nvPr/>
          </p:nvSpPr>
          <p:spPr>
            <a:xfrm>
              <a:off x="11572206" y="3248892"/>
              <a:ext cx="155448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188. D6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(RE-OPEN)</a:t>
              </a:r>
            </a:p>
          </p:txBody>
        </p:sp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AEECE89E-F69A-1A02-F83C-8A07B937EC4A}"/>
                </a:ext>
              </a:extLst>
            </p:cNvPr>
            <p:cNvSpPr/>
            <p:nvPr/>
          </p:nvSpPr>
          <p:spPr>
            <a:xfrm rot="16200000">
              <a:off x="12059886" y="653543"/>
              <a:ext cx="579120" cy="719081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77230D-0225-A94D-79EF-E9C7CF6E0904}"/>
                </a:ext>
              </a:extLst>
            </p:cNvPr>
            <p:cNvSpPr/>
            <p:nvPr/>
          </p:nvSpPr>
          <p:spPr>
            <a:xfrm>
              <a:off x="3313965" y="3288779"/>
              <a:ext cx="155448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188. D6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(CLOSED)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4098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D38D88C4-F867-9F51-8460-BACB51989AB4}"/>
              </a:ext>
            </a:extLst>
          </p:cNvPr>
          <p:cNvGraphicFramePr>
            <a:graphicFrameLocks/>
          </p:cNvGraphicFramePr>
          <p:nvPr/>
        </p:nvGraphicFramePr>
        <p:xfrm>
          <a:off x="450850" y="1401549"/>
          <a:ext cx="19202400" cy="82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2011448" y="969753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486AD-9F63-E958-F90F-52B3091B1C6C}"/>
              </a:ext>
            </a:extLst>
          </p:cNvPr>
          <p:cNvSpPr txBox="1"/>
          <p:nvPr/>
        </p:nvSpPr>
        <p:spPr>
          <a:xfrm>
            <a:off x="5883042" y="969753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26453AA-6E55-C838-060B-58AA69E883F0}"/>
              </a:ext>
            </a:extLst>
          </p:cNvPr>
          <p:cNvGrpSpPr/>
          <p:nvPr/>
        </p:nvGrpSpPr>
        <p:grpSpPr>
          <a:xfrm>
            <a:off x="709660" y="3089152"/>
            <a:ext cx="8167289" cy="5419417"/>
            <a:chOff x="-384410" y="2981578"/>
            <a:chExt cx="8167289" cy="541941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DCBC5C-2F49-BC61-999F-75A9926ED9A3}"/>
                </a:ext>
              </a:extLst>
            </p:cNvPr>
            <p:cNvSpPr txBox="1"/>
            <p:nvPr/>
          </p:nvSpPr>
          <p:spPr>
            <a:xfrm>
              <a:off x="5763878" y="5541262"/>
              <a:ext cx="2019001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SPEC 12285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ANDON CORD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RCCA 228, D6 (OPEN)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Arial"/>
                  <a:sym typeface="Arial"/>
                </a:rPr>
                <a:t>TRAINING 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9A7B3A6-C4BE-7778-C67D-0C33E94F651D}"/>
                </a:ext>
              </a:extLst>
            </p:cNvPr>
            <p:cNvGrpSpPr/>
            <p:nvPr/>
          </p:nvGrpSpPr>
          <p:grpSpPr>
            <a:xfrm>
              <a:off x="-384410" y="2981578"/>
              <a:ext cx="7773881" cy="5419417"/>
              <a:chOff x="-384410" y="2981578"/>
              <a:chExt cx="7773881" cy="5419417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754023B-5C11-08DE-F692-D0CC68E0AB01}"/>
                  </a:ext>
                </a:extLst>
              </p:cNvPr>
              <p:cNvGrpSpPr/>
              <p:nvPr/>
            </p:nvGrpSpPr>
            <p:grpSpPr>
              <a:xfrm>
                <a:off x="2642435" y="2981578"/>
                <a:ext cx="4747036" cy="5419417"/>
                <a:chOff x="2642435" y="2947774"/>
                <a:chExt cx="4747036" cy="5419417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DD55854B-92F1-90B2-142D-BFEC77EBEEE5}"/>
                    </a:ext>
                  </a:extLst>
                </p:cNvPr>
                <p:cNvGrpSpPr/>
                <p:nvPr/>
              </p:nvGrpSpPr>
              <p:grpSpPr>
                <a:xfrm>
                  <a:off x="4002690" y="3116669"/>
                  <a:ext cx="1719624" cy="5250522"/>
                  <a:chOff x="-6628475" y="-3086646"/>
                  <a:chExt cx="1719624" cy="5250522"/>
                </a:xfrm>
              </p:grpSpPr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09E3721F-F540-3848-7FE5-BC96CB53B2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6628475" y="-3086646"/>
                    <a:ext cx="0" cy="5250522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  <a:prstDash val="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6A6AD635-2239-BD09-D3A3-1F4AF9CC37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4908851" y="-3086646"/>
                    <a:ext cx="0" cy="5250522"/>
                  </a:xfrm>
                  <a:prstGeom prst="line">
                    <a:avLst/>
                  </a:prstGeom>
                  <a:ln w="38100">
                    <a:solidFill>
                      <a:srgbClr val="FF0000"/>
                    </a:solidFill>
                    <a:prstDash val="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6449F028-E89F-C44A-383A-89C0E2187F26}"/>
                    </a:ext>
                  </a:extLst>
                </p:cNvPr>
                <p:cNvGrpSpPr/>
                <p:nvPr/>
              </p:nvGrpSpPr>
              <p:grpSpPr>
                <a:xfrm>
                  <a:off x="2642435" y="2947774"/>
                  <a:ext cx="4747036" cy="2189059"/>
                  <a:chOff x="5251330" y="3036364"/>
                  <a:chExt cx="4747036" cy="2189059"/>
                </a:xfrm>
              </p:grpSpPr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5D644FF9-BF91-567B-0409-46C1AB3831BD}"/>
                      </a:ext>
                    </a:extLst>
                  </p:cNvPr>
                  <p:cNvSpPr txBox="1"/>
                  <p:nvPr/>
                </p:nvSpPr>
                <p:spPr>
                  <a:xfrm>
                    <a:off x="6611585" y="3421617"/>
                    <a:ext cx="2206243" cy="867745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SPEC 12285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ANDON CORD 1 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rPr>
                      <a:t>RCCA 228</a:t>
                    </a:r>
                  </a:p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endParaRP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65C98F92-02C2-7A23-1360-C766FD506971}"/>
                      </a:ext>
                    </a:extLst>
                  </p:cNvPr>
                  <p:cNvSpPr txBox="1"/>
                  <p:nvPr/>
                </p:nvSpPr>
                <p:spPr>
                  <a:xfrm>
                    <a:off x="7792123" y="3036364"/>
                    <a:ext cx="2206243" cy="337791"/>
                  </a:xfrm>
                  <a:prstGeom prst="rect">
                    <a:avLst/>
                  </a:prstGeom>
                  <a:noFill/>
                  <a:ln w="9525" cmpd="sng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wrap="square" rtlCol="0" anchor="t"/>
                  <a:lstStyle>
                    <a:lvl1pPr marL="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Roboto" panose="02000000000000000000" pitchFamily="2" charset="0"/>
                      <a:cs typeface="+mn-cs"/>
                      <a:sym typeface="Arial"/>
                    </a:endParaRPr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CF81034-E14F-AAF0-489B-AF202406DE89}"/>
                      </a:ext>
                    </a:extLst>
                  </p:cNvPr>
                  <p:cNvSpPr/>
                  <p:nvPr/>
                </p:nvSpPr>
                <p:spPr>
                  <a:xfrm>
                    <a:off x="5251330" y="4376954"/>
                    <a:ext cx="848469" cy="848469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  <a:sym typeface="Arial"/>
                    </a:endParaRPr>
                  </a:p>
                </p:txBody>
              </p:sp>
            </p:grpSp>
          </p:grpSp>
          <p:sp>
            <p:nvSpPr>
              <p:cNvPr id="6" name="TextBox 10">
                <a:extLst>
                  <a:ext uri="{FF2B5EF4-FFF2-40B4-BE49-F238E27FC236}">
                    <a16:creationId xmlns:a16="http://schemas.microsoft.com/office/drawing/2014/main" id="{50B5293D-928B-43D5-DBCA-42CE8F92112E}"/>
                  </a:ext>
                </a:extLst>
              </p:cNvPr>
              <p:cNvSpPr txBox="1"/>
              <p:nvPr/>
            </p:nvSpPr>
            <p:spPr>
              <a:xfrm>
                <a:off x="-384410" y="3088481"/>
                <a:ext cx="1365232" cy="695325"/>
              </a:xfrm>
              <a:prstGeom prst="rect">
                <a:avLst/>
              </a:prstGeom>
              <a:noFill/>
              <a:ln w="9525" cmpd="sng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 anchor="t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97%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Escalate to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+mn-cs"/>
                    <a:sym typeface="Arial"/>
                  </a:rPr>
                  <a:t>SSB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91F36ED-03CC-7069-9C68-3F3ABAC0B233}"/>
              </a:ext>
            </a:extLst>
          </p:cNvPr>
          <p:cNvSpPr txBox="1"/>
          <p:nvPr/>
        </p:nvSpPr>
        <p:spPr>
          <a:xfrm>
            <a:off x="9815862" y="9697538"/>
            <a:ext cx="796075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A3FC96-75E8-C3C6-6D9D-4FF8E9B1DAF0}"/>
              </a:ext>
            </a:extLst>
          </p:cNvPr>
          <p:cNvSpPr txBox="1"/>
          <p:nvPr/>
        </p:nvSpPr>
        <p:spPr>
          <a:xfrm>
            <a:off x="9349875" y="4606746"/>
            <a:ext cx="17395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CONTAINMENT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483B49-300A-B509-1EFD-5A72ADF3F05B}"/>
              </a:ext>
            </a:extLst>
          </p:cNvPr>
          <p:cNvSpPr txBox="1"/>
          <p:nvPr/>
        </p:nvSpPr>
        <p:spPr>
          <a:xfrm>
            <a:off x="9367301" y="2689638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4B63C6-DC0E-E38C-E615-69BF4BEEAF37}"/>
              </a:ext>
            </a:extLst>
          </p:cNvPr>
          <p:cNvSpPr txBox="1"/>
          <p:nvPr/>
        </p:nvSpPr>
        <p:spPr>
          <a:xfrm>
            <a:off x="11135635" y="2689638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FD2EB152-2A8C-42AE-9CE2-2C935EF622F1}"/>
              </a:ext>
            </a:extLst>
          </p:cNvPr>
          <p:cNvSpPr txBox="1"/>
          <p:nvPr/>
        </p:nvSpPr>
        <p:spPr>
          <a:xfrm flipH="1">
            <a:off x="8091746" y="10030948"/>
            <a:ext cx="9684872" cy="6045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WW24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: FIELD, PCS Bundling, CT Issue, FUNDING CSLB Disclosure, Production Modelling. Decoder 2 KMM, 2 RYW, 1 TTS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WW25: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DESIGN: Electrical Issue. Decoder 1 RYW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WW26: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 FIELD: Electrical Photo, Tilt Photo not clear. Decoder 2 RYW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77AD139F-1050-CCB0-3B10-190D5EA04EFE}"/>
              </a:ext>
            </a:extLst>
          </p:cNvPr>
          <p:cNvSpPr txBox="1"/>
          <p:nvPr/>
        </p:nvSpPr>
        <p:spPr>
          <a:xfrm>
            <a:off x="12491300" y="5109496"/>
            <a:ext cx="3026806" cy="1397135"/>
          </a:xfrm>
          <a:prstGeom prst="accentCallout1">
            <a:avLst>
              <a:gd name="adj1" fmla="val 956"/>
              <a:gd name="adj2" fmla="val -554"/>
              <a:gd name="adj3" fmla="val -72135"/>
              <a:gd name="adj4" fmla="val 8108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5 REJECTS. RCCA 228, D6 (OPEN)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ADDITIONAL TRAINING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SPEC 12285, REV N UPDATE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INSPECTION UPSTREAM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REQUIRED FOR DESIGN AND FIELD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4C5EAD-86EA-B328-2F29-E51192B624E6}"/>
              </a:ext>
            </a:extLst>
          </p:cNvPr>
          <p:cNvSpPr txBox="1"/>
          <p:nvPr/>
        </p:nvSpPr>
        <p:spPr>
          <a:xfrm>
            <a:off x="10238333" y="4249295"/>
            <a:ext cx="38558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ROOT CAUSE CORRECTIVE ACTION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448EF3-4C99-1194-6FAC-50CBEF44642F}"/>
              </a:ext>
            </a:extLst>
          </p:cNvPr>
          <p:cNvSpPr txBox="1"/>
          <p:nvPr/>
        </p:nvSpPr>
        <p:spPr>
          <a:xfrm>
            <a:off x="7617808" y="3739001"/>
            <a:ext cx="4485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4FC36D8-1195-C09A-46E8-F4DBFEF26D4F}"/>
              </a:ext>
            </a:extLst>
          </p:cNvPr>
          <p:cNvSpPr txBox="1"/>
          <p:nvPr/>
        </p:nvSpPr>
        <p:spPr>
          <a:xfrm flipH="1">
            <a:off x="13721310" y="4097250"/>
            <a:ext cx="1252312" cy="727679"/>
          </a:xfrm>
          <a:prstGeom prst="accentCallout1">
            <a:avLst>
              <a:gd name="adj1" fmla="val 956"/>
              <a:gd name="adj2" fmla="val -554"/>
              <a:gd name="adj3" fmla="val -68400"/>
              <a:gd name="adj4" fmla="val 33217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1 REJECT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RCCA 228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D6 (OPEN)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AA46A40-23B0-ECA8-004D-2A47CA7933FD}"/>
              </a:ext>
            </a:extLst>
          </p:cNvPr>
          <p:cNvCxnSpPr/>
          <p:nvPr/>
        </p:nvCxnSpPr>
        <p:spPr>
          <a:xfrm flipV="1">
            <a:off x="14742391" y="3646298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9D164BD-0509-DE1E-4E9D-A6E7E488B0B7}"/>
              </a:ext>
            </a:extLst>
          </p:cNvPr>
          <p:cNvCxnSpPr/>
          <p:nvPr/>
        </p:nvCxnSpPr>
        <p:spPr>
          <a:xfrm flipV="1">
            <a:off x="13137086" y="3754499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F30D51-1DB0-0682-766C-BB8C219A403D}"/>
              </a:ext>
            </a:extLst>
          </p:cNvPr>
          <p:cNvCxnSpPr/>
          <p:nvPr/>
        </p:nvCxnSpPr>
        <p:spPr>
          <a:xfrm flipV="1">
            <a:off x="9026615" y="3464453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2B80580-DD00-50E5-14E2-44C039503647}"/>
              </a:ext>
            </a:extLst>
          </p:cNvPr>
          <p:cNvCxnSpPr/>
          <p:nvPr/>
        </p:nvCxnSpPr>
        <p:spPr>
          <a:xfrm flipV="1">
            <a:off x="11135635" y="3434953"/>
            <a:ext cx="0" cy="4509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">
            <a:extLst>
              <a:ext uri="{FF2B5EF4-FFF2-40B4-BE49-F238E27FC236}">
                <a16:creationId xmlns:a16="http://schemas.microsoft.com/office/drawing/2014/main" id="{27FAB86E-BDD8-3675-040F-EE25A74E9E90}"/>
              </a:ext>
            </a:extLst>
          </p:cNvPr>
          <p:cNvSpPr txBox="1"/>
          <p:nvPr/>
        </p:nvSpPr>
        <p:spPr>
          <a:xfrm flipH="1">
            <a:off x="15279843" y="4428600"/>
            <a:ext cx="1143461" cy="727680"/>
          </a:xfrm>
          <a:prstGeom prst="accentCallout1">
            <a:avLst>
              <a:gd name="adj1" fmla="val 956"/>
              <a:gd name="adj2" fmla="val -554"/>
              <a:gd name="adj3" fmla="val -112646"/>
              <a:gd name="adj4" fmla="val 21282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2 REJECTS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RCCA 228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D6 (OPEN)</a:t>
            </a:r>
          </a:p>
        </p:txBody>
      </p:sp>
    </p:spTree>
    <p:extLst>
      <p:ext uri="{BB962C8B-B14F-4D97-AF65-F5344CB8AC3E}">
        <p14:creationId xmlns:p14="http://schemas.microsoft.com/office/powerpoint/2010/main" val="305797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DEFA55D-853D-0DF4-15FA-8FC09E490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525" y="1546951"/>
          <a:ext cx="18307050" cy="832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058400" imgH="4572000" progId="Excel.Sheet.12">
                  <p:link updateAutomatic="1"/>
                </p:oleObj>
              </mc:Choice>
              <mc:Fallback>
                <p:oleObj name="Worksheet" r:id="rId2" imgW="10058400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DEFA55D-853D-0DF4-15FA-8FC09E4909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8525" y="1546951"/>
                        <a:ext cx="18307050" cy="832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898525" y="598653"/>
            <a:ext cx="1830705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WW24-WW27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685960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557554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	QA: RJG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41567" y="1662118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662118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228. D6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D9F43-444C-7A97-3BA0-1B25CCEA9B8B}"/>
              </a:ext>
            </a:extLst>
          </p:cNvPr>
          <p:cNvSpPr txBox="1"/>
          <p:nvPr/>
        </p:nvSpPr>
        <p:spPr>
          <a:xfrm>
            <a:off x="8523180" y="9850218"/>
            <a:ext cx="92230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 (from 21.2TD)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83D74C0-7B1D-5429-711F-C0822DDEC6DC}"/>
              </a:ext>
            </a:extLst>
          </p:cNvPr>
          <p:cNvSpPr txBox="1"/>
          <p:nvPr/>
        </p:nvSpPr>
        <p:spPr>
          <a:xfrm flipH="1">
            <a:off x="8043620" y="10106192"/>
            <a:ext cx="9684872" cy="6045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WW24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: FIELD, PCS Bundling, CT Issue, FUNDING CSLB Disclosure, Production Modelling. Decoder 2 KMM, 2 RYW, 1 TTS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WW25: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DESIGN: Electrical Issue. Decoder 1 RYW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WW26: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 FIELD: Electrical Photo, Tilt Photo not clear. Decoder 2 RYW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7254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8B585B3-44EF-0D4F-FDA4-3164E74F9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2493" y="1557338"/>
          <a:ext cx="16425863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144000" imgH="4572000" progId="Excel.Sheet.12">
                  <p:link updateAutomatic="1"/>
                </p:oleObj>
              </mc:Choice>
              <mc:Fallback>
                <p:oleObj name="Worksheet" r:id="rId2" imgW="9144000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8B585B3-44EF-0D4F-FDA4-3164E74F9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2493" y="1557338"/>
                        <a:ext cx="16425863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WW24-WW27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946888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818482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149980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90992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228. D6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19329D-23AA-2E4C-ED35-039FA9EAB76F}"/>
              </a:ext>
            </a:extLst>
          </p:cNvPr>
          <p:cNvSpPr txBox="1"/>
          <p:nvPr/>
        </p:nvSpPr>
        <p:spPr>
          <a:xfrm>
            <a:off x="8606565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 Rejection seen at pre-check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695A08-58FE-6502-0267-C379C82F4CA8}"/>
              </a:ext>
            </a:extLst>
          </p:cNvPr>
          <p:cNvSpPr txBox="1"/>
          <p:nvPr/>
        </p:nvSpPr>
        <p:spPr>
          <a:xfrm>
            <a:off x="12478159" y="9892580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** </a:t>
            </a:r>
            <a:r>
              <a:rPr kumimoji="0" lang="en-US" sz="16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Sameday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 Solar</a:t>
            </a:r>
          </a:p>
        </p:txBody>
      </p:sp>
    </p:spTree>
    <p:extLst>
      <p:ext uri="{BB962C8B-B14F-4D97-AF65-F5344CB8AC3E}">
        <p14:creationId xmlns:p14="http://schemas.microsoft.com/office/powerpoint/2010/main" val="1375683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DEFA55D-853D-0DF4-15FA-8FC09E490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525" y="1546951"/>
          <a:ext cx="18307050" cy="832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058400" imgH="4572000" progId="Excel.Sheet.12">
                  <p:link updateAutomatic="1"/>
                </p:oleObj>
              </mc:Choice>
              <mc:Fallback>
                <p:oleObj name="Worksheet" r:id="rId2" imgW="10058400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DEFA55D-853D-0DF4-15FA-8FC09E4909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8525" y="1546951"/>
                        <a:ext cx="18307050" cy="832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898525" y="598653"/>
            <a:ext cx="1830705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WW19-WW27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685960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557554" y="9868852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	QA: RJG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41567" y="1662118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26824" y="1662118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228. D6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8D9F43-444C-7A97-3BA0-1B25CCEA9B8B}"/>
              </a:ext>
            </a:extLst>
          </p:cNvPr>
          <p:cNvSpPr txBox="1"/>
          <p:nvPr/>
        </p:nvSpPr>
        <p:spPr>
          <a:xfrm>
            <a:off x="8523180" y="9850218"/>
            <a:ext cx="92230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 (from 21.2TD)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F1807CC-D6CD-CA3D-5051-94288FCA3AAA}"/>
              </a:ext>
            </a:extLst>
          </p:cNvPr>
          <p:cNvSpPr txBox="1"/>
          <p:nvPr/>
        </p:nvSpPr>
        <p:spPr>
          <a:xfrm flipH="1">
            <a:off x="8043620" y="10106192"/>
            <a:ext cx="9684872" cy="60450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WW24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: FIELD, PCS Bundling, CT Issue, FUNDING CSLB Disclosure, Production Modelling. Decoder 2 KMM, 2 RYW, 1 TTS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WW25: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DESIGN: Electrical Issue. Decoder 1 RYW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WW26: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 FIELD: Electrical Photo, Tilt Photo not clear. Decoder 2 RYW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1582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C57F49C-C80F-1733-4658-E46C88669D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7538" y="1612900"/>
          <a:ext cx="16421100" cy="822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144000" imgH="4581038" progId="Excel.Sheet.12">
                  <p:link updateAutomatic="1"/>
                </p:oleObj>
              </mc:Choice>
              <mc:Fallback>
                <p:oleObj name="Worksheet" r:id="rId2" imgW="9144000" imgH="4581038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C57F49C-C80F-1733-4658-E46C88669D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87538" y="1612900"/>
                        <a:ext cx="16421100" cy="822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M1 Corporate QA Inspection, WW19-WW27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930847" y="9954189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802441" y="9957364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133939" y="1659805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12285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FD040-0A25-6122-DEB0-0A78D1209D74}"/>
              </a:ext>
            </a:extLst>
          </p:cNvPr>
          <p:cNvSpPr/>
          <p:nvPr/>
        </p:nvSpPr>
        <p:spPr>
          <a:xfrm>
            <a:off x="2574951" y="1659805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228. D6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CC4C77-3763-2A8F-73CA-1172897D9312}"/>
              </a:ext>
            </a:extLst>
          </p:cNvPr>
          <p:cNvSpPr txBox="1"/>
          <p:nvPr/>
        </p:nvSpPr>
        <p:spPr>
          <a:xfrm>
            <a:off x="8580872" y="9889405"/>
            <a:ext cx="92230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 Additional Quality Staff Deployed and checked before submission to Corporate QA (from 21.2TD)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A99F3-EDB5-DCAE-B18F-5FD405DF1265}"/>
              </a:ext>
            </a:extLst>
          </p:cNvPr>
          <p:cNvSpPr txBox="1"/>
          <p:nvPr/>
        </p:nvSpPr>
        <p:spPr>
          <a:xfrm>
            <a:off x="8580872" y="10129816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** </a:t>
            </a:r>
            <a:r>
              <a:rPr kumimoji="0" lang="en-US" sz="16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Sameday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 Solar</a:t>
            </a:r>
          </a:p>
        </p:txBody>
      </p:sp>
    </p:spTree>
    <p:extLst>
      <p:ext uri="{BB962C8B-B14F-4D97-AF65-F5344CB8AC3E}">
        <p14:creationId xmlns:p14="http://schemas.microsoft.com/office/powerpoint/2010/main" val="3009526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6E22743-C4C9-A913-A4F7-F73955C321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9108" y="1343867"/>
          <a:ext cx="1810588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3" imgW="10058400" imgH="4572000" progId="Excel.SheetBinaryMacroEnabled.12">
                  <p:link updateAutomatic="1"/>
                </p:oleObj>
              </mc:Choice>
              <mc:Fallback>
                <p:oleObj name="Binary Worksheet" r:id="rId3" imgW="10058400" imgH="4572000" progId="Excel.SheetBinaryMacroEnabled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6E22743-C4C9-A913-A4F7-F73955C321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9108" y="1343867"/>
                        <a:ext cx="1810588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S14: SPWR Direct Final Inspection Verified FPY, WW23-WW27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BB82FC-8E19-F6BB-AE56-DD1F0179AF59}"/>
              </a:ext>
            </a:extLst>
          </p:cNvPr>
          <p:cNvSpPr/>
          <p:nvPr/>
        </p:nvSpPr>
        <p:spPr>
          <a:xfrm>
            <a:off x="999108" y="9617464"/>
            <a:ext cx="9601199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5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7/06/2026	Owner: RLJ, JTE      QA: TGM, ZJW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B368E56-3988-02D9-2609-BF63BFAB5BF5}"/>
              </a:ext>
            </a:extLst>
          </p:cNvPr>
          <p:cNvSpPr txBox="1"/>
          <p:nvPr/>
        </p:nvSpPr>
        <p:spPr>
          <a:xfrm>
            <a:off x="13297029" y="5155000"/>
            <a:ext cx="1469720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SPEC 12807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8D-242, D3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(OPEN)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ANDON CORD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TGM-107A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8FAD6D-0CA0-8545-7E21-5C0CC12B6BFF}"/>
              </a:ext>
            </a:extLst>
          </p:cNvPr>
          <p:cNvGrpSpPr/>
          <p:nvPr/>
        </p:nvGrpSpPr>
        <p:grpSpPr>
          <a:xfrm>
            <a:off x="2483583" y="3075667"/>
            <a:ext cx="12413603" cy="5226623"/>
            <a:chOff x="1865154" y="3075667"/>
            <a:chExt cx="12413603" cy="522662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69EAE52-5807-0244-F56A-1079AD327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78757" y="3075667"/>
              <a:ext cx="0" cy="5226623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13">
              <a:extLst>
                <a:ext uri="{FF2B5EF4-FFF2-40B4-BE49-F238E27FC236}">
                  <a16:creationId xmlns:a16="http://schemas.microsoft.com/office/drawing/2014/main" id="{C833041D-6C0C-3EC3-8C54-458166D0FB98}"/>
                </a:ext>
              </a:extLst>
            </p:cNvPr>
            <p:cNvSpPr txBox="1"/>
            <p:nvPr/>
          </p:nvSpPr>
          <p:spPr>
            <a:xfrm>
              <a:off x="1865154" y="3075667"/>
              <a:ext cx="1256004" cy="593033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97%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Escalation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to SSB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05B29F7-AF65-4DF9-77FF-D6C72B7937AD}"/>
              </a:ext>
            </a:extLst>
          </p:cNvPr>
          <p:cNvSpPr txBox="1"/>
          <p:nvPr/>
        </p:nvSpPr>
        <p:spPr>
          <a:xfrm>
            <a:off x="4568354" y="10051527"/>
            <a:ext cx="6365894" cy="584775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NOTE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: FOR Q326 ONWARDS DATA FROM SALESFORCE WILL BE ALIGNED TO FIV TEAM REPORTING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7F103C-D0BD-2042-59C4-FA8A2D43F63A}"/>
              </a:ext>
            </a:extLst>
          </p:cNvPr>
          <p:cNvSpPr txBox="1"/>
          <p:nvPr/>
        </p:nvSpPr>
        <p:spPr>
          <a:xfrm>
            <a:off x="10934248" y="10051527"/>
            <a:ext cx="6365894" cy="584775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SF REPORT 1: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</a:rPr>
              <a:t>Q2 Inspection Fails | Salesforce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SF REPORT 2: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7"/>
              </a:rPr>
              <a:t>All Inspection Tickets Q2 | Salesforce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3466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8DA2536-FBEE-8BDC-5CFB-DA60B18F8C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010" y="1539875"/>
          <a:ext cx="18928080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3" imgW="10515600" imgH="4572000" progId="Excel.SheetBinaryMacroEnabled.12">
                  <p:link updateAutomatic="1"/>
                </p:oleObj>
              </mc:Choice>
              <mc:Fallback>
                <p:oleObj name="Binary Worksheet" r:id="rId3" imgW="10515600" imgH="4572000" progId="Excel.SheetBinary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8DA2536-FBEE-8BDC-5CFB-DA60B18F8C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010" y="1539875"/>
                        <a:ext cx="18928080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SPWR Direct S14 Final Inspection Verified Pareto, WW23-WW27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CC1DE-F1FB-F083-E3E0-1F6EB97E396E}"/>
              </a:ext>
            </a:extLst>
          </p:cNvPr>
          <p:cNvSpPr txBox="1"/>
          <p:nvPr/>
        </p:nvSpPr>
        <p:spPr>
          <a:xfrm>
            <a:off x="12923519" y="9776867"/>
            <a:ext cx="4663440" cy="338554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* WW23-27 DATA ALIGNMENT WITH FIV TEAM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3FCC9C-6F80-FE4F-F07E-A42A20784E8F}"/>
              </a:ext>
            </a:extLst>
          </p:cNvPr>
          <p:cNvGrpSpPr/>
          <p:nvPr/>
        </p:nvGrpSpPr>
        <p:grpSpPr>
          <a:xfrm>
            <a:off x="2475331" y="9058581"/>
            <a:ext cx="7083191" cy="665790"/>
            <a:chOff x="2597897" y="8448980"/>
            <a:chExt cx="7083191" cy="66579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00ED70-241C-AAB3-D3D6-B89B21338910}"/>
                </a:ext>
              </a:extLst>
            </p:cNvPr>
            <p:cNvSpPr/>
            <p:nvPr/>
          </p:nvSpPr>
          <p:spPr>
            <a:xfrm>
              <a:off x="2597897" y="8448981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430367-95BE-9850-20D8-DB03E68AD7C7}"/>
                </a:ext>
              </a:extLst>
            </p:cNvPr>
            <p:cNvSpPr/>
            <p:nvPr/>
          </p:nvSpPr>
          <p:spPr>
            <a:xfrm>
              <a:off x="3558757" y="8448981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DE9B36-87B2-A5F5-A2CF-5FF443EFCA5A}"/>
                </a:ext>
              </a:extLst>
            </p:cNvPr>
            <p:cNvSpPr/>
            <p:nvPr/>
          </p:nvSpPr>
          <p:spPr>
            <a:xfrm>
              <a:off x="4946556" y="8448981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6C4CB1A-ED7E-818B-0706-AA3F0B2164E0}"/>
                </a:ext>
              </a:extLst>
            </p:cNvPr>
            <p:cNvSpPr/>
            <p:nvPr/>
          </p:nvSpPr>
          <p:spPr>
            <a:xfrm>
              <a:off x="6171288" y="8448980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4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FC1E17-C869-1314-5A5F-ED9106824385}"/>
                </a:ext>
              </a:extLst>
            </p:cNvPr>
            <p:cNvSpPr/>
            <p:nvPr/>
          </p:nvSpPr>
          <p:spPr>
            <a:xfrm>
              <a:off x="7779946" y="8448980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596AEE-799F-FD80-17C2-0E09483B5BE4}"/>
                </a:ext>
              </a:extLst>
            </p:cNvPr>
            <p:cNvSpPr/>
            <p:nvPr/>
          </p:nvSpPr>
          <p:spPr>
            <a:xfrm>
              <a:off x="9096119" y="8448980"/>
              <a:ext cx="584969" cy="665789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6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E0AD02B-3BF3-75F4-FFB0-9F84571558E4}"/>
              </a:ext>
            </a:extLst>
          </p:cNvPr>
          <p:cNvGrpSpPr/>
          <p:nvPr/>
        </p:nvGrpSpPr>
        <p:grpSpPr>
          <a:xfrm>
            <a:off x="1082007" y="1691887"/>
            <a:ext cx="17940086" cy="5468740"/>
            <a:chOff x="1082007" y="1691887"/>
            <a:chExt cx="17940086" cy="54687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195C138-2901-7977-EBD5-E6D4F07D249C}"/>
                </a:ext>
              </a:extLst>
            </p:cNvPr>
            <p:cNvSpPr/>
            <p:nvPr/>
          </p:nvSpPr>
          <p:spPr>
            <a:xfrm>
              <a:off x="17193293" y="1691887"/>
              <a:ext cx="18288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15077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Spec 12807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15F432-95E2-8CC6-4181-9EEC3C1DD8C0}"/>
                </a:ext>
              </a:extLst>
            </p:cNvPr>
            <p:cNvSpPr/>
            <p:nvPr/>
          </p:nvSpPr>
          <p:spPr>
            <a:xfrm>
              <a:off x="1082007" y="1691887"/>
              <a:ext cx="4200255" cy="457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8D 242, D3 (OPEN)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20CDED-01CA-5DBC-B5D3-B2A4516D4F3E}"/>
                </a:ext>
              </a:extLst>
            </p:cNvPr>
            <p:cNvSpPr/>
            <p:nvPr/>
          </p:nvSpPr>
          <p:spPr>
            <a:xfrm>
              <a:off x="12923519" y="3287867"/>
              <a:ext cx="4670150" cy="38727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SUBCATEGORY</a:t>
              </a:r>
              <a:b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</a:b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1-Uncategorized: 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Attribution for review and category validation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2-AHJ: 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City or County Requirements</a:t>
              </a: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3-</a:t>
              </a: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DESIGN: 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Incorrect Design, AB Design Process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4-ELECTRICAL TECH (ET): </a:t>
              </a: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Human Error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5-PERMITTING: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Arial"/>
                </a:rPr>
                <a:t>6-CUSTOMER</a:t>
              </a:r>
              <a:endPara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EE3D6EA-CF03-073D-F475-C960EC71F788}"/>
              </a:ext>
            </a:extLst>
          </p:cNvPr>
          <p:cNvSpPr/>
          <p:nvPr/>
        </p:nvSpPr>
        <p:spPr>
          <a:xfrm>
            <a:off x="1822451" y="9769475"/>
            <a:ext cx="9601200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5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7/06/2026	Owner: RLJ , JTE     QA Support: ZJW, TGM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39CD22-BF2A-629F-038C-6063DD60CD53}"/>
              </a:ext>
            </a:extLst>
          </p:cNvPr>
          <p:cNvSpPr txBox="1"/>
          <p:nvPr/>
        </p:nvSpPr>
        <p:spPr>
          <a:xfrm>
            <a:off x="6044122" y="10323480"/>
            <a:ext cx="8015856" cy="584775"/>
          </a:xfrm>
          <a:prstGeom prst="rect">
            <a:avLst/>
          </a:prstGeom>
          <a:solidFill>
            <a:srgbClr val="FFFFCC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NOTE: FOR Q326 ONWARDS DATA FROM SALESFORCE WILL BE ALIGNED TO FIV TEAM’S REPORTING. THUS, UNCATEGORIZED WILL BE ELIMINATED</a:t>
            </a:r>
          </a:p>
        </p:txBody>
      </p:sp>
    </p:spTree>
    <p:extLst>
      <p:ext uri="{BB962C8B-B14F-4D97-AF65-F5344CB8AC3E}">
        <p14:creationId xmlns:p14="http://schemas.microsoft.com/office/powerpoint/2010/main" val="1492166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222250" y="599962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SPWR Direct S14 Final Inspection Verified Pareto, WW23-WW27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E3D6EA-CF03-073D-F475-C960EC71F788}"/>
              </a:ext>
            </a:extLst>
          </p:cNvPr>
          <p:cNvSpPr/>
          <p:nvPr/>
        </p:nvSpPr>
        <p:spPr>
          <a:xfrm>
            <a:off x="450850" y="7721529"/>
            <a:ext cx="13569950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Data Source: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  <a:hlinkClick r:id="rId3"/>
              </a:rPr>
              <a:t>Salesforce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/EVV, 7/06/2026	Owner: RLJ, JTE     QA Support: TGM, ZJW</a:t>
            </a: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Roboto"/>
              <a:ea typeface="Roboto"/>
              <a:cs typeface="Roboto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FC6C5-9723-80EA-3FEB-34C827EBB72E}"/>
              </a:ext>
            </a:extLst>
          </p:cNvPr>
          <p:cNvSpPr/>
          <p:nvPr/>
        </p:nvSpPr>
        <p:spPr>
          <a:xfrm>
            <a:off x="14383825" y="1387863"/>
            <a:ext cx="4837203" cy="390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3A383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2ND LEVEL PARETO BY CREW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433E8CF-B472-BE80-C781-F23294DD73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983" y="1777929"/>
          <a:ext cx="13681683" cy="594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4" imgW="10524638" imgH="4572000" progId="Excel.SheetBinaryMacroEnabled.12">
                  <p:link updateAutomatic="1"/>
                </p:oleObj>
              </mc:Choice>
              <mc:Fallback>
                <p:oleObj name="Binary Worksheet" r:id="rId4" imgW="10524638" imgH="4572000" progId="Excel.SheetBinaryMacroEnabled.12">
                  <p:link updateAutomatic="1"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433E8CF-B472-BE80-C781-F23294DD73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4983" y="1777929"/>
                        <a:ext cx="13681683" cy="594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83CCF21-AFD6-5DB6-BBB2-33F610BE36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83825" y="1777929"/>
            <a:ext cx="3924300" cy="84010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82704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E2175C7-2989-3AA7-AC52-CEF4DF6F8E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9113" y="1581150"/>
          <a:ext cx="1656260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00884" imgH="4572000" progId="Excel.Sheet.12">
                  <p:link updateAutomatic="1"/>
                </p:oleObj>
              </mc:Choice>
              <mc:Fallback>
                <p:oleObj name="Worksheet" r:id="rId2" imgW="9200884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E2175C7-2989-3AA7-AC52-CEF4DF6F8E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9113" y="1581150"/>
                        <a:ext cx="1656260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89113" y="598653"/>
            <a:ext cx="16562606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789113" y="9837083"/>
            <a:ext cx="3044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486AD-9F63-E958-F90F-52B3091B1C6C}"/>
              </a:ext>
            </a:extLst>
          </p:cNvPr>
          <p:cNvSpPr txBox="1"/>
          <p:nvPr/>
        </p:nvSpPr>
        <p:spPr>
          <a:xfrm>
            <a:off x="4620926" y="9837083"/>
            <a:ext cx="2898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013A9AB-ABE0-75FA-FEF4-788D6E5F13E2}"/>
              </a:ext>
            </a:extLst>
          </p:cNvPr>
          <p:cNvSpPr txBox="1"/>
          <p:nvPr/>
        </p:nvSpPr>
        <p:spPr>
          <a:xfrm>
            <a:off x="1053274" y="3227109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6C90822-99D6-E8DF-F057-44DA1EF88ECB}"/>
              </a:ext>
            </a:extLst>
          </p:cNvPr>
          <p:cNvGrpSpPr/>
          <p:nvPr/>
        </p:nvGrpSpPr>
        <p:grpSpPr>
          <a:xfrm>
            <a:off x="12072918" y="3227109"/>
            <a:ext cx="2355742" cy="4863006"/>
            <a:chOff x="16755969" y="3227109"/>
            <a:chExt cx="2355742" cy="4863006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A54D5D6-7C9C-E731-433C-939E7B58D806}"/>
                </a:ext>
              </a:extLst>
            </p:cNvPr>
            <p:cNvCxnSpPr>
              <a:cxnSpLocks/>
            </p:cNvCxnSpPr>
            <p:nvPr/>
          </p:nvCxnSpPr>
          <p:spPr>
            <a:xfrm>
              <a:off x="19111711" y="3227109"/>
              <a:ext cx="0" cy="4863006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73FF2A-58B6-9346-712D-248AD6DDDB8A}"/>
                </a:ext>
              </a:extLst>
            </p:cNvPr>
            <p:cNvSpPr txBox="1"/>
            <p:nvPr/>
          </p:nvSpPr>
          <p:spPr>
            <a:xfrm>
              <a:off x="16755969" y="6559790"/>
              <a:ext cx="2206243" cy="86774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UPDATE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  <a:sym typeface="Arial"/>
                </a:rPr>
                <a:t>SPEC 12445/B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A9370F9-F53F-AF45-6082-C26EFA1368B8}"/>
              </a:ext>
            </a:extLst>
          </p:cNvPr>
          <p:cNvSpPr txBox="1"/>
          <p:nvPr/>
        </p:nvSpPr>
        <p:spPr>
          <a:xfrm>
            <a:off x="6952843" y="9837083"/>
            <a:ext cx="2126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Spec: 12445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0A28B18F-43DD-B777-B48E-AC9B84273127}"/>
              </a:ext>
            </a:extLst>
          </p:cNvPr>
          <p:cNvSpPr txBox="1"/>
          <p:nvPr/>
        </p:nvSpPr>
        <p:spPr>
          <a:xfrm>
            <a:off x="2118134" y="3293783"/>
            <a:ext cx="1365232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97%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Escalate to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SSB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62D751-0C0D-6295-9166-AE687B3F563A}"/>
              </a:ext>
            </a:extLst>
          </p:cNvPr>
          <p:cNvSpPr txBox="1"/>
          <p:nvPr/>
        </p:nvSpPr>
        <p:spPr>
          <a:xfrm>
            <a:off x="12222417" y="2644342"/>
            <a:ext cx="2206243" cy="6953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THIS IS CANDIDATE FOR ANDON CORD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86DA1-7E1C-8CC5-4BC0-9A77FA766093}"/>
              </a:ext>
            </a:extLst>
          </p:cNvPr>
          <p:cNvSpPr txBox="1"/>
          <p:nvPr/>
        </p:nvSpPr>
        <p:spPr>
          <a:xfrm>
            <a:off x="8942296" y="9837083"/>
            <a:ext cx="8390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If Activation Approved is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not achieved within 115 days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,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LightReach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may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claw back the M2 funds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that were previously paid.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once a project has been paid the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</a:t>
            </a:r>
            <a:r>
              <a:rPr kumimoji="0" lang="en-US" sz="1400" b="1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Install (M1)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funding milestone it has a 115 day “shot clock” to reach </a:t>
            </a:r>
            <a:r>
              <a:rPr kumimoji="0" lang="en-US" sz="1400" b="1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Activation Approved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.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89E121EF-C1B3-10A0-101B-7BF247227625}"/>
              </a:ext>
            </a:extLst>
          </p:cNvPr>
          <p:cNvSpPr/>
          <p:nvPr/>
        </p:nvSpPr>
        <p:spPr>
          <a:xfrm rot="5400000" flipV="1">
            <a:off x="9926677" y="2407418"/>
            <a:ext cx="712922" cy="7237703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05E693-7E92-1170-2936-3074A531E48E}"/>
              </a:ext>
            </a:extLst>
          </p:cNvPr>
          <p:cNvSpPr txBox="1"/>
          <p:nvPr/>
        </p:nvSpPr>
        <p:spPr>
          <a:xfrm>
            <a:off x="9180016" y="6409065"/>
            <a:ext cx="2206243" cy="71292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RCCA 234, D4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(OPEN)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D6D157-F1B1-C4F4-A5E2-E283FCE53EB5}"/>
              </a:ext>
            </a:extLst>
          </p:cNvPr>
          <p:cNvSpPr txBox="1"/>
          <p:nvPr/>
        </p:nvSpPr>
        <p:spPr>
          <a:xfrm flipH="1">
            <a:off x="14955330" y="4580859"/>
            <a:ext cx="2206243" cy="857264"/>
          </a:xfrm>
          <a:prstGeom prst="accentCallout1">
            <a:avLst>
              <a:gd name="adj1" fmla="val -563"/>
              <a:gd name="adj2" fmla="val 1502"/>
              <a:gd name="adj3" fmla="val -57180"/>
              <a:gd name="adj4" fmla="val 7328"/>
            </a:avLst>
          </a:prstGeom>
          <a:noFill/>
          <a:ln w="9525" cmpd="sng"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1 – Commissioning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issue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RCCA 234, D4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  <a:sym typeface="Arial"/>
              </a:rPr>
              <a:t>(OPEN)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7967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B2D1215-8D30-4498-0B21-45F67670A2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2443" y="1547812"/>
          <a:ext cx="1657921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10453" imgH="4572000" progId="Excel.Sheet.12">
                  <p:link updateAutomatic="1"/>
                </p:oleObj>
              </mc:Choice>
              <mc:Fallback>
                <p:oleObj name="Worksheet" r:id="rId2" imgW="9210453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B2D1215-8D30-4498-0B21-45F67670A2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62443" y="1547812"/>
                        <a:ext cx="1657921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WW24-WW27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12445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8A592-8E1F-6693-E252-D9D78BD023C8}"/>
              </a:ext>
            </a:extLst>
          </p:cNvPr>
          <p:cNvSpPr txBox="1"/>
          <p:nvPr/>
        </p:nvSpPr>
        <p:spPr>
          <a:xfrm>
            <a:off x="1762443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EE032-6EE2-6267-7B8E-2B626B042EC1}"/>
              </a:ext>
            </a:extLst>
          </p:cNvPr>
          <p:cNvSpPr txBox="1"/>
          <p:nvPr/>
        </p:nvSpPr>
        <p:spPr>
          <a:xfrm>
            <a:off x="5634037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BD40-01F9-1BDC-07A0-3A9894C95736}"/>
              </a:ext>
            </a:extLst>
          </p:cNvPr>
          <p:cNvSpPr/>
          <p:nvPr/>
        </p:nvSpPr>
        <p:spPr>
          <a:xfrm>
            <a:off x="9261363" y="7547675"/>
            <a:ext cx="1554480" cy="762197"/>
          </a:xfrm>
          <a:prstGeom prst="rect">
            <a:avLst/>
          </a:prstGeom>
          <a:solidFill>
            <a:schemeClr val="lt1">
              <a:alpha val="7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Incorrect Shine Disclosure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</a:b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(FUNDING)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45AAB1-FFA1-DEE9-4659-75C954EAB421}"/>
              </a:ext>
            </a:extLst>
          </p:cNvPr>
          <p:cNvGrpSpPr/>
          <p:nvPr/>
        </p:nvGrpSpPr>
        <p:grpSpPr>
          <a:xfrm>
            <a:off x="4138047" y="2888026"/>
            <a:ext cx="11947765" cy="1341758"/>
            <a:chOff x="4138047" y="3430644"/>
            <a:chExt cx="11947765" cy="134175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5511C-8287-11A2-CEFA-2C4849993992}"/>
                </a:ext>
              </a:extLst>
            </p:cNvPr>
            <p:cNvSpPr/>
            <p:nvPr/>
          </p:nvSpPr>
          <p:spPr>
            <a:xfrm>
              <a:off x="9426130" y="3430644"/>
              <a:ext cx="137160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234. D4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(OPEN)</a:t>
              </a:r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D03BA66B-3913-07DC-7158-44436B42DF83}"/>
                </a:ext>
              </a:extLst>
            </p:cNvPr>
            <p:cNvSpPr/>
            <p:nvPr/>
          </p:nvSpPr>
          <p:spPr>
            <a:xfrm rot="16200000">
              <a:off x="9755469" y="-1557942"/>
              <a:ext cx="712922" cy="11947765"/>
            </a:xfrm>
            <a:prstGeom prst="rightBrac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0601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D57A88E-90D4-9E29-C063-D1F0B7EAD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1547813"/>
          <a:ext cx="16560800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20023" imgH="4572000" progId="Excel.Sheet.12">
                  <p:link updateAutomatic="1"/>
                </p:oleObj>
              </mc:Choice>
              <mc:Fallback>
                <p:oleObj name="Worksheet" r:id="rId2" imgW="9220023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D57A88E-90D4-9E29-C063-D1F0B7EAD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1650" y="1547813"/>
                        <a:ext cx="16560800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71650" y="598653"/>
            <a:ext cx="165608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WW24-WW27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882720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754314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C56C0-08B4-4F1F-D35B-9DF565F0578A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12445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83E9D7-E5E9-728A-BE4F-BA7D7078E7CE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234. D4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8666C5-4F74-F6F5-E0EA-17741FF12C10}"/>
              </a:ext>
            </a:extLst>
          </p:cNvPr>
          <p:cNvSpPr txBox="1"/>
          <p:nvPr/>
        </p:nvSpPr>
        <p:spPr>
          <a:xfrm>
            <a:off x="9625907" y="9753098"/>
            <a:ext cx="5887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TGH – Tyson Hunter, LTD – Leo Miguel De Perio</a:t>
            </a:r>
          </a:p>
        </p:txBody>
      </p:sp>
    </p:spTree>
    <p:extLst>
      <p:ext uri="{BB962C8B-B14F-4D97-AF65-F5344CB8AC3E}">
        <p14:creationId xmlns:p14="http://schemas.microsoft.com/office/powerpoint/2010/main" val="1666295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B2D1215-8D30-4498-0B21-45F67670A2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2443" y="1547812"/>
          <a:ext cx="16579215" cy="822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10453" imgH="4572000" progId="Excel.Sheet.12">
                  <p:link updateAutomatic="1"/>
                </p:oleObj>
              </mc:Choice>
              <mc:Fallback>
                <p:oleObj name="Worksheet" r:id="rId2" imgW="9210453" imgH="4572000" progId="Excel.Sheet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B2D1215-8D30-4498-0B21-45F67670A2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62443" y="1547812"/>
                        <a:ext cx="16579215" cy="822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222250" y="598653"/>
            <a:ext cx="196596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WW19-WW27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12445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8A592-8E1F-6693-E252-D9D78BD023C8}"/>
              </a:ext>
            </a:extLst>
          </p:cNvPr>
          <p:cNvSpPr txBox="1"/>
          <p:nvPr/>
        </p:nvSpPr>
        <p:spPr>
          <a:xfrm>
            <a:off x="1762443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EE032-6EE2-6267-7B8E-2B626B042EC1}"/>
              </a:ext>
            </a:extLst>
          </p:cNvPr>
          <p:cNvSpPr txBox="1"/>
          <p:nvPr/>
        </p:nvSpPr>
        <p:spPr>
          <a:xfrm>
            <a:off x="5634037" y="9837083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3028AB58-E179-3743-585C-9A551D64D71A}"/>
              </a:ext>
            </a:extLst>
          </p:cNvPr>
          <p:cNvSpPr/>
          <p:nvPr/>
        </p:nvSpPr>
        <p:spPr>
          <a:xfrm>
            <a:off x="7854392" y="4932793"/>
            <a:ext cx="2197657" cy="1063652"/>
          </a:xfrm>
          <a:prstGeom prst="borderCallout1">
            <a:avLst>
              <a:gd name="adj1" fmla="val 100347"/>
              <a:gd name="adj2" fmla="val -357"/>
              <a:gd name="adj3" fmla="val 160583"/>
              <a:gd name="adj4" fmla="val -446"/>
            </a:avLst>
          </a:prstGeom>
          <a:solidFill>
            <a:schemeClr val="lt1">
              <a:alpha val="7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2 – Request new Shine Disclosure (FUNDING)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2 – Incorrect Shine Disclosure (FUNDING)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5E5C24-293F-DF95-0392-82ECB6AA862C}"/>
              </a:ext>
            </a:extLst>
          </p:cNvPr>
          <p:cNvGrpSpPr/>
          <p:nvPr/>
        </p:nvGrpSpPr>
        <p:grpSpPr>
          <a:xfrm>
            <a:off x="3440623" y="3043009"/>
            <a:ext cx="13282048" cy="1341758"/>
            <a:chOff x="3440623" y="3430644"/>
            <a:chExt cx="13282048" cy="134175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AFD040-0A25-6122-DEB0-0A78D1209D74}"/>
                </a:ext>
              </a:extLst>
            </p:cNvPr>
            <p:cNvSpPr/>
            <p:nvPr/>
          </p:nvSpPr>
          <p:spPr>
            <a:xfrm>
              <a:off x="9395847" y="3430644"/>
              <a:ext cx="1371600" cy="5486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RCCA 234. D4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Arial"/>
                </a:rPr>
                <a:t>(OPEN)</a:t>
              </a:r>
            </a:p>
          </p:txBody>
        </p:sp>
        <p:sp>
          <p:nvSpPr>
            <p:cNvPr id="2" name="Right Brace 1">
              <a:extLst>
                <a:ext uri="{FF2B5EF4-FFF2-40B4-BE49-F238E27FC236}">
                  <a16:creationId xmlns:a16="http://schemas.microsoft.com/office/drawing/2014/main" id="{5830ECAB-DA70-2936-3B09-C6D420AC5ADA}"/>
                </a:ext>
              </a:extLst>
            </p:cNvPr>
            <p:cNvSpPr/>
            <p:nvPr/>
          </p:nvSpPr>
          <p:spPr>
            <a:xfrm rot="16200000">
              <a:off x="9725186" y="-2225083"/>
              <a:ext cx="712922" cy="13282048"/>
            </a:xfrm>
            <a:prstGeom prst="rightBrac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303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D57A88E-90D4-9E29-C063-D1F0B7EAD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1547813"/>
          <a:ext cx="16560800" cy="821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220023" imgH="4572000" progId="Excel.Sheet.12">
                  <p:link updateAutomatic="1"/>
                </p:oleObj>
              </mc:Choice>
              <mc:Fallback>
                <p:oleObj name="Worksheet" r:id="rId2" imgW="9220023" imgH="4572000" progId="Excel.Sheet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D57A88E-90D4-9E29-C063-D1F0B7EAD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1650" y="1547813"/>
                        <a:ext cx="16560800" cy="821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F2C79927-9D48-006C-2DEA-F5C3D4022B36}"/>
              </a:ext>
            </a:extLst>
          </p:cNvPr>
          <p:cNvSpPr txBox="1"/>
          <p:nvPr/>
        </p:nvSpPr>
        <p:spPr>
          <a:xfrm>
            <a:off x="1771650" y="598653"/>
            <a:ext cx="165608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1005280" rtl="0" eaLnBrk="1" fontAlgn="auto" latinLnBrk="0" hangingPunct="1">
              <a:lnSpc>
                <a:spcPts val="49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SunPower Direct M2 Corporate QA Inspection, WW19-WW27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B76AD7-C6E0-41B3-9690-D2924BB9CE24}"/>
              </a:ext>
            </a:extLst>
          </p:cNvPr>
          <p:cNvSpPr txBox="1"/>
          <p:nvPr/>
        </p:nvSpPr>
        <p:spPr>
          <a:xfrm>
            <a:off x="1882720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Author: RJG/EVV, 7/06/2026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007C-F1F8-BEDA-A151-6F2C598ECE62}"/>
              </a:ext>
            </a:extLst>
          </p:cNvPr>
          <p:cNvSpPr txBox="1"/>
          <p:nvPr/>
        </p:nvSpPr>
        <p:spPr>
          <a:xfrm>
            <a:off x="5754314" y="9753098"/>
            <a:ext cx="38715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Owner: KMM/AEP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C56C0-08B4-4F1F-D35B-9DF565F0578A}"/>
              </a:ext>
            </a:extLst>
          </p:cNvPr>
          <p:cNvSpPr/>
          <p:nvPr/>
        </p:nvSpPr>
        <p:spPr>
          <a:xfrm>
            <a:off x="16085812" y="166298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1507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Arial"/>
              </a:rPr>
              <a:t>Spec 12445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83E9D7-E5E9-728A-BE4F-BA7D7078E7CE}"/>
              </a:ext>
            </a:extLst>
          </p:cNvPr>
          <p:cNvSpPr/>
          <p:nvPr/>
        </p:nvSpPr>
        <p:spPr>
          <a:xfrm>
            <a:off x="2526824" y="1662980"/>
            <a:ext cx="13716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RCCA 234. D4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(OPEN)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DF33B-6B11-0568-6FD1-2A56E90F6608}"/>
              </a:ext>
            </a:extLst>
          </p:cNvPr>
          <p:cNvSpPr txBox="1"/>
          <p:nvPr/>
        </p:nvSpPr>
        <p:spPr>
          <a:xfrm>
            <a:off x="9625907" y="9753098"/>
            <a:ext cx="5887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TGH – Tyson Hunter, LTD – Leo Miguel De Perio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Arial"/>
                <a:sym typeface="Arial"/>
              </a:rPr>
              <a:t>JDH – James Hampton, PXB – Pallavi Bhasker</a:t>
            </a:r>
          </a:p>
        </p:txBody>
      </p:sp>
    </p:spTree>
    <p:extLst>
      <p:ext uri="{BB962C8B-B14F-4D97-AF65-F5344CB8AC3E}">
        <p14:creationId xmlns:p14="http://schemas.microsoft.com/office/powerpoint/2010/main" val="1612666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CAE74-E204-8FFF-CD38-2B856BE2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D2467F-4497-5FC3-C78E-121721859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393" y="1539875"/>
            <a:ext cx="16437315" cy="8229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5952C5A-132F-B733-835D-16EFF9FD0FAA}"/>
              </a:ext>
            </a:extLst>
          </p:cNvPr>
          <p:cNvSpPr/>
          <p:nvPr/>
        </p:nvSpPr>
        <p:spPr>
          <a:xfrm>
            <a:off x="1833392" y="9769475"/>
            <a:ext cx="3368040" cy="4285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507776">
              <a:defRPr/>
            </a:pPr>
            <a:r>
              <a:rPr lang="en-US" sz="160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Author: EVV, 6/16/2026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59695686-DD0A-E3E4-4917-FAA848BA98FD}"/>
              </a:ext>
            </a:extLst>
          </p:cNvPr>
          <p:cNvSpPr txBox="1"/>
          <p:nvPr/>
        </p:nvSpPr>
        <p:spPr>
          <a:xfrm>
            <a:off x="1833392" y="687856"/>
            <a:ext cx="1643731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S5: SPWR Direct Permit Pack Complete QA FPY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79B0C4-8231-43DC-1EBD-D84D7AC15EBE}"/>
              </a:ext>
            </a:extLst>
          </p:cNvPr>
          <p:cNvSpPr/>
          <p:nvPr/>
        </p:nvSpPr>
        <p:spPr>
          <a:xfrm>
            <a:off x="5201431" y="9769475"/>
            <a:ext cx="7986015" cy="4285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507776">
              <a:defRPr/>
            </a:pPr>
            <a:r>
              <a:rPr lang="en-US" sz="160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Owner: SGS/BCB	QA: DJF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F70A6A98-2BD9-DCDC-3EFF-5551397DC490}"/>
              </a:ext>
            </a:extLst>
          </p:cNvPr>
          <p:cNvSpPr txBox="1"/>
          <p:nvPr/>
        </p:nvSpPr>
        <p:spPr>
          <a:xfrm>
            <a:off x="2562886" y="3402281"/>
            <a:ext cx="1256004" cy="59303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97%</a:t>
            </a:r>
          </a:p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Escalation</a:t>
            </a:r>
          </a:p>
          <a:p>
            <a:pPr algn="r"/>
            <a:r>
              <a:rPr lang="en-US" sz="1600" b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 SSB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D7440E-EE90-D9D2-FB51-4ADF00D4F82E}"/>
              </a:ext>
            </a:extLst>
          </p:cNvPr>
          <p:cNvSpPr/>
          <p:nvPr/>
        </p:nvSpPr>
        <p:spPr>
          <a:xfrm>
            <a:off x="4755323" y="4522918"/>
            <a:ext cx="10593454" cy="276230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RE-INTRODUCE PERMIT PACK QA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REVISE PERMIT PACK QA TO REFLECT THE CORRECT PROCESS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TRAIN AND DEPLOY PERMIT PACK QA TO DESIGN TEAM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QUALITY AUDITS AGAINST THE SPEC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REVIVE THE FPY OF ENPHASE 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44FAC-4B3A-D07F-3AC6-3BB5CCBF55C2}"/>
              </a:ext>
            </a:extLst>
          </p:cNvPr>
          <p:cNvSpPr txBox="1"/>
          <p:nvPr/>
        </p:nvSpPr>
        <p:spPr>
          <a:xfrm>
            <a:off x="11434592" y="9769475"/>
            <a:ext cx="6825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Specs L2: 12777	Specs L4: 12385</a:t>
            </a:r>
          </a:p>
        </p:txBody>
      </p:sp>
    </p:spTree>
    <p:extLst>
      <p:ext uri="{BB962C8B-B14F-4D97-AF65-F5344CB8AC3E}">
        <p14:creationId xmlns:p14="http://schemas.microsoft.com/office/powerpoint/2010/main" val="2021043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29EF-908C-D620-50E4-5524C4B0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40B40E-F92B-A8B6-AE2E-CB54ADA7D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393" y="1539875"/>
            <a:ext cx="16437315" cy="822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53EEE7-34D3-F06E-402F-556E1456EAE9}"/>
              </a:ext>
            </a:extLst>
          </p:cNvPr>
          <p:cNvSpPr/>
          <p:nvPr/>
        </p:nvSpPr>
        <p:spPr>
          <a:xfrm>
            <a:off x="15963254" y="1937300"/>
            <a:ext cx="1828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507776">
              <a:defRPr/>
            </a:pPr>
            <a:r>
              <a:rPr lang="en-US" sz="20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Spec 12385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B555A-8A4E-8509-F517-DCE27C786851}"/>
              </a:ext>
            </a:extLst>
          </p:cNvPr>
          <p:cNvSpPr txBox="1"/>
          <p:nvPr/>
        </p:nvSpPr>
        <p:spPr>
          <a:xfrm>
            <a:off x="1833392" y="9769475"/>
            <a:ext cx="9601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Author: DJF/EVV, 6/16/2026		Owner: SGS/BCB 	QA: DJF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C8E21-1435-5468-BC66-9DB4377AF648}"/>
              </a:ext>
            </a:extLst>
          </p:cNvPr>
          <p:cNvSpPr txBox="1"/>
          <p:nvPr/>
        </p:nvSpPr>
        <p:spPr>
          <a:xfrm>
            <a:off x="11434592" y="9769475"/>
            <a:ext cx="6825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</a:rPr>
              <a:t>Specs L2: 12777	Specs L4: 12385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A6A87D23-3EA0-C95A-B70C-E9346C6B7219}"/>
              </a:ext>
            </a:extLst>
          </p:cNvPr>
          <p:cNvSpPr txBox="1"/>
          <p:nvPr/>
        </p:nvSpPr>
        <p:spPr>
          <a:xfrm>
            <a:off x="1833392" y="687856"/>
            <a:ext cx="1643731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1005280">
              <a:lnSpc>
                <a:spcPts val="4926"/>
              </a:lnSpc>
              <a:defRPr/>
            </a:pPr>
            <a:r>
              <a:rPr lang="en-US" sz="4400" b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Open Sans"/>
              </a:rPr>
              <a:t>S5: SPWR Direct Permit Pack QA Pareto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B6FBEA-0F42-216D-E681-B36D760EE0D4}"/>
              </a:ext>
            </a:extLst>
          </p:cNvPr>
          <p:cNvSpPr/>
          <p:nvPr/>
        </p:nvSpPr>
        <p:spPr>
          <a:xfrm>
            <a:off x="4829699" y="4273524"/>
            <a:ext cx="10444703" cy="276230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START WITH DESIGN DEFECTS FOR Q2 FROM FUNDING (M1 &amp; M2)</a:t>
            </a:r>
          </a:p>
          <a:p>
            <a:pPr marL="457200" indent="-457200" defTabSz="1507776">
              <a:buAutoNum type="arabicPeriod"/>
              <a:defRPr/>
            </a:pPr>
            <a:r>
              <a:rPr lang="en-US" sz="2400" b="1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PULL DATA FROM SALESFORCE BASED ON LAYOUT AND UPGRADE REVIEW</a:t>
            </a:r>
          </a:p>
          <a:p>
            <a:pPr defTabSz="1507776">
              <a:defRPr/>
            </a:pPr>
            <a:endParaRPr lang="en-US" sz="2400" b="1" dirty="0">
              <a:solidFill>
                <a:srgbClr val="3A383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885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F5441-8245-D3D5-96BA-0D0EC628D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871A-1C56-6700-AC9B-ECD51BCD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5" y="399"/>
            <a:ext cx="18864812" cy="1232187"/>
          </a:xfrm>
        </p:spPr>
        <p:txBody>
          <a:bodyPr>
            <a:noAutofit/>
          </a:bodyPr>
          <a:lstStyle/>
          <a:p>
            <a:pPr algn="l"/>
            <a:r>
              <a:rPr lang="en-US" sz="4617" b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NEW HOMES PROCESSES: TARGET TO FPY=100%</a:t>
            </a:r>
            <a:endParaRPr lang="en-US" sz="4617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B15402C-443F-4BF2-65CC-AE118FAE5A76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604028982"/>
              </p:ext>
            </p:extLst>
          </p:nvPr>
        </p:nvGraphicFramePr>
        <p:xfrm>
          <a:off x="515605" y="843697"/>
          <a:ext cx="19072889" cy="955778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90863">
                  <a:extLst>
                    <a:ext uri="{9D8B030D-6E8A-4147-A177-3AD203B41FA5}">
                      <a16:colId xmlns:a16="http://schemas.microsoft.com/office/drawing/2014/main" val="3842544468"/>
                    </a:ext>
                  </a:extLst>
                </a:gridCol>
                <a:gridCol w="971698">
                  <a:extLst>
                    <a:ext uri="{9D8B030D-6E8A-4147-A177-3AD203B41FA5}">
                      <a16:colId xmlns:a16="http://schemas.microsoft.com/office/drawing/2014/main" val="1410292681"/>
                    </a:ext>
                  </a:extLst>
                </a:gridCol>
                <a:gridCol w="1980846">
                  <a:extLst>
                    <a:ext uri="{9D8B030D-6E8A-4147-A177-3AD203B41FA5}">
                      <a16:colId xmlns:a16="http://schemas.microsoft.com/office/drawing/2014/main" val="787894804"/>
                    </a:ext>
                  </a:extLst>
                </a:gridCol>
                <a:gridCol w="3319935">
                  <a:extLst>
                    <a:ext uri="{9D8B030D-6E8A-4147-A177-3AD203B41FA5}">
                      <a16:colId xmlns:a16="http://schemas.microsoft.com/office/drawing/2014/main" val="4106445735"/>
                    </a:ext>
                  </a:extLst>
                </a:gridCol>
                <a:gridCol w="768982">
                  <a:extLst>
                    <a:ext uri="{9D8B030D-6E8A-4147-A177-3AD203B41FA5}">
                      <a16:colId xmlns:a16="http://schemas.microsoft.com/office/drawing/2014/main" val="3567871352"/>
                    </a:ext>
                  </a:extLst>
                </a:gridCol>
                <a:gridCol w="5277326">
                  <a:extLst>
                    <a:ext uri="{9D8B030D-6E8A-4147-A177-3AD203B41FA5}">
                      <a16:colId xmlns:a16="http://schemas.microsoft.com/office/drawing/2014/main" val="1161482405"/>
                    </a:ext>
                  </a:extLst>
                </a:gridCol>
                <a:gridCol w="1200509">
                  <a:extLst>
                    <a:ext uri="{9D8B030D-6E8A-4147-A177-3AD203B41FA5}">
                      <a16:colId xmlns:a16="http://schemas.microsoft.com/office/drawing/2014/main" val="2415657813"/>
                    </a:ext>
                  </a:extLst>
                </a:gridCol>
                <a:gridCol w="1200509">
                  <a:extLst>
                    <a:ext uri="{9D8B030D-6E8A-4147-A177-3AD203B41FA5}">
                      <a16:colId xmlns:a16="http://schemas.microsoft.com/office/drawing/2014/main" val="1933493864"/>
                    </a:ext>
                  </a:extLst>
                </a:gridCol>
                <a:gridCol w="1200509">
                  <a:extLst>
                    <a:ext uri="{9D8B030D-6E8A-4147-A177-3AD203B41FA5}">
                      <a16:colId xmlns:a16="http://schemas.microsoft.com/office/drawing/2014/main" val="3413017769"/>
                    </a:ext>
                  </a:extLst>
                </a:gridCol>
                <a:gridCol w="1130856">
                  <a:extLst>
                    <a:ext uri="{9D8B030D-6E8A-4147-A177-3AD203B41FA5}">
                      <a16:colId xmlns:a16="http://schemas.microsoft.com/office/drawing/2014/main" val="2520571553"/>
                    </a:ext>
                  </a:extLst>
                </a:gridCol>
                <a:gridCol w="1130856">
                  <a:extLst>
                    <a:ext uri="{9D8B030D-6E8A-4147-A177-3AD203B41FA5}">
                      <a16:colId xmlns:a16="http://schemas.microsoft.com/office/drawing/2014/main" val="1355593155"/>
                    </a:ext>
                  </a:extLst>
                </a:gridCol>
              </a:tblGrid>
              <a:tr h="35182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 Level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Stage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Process Owner/Quality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Milestone1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Milestone2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2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3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RCCA</a:t>
                      </a:r>
                      <a:endParaRPr lang="en-US" sz="18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LATEST FPY</a:t>
                      </a: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38433"/>
                  </a:ext>
                </a:extLst>
              </a:tr>
              <a:tr h="2170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WW26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WW27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644723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SFA/RJG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Lead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Request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10508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145, D6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12855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SFA/RJG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Request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Review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12507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49009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C3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SFA/RJG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Bid Review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Award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12507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639556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MTO/TGM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Award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Design Approved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11227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11463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35592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MQT/TGM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Design Approved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Production Trench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13051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12507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553007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L6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Production Trench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Requested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10549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154, D8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97676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MTO/TGM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Requested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Completed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11229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11466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154, D8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091776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JMN/ZJW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Design Completed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Permit Approved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11287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10506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150,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015413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RIH/ZJW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Lot Permit Approved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Rough Wire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10791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03386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Rough Wire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10790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82832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ROS/TGM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Installation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Job Close Out (JCO)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12752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10790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161,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28952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RIH/ZJW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Job Close Out (JCO)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Permit Approved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12327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4328094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LKR/EZD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Final Permit Approved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ctr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 (PTO)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12281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10853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148,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lang="en-US" sz="1600" b="1" i="0" u="none" strike="noStrike" baseline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77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3547765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L14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KAM/EZD/TGM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Permission To Operate (PTO)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Activation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13058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12152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08336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C15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RIH/EZD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 Trench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Community Install Complete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13044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11971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372352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L16P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LMR/RJG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Opportunity appt. confirmed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 Contract Signed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13037</a:t>
                      </a:r>
                      <a:endParaRPr lang="en-US" sz="16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10782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05307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L17P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PPV/RJG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 Contract Signed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Escrow date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13066</a:t>
                      </a:r>
                      <a:endParaRPr lang="en-US" sz="1600" b="0" i="0" u="none" strike="noStrike" baseline="3000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10670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059602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L18P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PPV/RJG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Job Close Out (JCO)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Escrow date </a:t>
                      </a: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13066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10670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148,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290973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L19P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LMR/RJG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Escrow date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TPO Contract Signed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13037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12477</a:t>
                      </a: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Investigating*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97878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L20P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AEP/RJG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TPO Contract Signed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M1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-Installation (Financier Approval)</a:t>
                      </a: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12752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10724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228, D4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243060"/>
                  </a:ext>
                </a:extLst>
              </a:tr>
              <a:tr h="4146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L21P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AEP/RJG</a:t>
                      </a:r>
                    </a:p>
                  </a:txBody>
                  <a:tcPr marL="150781" marR="150781" marT="75390" marB="7539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 fontAlgn="b">
                        <a:buNone/>
                      </a:pP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M2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-Activation (Financier Approval)</a:t>
                      </a:r>
                      <a:r>
                        <a:rPr lang="en-US" sz="1600" b="1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(Parallel)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12752</a:t>
                      </a: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10808</a:t>
                      </a:r>
                      <a:endParaRPr 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224, D6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 </a:t>
                      </a:r>
                      <a:endParaRPr kumimoji="0" lang="en-US" sz="16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100%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150781" marR="150781" marT="75390" marB="753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31366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9D346E1-508B-B465-5B03-9383BE368FD6}"/>
              </a:ext>
            </a:extLst>
          </p:cNvPr>
          <p:cNvSpPr/>
          <p:nvPr/>
        </p:nvSpPr>
        <p:spPr>
          <a:xfrm>
            <a:off x="515606" y="10328853"/>
            <a:ext cx="3569963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Author: JYH/EVV/ERF, 7/7/2026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7663-062B-4687-8B0A-BADCB24736C5}"/>
              </a:ext>
            </a:extLst>
          </p:cNvPr>
          <p:cNvSpPr/>
          <p:nvPr/>
        </p:nvSpPr>
        <p:spPr>
          <a:xfrm>
            <a:off x="4085565" y="1032885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Owner: ERF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316AA-DF0C-D274-C983-2DAB8790FC47}"/>
              </a:ext>
            </a:extLst>
          </p:cNvPr>
          <p:cNvSpPr/>
          <p:nvPr/>
        </p:nvSpPr>
        <p:spPr>
          <a:xfrm>
            <a:off x="6347276" y="10328853"/>
            <a:ext cx="2261711" cy="378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86207">
              <a:defRPr/>
            </a:pPr>
            <a:r>
              <a:rPr lang="en-US" sz="164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Spec: 10009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2331A-2CC6-802D-40E1-3C79515DD58C}"/>
              </a:ext>
            </a:extLst>
          </p:cNvPr>
          <p:cNvSpPr/>
          <p:nvPr/>
        </p:nvSpPr>
        <p:spPr>
          <a:xfrm>
            <a:off x="13172819" y="10717743"/>
            <a:ext cx="4987843" cy="641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 – PREVIOUS WEEK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 – MONTHLY CADENCE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 – ALBATROSS DATA ONLY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 – PENDING SIGNOFF</a:t>
            </a:r>
          </a:p>
          <a:p>
            <a:pPr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 – SPEC FOR UPDATE</a:t>
            </a:r>
          </a:p>
          <a:p>
            <a:pPr defTabSz="2486207">
              <a:defRPr/>
            </a:pPr>
            <a:endParaRPr lang="en-US" sz="1319" dirty="0">
              <a:solidFill>
                <a:srgbClr val="3A383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27982-CBCA-C75C-C332-B360BDB1C483}"/>
              </a:ext>
            </a:extLst>
          </p:cNvPr>
          <p:cNvSpPr/>
          <p:nvPr/>
        </p:nvSpPr>
        <p:spPr>
          <a:xfrm>
            <a:off x="16732828" y="10328854"/>
            <a:ext cx="2855668" cy="3540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2486207">
              <a:defRPr/>
            </a:pPr>
            <a:r>
              <a:rPr lang="en-US" sz="1319" dirty="0">
                <a:solidFill>
                  <a:srgbClr val="3A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* Salesforce Data gathering</a:t>
            </a:r>
            <a:endParaRPr lang="en-US" sz="1319">
              <a:solidFill>
                <a:srgbClr val="3A383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4800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SunPower_v3">
  <a:themeElements>
    <a:clrScheme name="SunPower">
      <a:dk1>
        <a:srgbClr val="000000"/>
      </a:dk1>
      <a:lt1>
        <a:srgbClr val="FFFFFF"/>
      </a:lt1>
      <a:dk2>
        <a:srgbClr val="162241"/>
      </a:dk2>
      <a:lt2>
        <a:srgbClr val="E8E8E8"/>
      </a:lt2>
      <a:accent1>
        <a:srgbClr val="162241"/>
      </a:accent1>
      <a:accent2>
        <a:srgbClr val="0056B8"/>
      </a:accent2>
      <a:accent3>
        <a:srgbClr val="FAD646"/>
      </a:accent3>
      <a:accent4>
        <a:srgbClr val="000000"/>
      </a:accent4>
      <a:accent5>
        <a:srgbClr val="FFFFFF"/>
      </a:accent5>
      <a:accent6>
        <a:srgbClr val="404040"/>
      </a:accent6>
      <a:hlink>
        <a:srgbClr val="839FFE"/>
      </a:hlink>
      <a:folHlink>
        <a:srgbClr val="839FF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spcFirstLastPara="1" wrap="square" lIns="0" tIns="7307" rIns="0" bIns="0" rtlCol="0" anchor="t" anchorCtr="0">
        <a:spAutoFit/>
      </a:bodyPr>
      <a:lstStyle>
        <a:defPPr marL="7701" marR="3081" algn="r">
          <a:lnSpc>
            <a:spcPct val="119500"/>
          </a:lnSpc>
          <a:defRPr sz="1800" b="1" i="0" dirty="0">
            <a:solidFill>
              <a:schemeClr val="accent4"/>
            </a:solidFill>
            <a:latin typeface="Open Sans ExtraBold" pitchFamily="2" charset="0"/>
            <a:ea typeface="Open Sans ExtraBold" pitchFamily="2" charset="0"/>
            <a:cs typeface="Open Sans ExtraBold" pitchFamily="2" charset="0"/>
            <a:sym typeface="Figtree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unPower_v3" id="{4596D956-87D5-3A42-8782-DE3527235942}" vid="{408376D1-EDEC-574E-95E1-F424A780B3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C504355090C444BE7D10ADFD191CD1" ma:contentTypeVersion="84" ma:contentTypeDescription="Create a new document." ma:contentTypeScope="" ma:versionID="a0de59c850f63590172dccfc0ab2cd06">
  <xsd:schema xmlns:xsd="http://www.w3.org/2001/XMLSchema" xmlns:xs="http://www.w3.org/2001/XMLSchema" xmlns:p="http://schemas.microsoft.com/office/2006/metadata/properties" xmlns:ns1="http://schemas.microsoft.com/sharepoint/v3" xmlns:ns2="83f8eacf-2526-432c-b3e2-18eea6be12a3" xmlns:ns3="a8d63d1d-10eb-44b3-8a11-d5a029092278" targetNamespace="http://schemas.microsoft.com/office/2006/metadata/properties" ma:root="true" ma:fieldsID="d2de3c7ce2308ae132d05e48147c0fe7" ns1:_="" ns2:_="" ns3:_="">
    <xsd:import namespace="http://schemas.microsoft.com/sharepoint/v3"/>
    <xsd:import namespace="83f8eacf-2526-432c-b3e2-18eea6be12a3"/>
    <xsd:import namespace="a8d63d1d-10eb-44b3-8a11-d5a0290922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Owners_x002f_DataStewards" minOccurs="0"/>
                <xsd:element ref="ns2:Information" minOccurs="0"/>
                <xsd:element ref="ns2:Bright_x0020_Idea_x0020_Submis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8eacf-2526-432c-b3e2-18eea6be12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displayName="Image Tags_0" ma:hidden="true" ma:internalName="lcf76f155ced4ddcb4097134ff3c332f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Owners_x002f_DataStewards" ma:index="24" nillable="true" ma:displayName="Owners/Data Stewards" ma:format="Dropdown" ma:list="UserInfo" ma:SharePointGroup="0" ma:internalName="Owners_x002f_DataSteward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formation" ma:index="25" nillable="true" ma:displayName="Information" ma:format="Dropdown" ma:internalName="Information">
      <xsd:simpleType>
        <xsd:restriction base="dms:Note">
          <xsd:maxLength value="255"/>
        </xsd:restriction>
      </xsd:simpleType>
    </xsd:element>
    <xsd:element name="Bright_x0020_Idea_x0020_Submissions" ma:index="26" nillable="true" ma:displayName="Bright Idea Submissions" ma:internalName="Bright_x0020_Idea_x0020_Submissions" ma:percentage="FALSE">
      <xsd:simpleType>
        <xsd:restriction base="dms:Number">
          <xsd:maxInclusive value="1.7976931348623157e+308"/>
          <xsd:minInclusive value="-1.7976931348623157e+308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d63d1d-10eb-44b3-8a11-d5a02909227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a37dc13-104b-4894-a790-8da42721ea16}" ma:internalName="TaxCatchAll" ma:showField="CatchAllData" ma:web="a8d63d1d-10eb-44b3-8a11-d5a0290922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d63d1d-10eb-44b3-8a11-d5a029092278" xsi:nil="true"/>
    <_ip_UnifiedCompliancePolicyUIAction xmlns="http://schemas.microsoft.com/sharepoint/v3" xsi:nil="true"/>
    <lcf76f155ced4ddcb4097134ff3c332f xmlns="83f8eacf-2526-432c-b3e2-18eea6be12a3" xsi:nil="true"/>
    <Information xmlns="83f8eacf-2526-432c-b3e2-18eea6be12a3" xsi:nil="true"/>
    <Bright_x0020_Idea_x0020_Submissions xmlns="83f8eacf-2526-432c-b3e2-18eea6be12a3" xsi:nil="true"/>
    <Owners_x002f_DataStewards xmlns="83f8eacf-2526-432c-b3e2-18eea6be12a3">
      <UserInfo>
        <DisplayName/>
        <AccountId xsi:nil="true"/>
        <AccountType/>
      </UserInfo>
    </Owners_x002f_DataStewards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036A2A52-DF72-4630-96B1-EC00318D3C53}">
  <ds:schemaRefs>
    <ds:schemaRef ds:uri="83f8eacf-2526-432c-b3e2-18eea6be12a3"/>
    <ds:schemaRef ds:uri="a8d63d1d-10eb-44b3-8a11-d5a0290922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B181334-4667-421D-BCEF-E3978F7946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E8A881-0B0D-423E-8AD5-DD5B6EE7E43E}">
  <ds:schemaRefs>
    <ds:schemaRef ds:uri="http://purl.org/dc/terms/"/>
    <ds:schemaRef ds:uri="a8d63d1d-10eb-44b3-8a11-d5a029092278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83f8eacf-2526-432c-b3e2-18eea6be12a3"/>
    <ds:schemaRef ds:uri="http://schemas.microsoft.com/sharepoint/v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27879</TotalTime>
  <Words>2358</Words>
  <Application>Microsoft Office PowerPoint</Application>
  <PresentationFormat>Custom</PresentationFormat>
  <Paragraphs>703</Paragraphs>
  <Slides>22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Links</vt:lpstr>
      </vt:variant>
      <vt:variant>
        <vt:i4>15</vt:i4>
      </vt:variant>
      <vt:variant>
        <vt:lpstr>Slide Titles</vt:lpstr>
      </vt:variant>
      <vt:variant>
        <vt:i4>22</vt:i4>
      </vt:variant>
    </vt:vector>
  </HeadingPairs>
  <TitlesOfParts>
    <vt:vector size="49" baseType="lpstr">
      <vt:lpstr>Aptos</vt:lpstr>
      <vt:lpstr>Arial</vt:lpstr>
      <vt:lpstr>Figtree</vt:lpstr>
      <vt:lpstr>Figtree Light</vt:lpstr>
      <vt:lpstr>Open Sans Light</vt:lpstr>
      <vt:lpstr>Roboto</vt:lpstr>
      <vt:lpstr>Segoe UI</vt:lpstr>
      <vt:lpstr>Segoe UI Semibold</vt:lpstr>
      <vt:lpstr>Segoe UI Semilight</vt:lpstr>
      <vt:lpstr>SunPower_v3</vt:lpstr>
      <vt:lpstr>Office Theme</vt:lpstr>
      <vt:lpstr>1_Office Theme</vt:lpstr>
      <vt:lpstr>https://blueravensolar.sharepoint.com/sites/QualityOMandCustomerSuccess/Shared%20Documents/Quality%20Data%20Repository/SPWR%20Direct%20FPY/FPY_SPD_8_rev00.xlsb!FPY_Summary!%5bFPY_SPD_8_rev00.xlsb%5dFPY_Summary%20Chart%205</vt:lpstr>
      <vt:lpstr>https://blueravensolar.sharepoint.com/sites/QualityOMandCustomerSuccess/Shared%20Documents/BRS%20SCV/BRS%20SCV_Corp_Audit_rev01.xlsx!QA-BRS_FPY_Pareto!%5bBRS%20SCV_Corp_Audit_rev01.xlsx%5dQA-BRS_FPY_Pareto%20Chart%2013</vt:lpstr>
      <vt:lpstr>https://blueravensolar.sharepoint.com/sites/QualityOMandCustomerSuccess/Shared%20Documents/BRS%20SCV/BRS%20SCV_Corp_Audit_rev01.xlsx!QA-BRS_FPY_Pareto!%5bBRS%20SCV_Corp_Audit_rev01.xlsx%5dQA-BRS_FPY_Pareto%20Chart%201</vt:lpstr>
      <vt:lpstr>https://blueravensolar.sharepoint.com/sites/QualityOMandCustomerSuccess/Shared%20Documents/NH%20JCO%20First%20Pass%20Yield%20Data/NH%20M2%20FPY%20for%20CorpQA_rev00.xlsx!SPD_LR_JF_Pareto!%5bNH%20M2%20FPY%20for%20CorpQA_rev00.xlsx%5dSPD_LR_JF_Pareto%20Pareto_M1QA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https://blueravensolar.sharepoint.com/sites/QualityOMandCustomerSuccess/Shared%20Documents/NH%20JCO%20First%20Pass%20Yield%20Data/NH%20M2%20FPY%20for%20CorpQA_rev00.xlsx!SPD_LR_JF_Pareto!%5bNH%20M2%20FPY%20for%20CorpQA_rev00.xlsx%5dSPD_LR_JF_Pareto%20Chart%2022</vt:lpstr>
      <vt:lpstr>https://blueravensolar.sharepoint.com/sites/QualityOMandCustomerSuccess/Shared%20Documents/NH%20JCO%20First%20Pass%20Yield%20Data/NH%20M2%20FPY%20for%20CorpQA_rev00.xlsx!SPD_LR_JF_Pareto!%5bNH%20M2%20FPY%20for%20CorpQA_rev00.xlsx%5dSPD_LR_JF_Pareto%20Pareto_M1QA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https://blueravensolar.sharepoint.com/sites/QualityOMandCustomerSuccess/Shared%20Documents/NH%20JCO%20First%20Pass%20Yield%20Data/NH%20M2%20FPY%20for%20CorpQA_rev00.xlsx!SPD_LR_JF_Pareto!%5bNH%20M2%20FPY%20for%20CorpQA_rev00.xlsx%5dSPD_LR_JF_Pareto%20Chart%2016</vt:lpstr>
      <vt:lpstr>https://blueravensolar.sharepoint.com/sites/QualityOMandCustomerSuccess/Shared%20Documents/Quality%20Data%20Repository/SPWR%20Direct%20FPY/14%20Final%20Inspection%20Verified/S14_FIV_FPY_rev00.xlsb!FPY_Pareto!%5bS14_FIV_FPY_rev00.xlsb%5dFPY_Pareto%20Chart%205</vt:lpstr>
      <vt:lpstr>https://blueravensolar.sharepoint.com/sites/QualityOMandCustomerSuccess/Shared%20Documents/Quality%20Data%20Repository/SPWR%20Direct%20FPY/14%20Final%20Inspection%20Verified/S14_FIV_FPY_rev00.xlsb!FPY_Pareto!%5bS14_FIV_FPY_rev00.xlsb%5dFPY_Pareto%20Chart%203</vt:lpstr>
      <vt:lpstr>https://blueravensolar.sharepoint.com/sites/QualityOMandCustomerSuccess/Shared%20Documents/Quality%20Data%20Repository/SPWR%20Direct%20FPY/14%20Final%20Inspection%20Verified/S14_FIV_FPY_rev00.xlsb!FPY_Pareto!%5bS14_FIV_FPY_rev00.xlsb%5dFPY_Pareto%20Chart%204</vt:lpstr>
      <vt:lpstr>https://blueravensolar.sharepoint.com/sites/QualityOMandCustomerSuccess/Shared%20Documents/NH%20JCO%20First%20Pass%20Yield%20Data/NH%20M2%20FPY%20for%20CorpQA_rev00.xlsx!SPD_LR_FPY!%5bNH%20M2%20FPY%20for%20CorpQA_rev00.xlsx%5dSPD_LR_FPY%20Chart%205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https://blueravensolar.sharepoint.com/sites/QualityOMandCustomerSuccess/Shared%20Documents/NH%20JCO%20First%20Pass%20Yield%20Data/NH%20M2%20FPY%20for%20CorpQA_rev00.xlsx!SPD_LR_JF_Pareto!%5bNH%20M2%20FPY%20for%20CorpQA_rev00.xlsx%5dSPD_LR_JF_Pareto%20Chart%206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https://blueravensolar.sharepoint.com/sites/QualityOMandCustomerSuccess/Shared%20Documents/NH%20JCO%20First%20Pass%20Yield%20Data/NH%20M2%20FPY%20for%20CorpQA_rev00.xlsx!SPD_LR_JF_Pareto!%5bNH%20M2%20FPY%20for%20CorpQA_rev00.xlsx%5dSPD_LR_JF_Pareto%20Chart%208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https://blueravensolar.sharepoint.com/sites/QualityOMandCustomerSuccess/Shared%20Documents/NH%20JCO%20First%20Pass%20Yield%20Data/NH%20M2%20FPY%20for%20CorpQA_rev00.xlsx!SPD_LR_JF_Pareto!%5bNH%20M2%20FPY%20for%20CorpQA_rev00.xlsx%5dSPD_LR_JF_Pareto%20Chart%206</vt:lpstr>
      <vt:lpstr>https://blueravensolar.sharepoint.com/sites/QualityOMandCustomerSuccess/Shared%20Documents/NH%20JCO%20First%20Pass%20Yield%20Data/NH%20M2%20FPY%20for%20CorpQA_rev00.xlsx!SPD_LR_JF_Pareto!%5bNH%20M2%20FPY%20for%20CorpQA_rev00.xlsx%5dSPD_LR_JF_Pareto%20Chart%208</vt:lpstr>
      <vt:lpstr>Cignetti Turnaround</vt:lpstr>
      <vt:lpstr>SUNPOWER DIRECT PROCESSES: TARGET TO FPY=100%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NEW HOMES PROCESSES: TARGET TO FPY=100%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ERF - Edryl Figueroa</dc:creator>
  <cp:lastModifiedBy>ERF - Edryl Figueroa</cp:lastModifiedBy>
  <cp:revision>9</cp:revision>
  <dcterms:created xsi:type="dcterms:W3CDTF">2026-05-13T23:00:09Z</dcterms:created>
  <dcterms:modified xsi:type="dcterms:W3CDTF">2026-07-07T11:35:43Z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0x01010030C504355090C444BE7D10ADFD191CD1</vt:lpwstr>
  </property>
</Properties>
</file>