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1" r:id="rId6"/>
  </p:sldMasterIdLst>
  <p:notesMasterIdLst>
    <p:notesMasterId r:id="rId29"/>
  </p:notesMasterIdLst>
  <p:sldIdLst>
    <p:sldId id="561" r:id="rId7"/>
    <p:sldId id="2147483647" r:id="rId8"/>
    <p:sldId id="260" r:id="rId9"/>
    <p:sldId id="261" r:id="rId10"/>
    <p:sldId id="282" r:id="rId11"/>
    <p:sldId id="267" r:id="rId12"/>
    <p:sldId id="264" r:id="rId13"/>
    <p:sldId id="269" r:id="rId14"/>
    <p:sldId id="283" r:id="rId15"/>
    <p:sldId id="314" r:id="rId16"/>
    <p:sldId id="323" r:id="rId17"/>
    <p:sldId id="344" r:id="rId18"/>
    <p:sldId id="345" r:id="rId19"/>
    <p:sldId id="346" r:id="rId20"/>
    <p:sldId id="325" r:id="rId21"/>
    <p:sldId id="331" r:id="rId22"/>
    <p:sldId id="327" r:id="rId23"/>
    <p:sldId id="326" r:id="rId24"/>
    <p:sldId id="342" r:id="rId25"/>
    <p:sldId id="258" r:id="rId26"/>
    <p:sldId id="259" r:id="rId27"/>
    <p:sldId id="256" r:id="rId28"/>
  </p:sldIdLst>
  <p:sldSz cx="20104100" cy="11309350"/>
  <p:notesSz cx="6858000" cy="9144000"/>
  <p:defaultTextStyle>
    <a:defPPr>
      <a:defRPr lang="en-US"/>
    </a:defPPr>
    <a:lvl1pPr marL="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BE8724-8E98-411C-9684-ABD8152EB447}">
          <p14:sldIdLst>
            <p14:sldId id="561"/>
          </p14:sldIdLst>
        </p14:section>
        <p14:section name="SPD Dashboard" id="{B4561748-8AAB-4082-AEEA-65130E6E8119}">
          <p14:sldIdLst>
            <p14:sldId id="2147483647"/>
          </p14:sldIdLst>
        </p14:section>
        <p14:section name="FDC" id="{FB243C43-CAE2-457A-8919-A50068D07D64}">
          <p14:sldIdLst>
            <p14:sldId id="260"/>
            <p14:sldId id="261"/>
          </p14:sldIdLst>
        </p14:section>
        <p14:section name="SCV" id="{724B2FBC-61BE-4E96-9562-010897B56495}">
          <p14:sldIdLst>
            <p14:sldId id="282"/>
            <p14:sldId id="267"/>
          </p14:sldIdLst>
        </p14:section>
        <p14:section name="M1Install" id="{E960ECDA-F107-49BA-AF22-45F50AE95925}">
          <p14:sldIdLst>
            <p14:sldId id="264"/>
            <p14:sldId id="269"/>
            <p14:sldId id="283"/>
            <p14:sldId id="314"/>
            <p14:sldId id="323"/>
          </p14:sldIdLst>
        </p14:section>
        <p14:section name="FIV" id="{2EC3B98B-AD9B-4D9F-8976-C6218D9E585C}">
          <p14:sldIdLst>
            <p14:sldId id="344"/>
            <p14:sldId id="345"/>
            <p14:sldId id="346"/>
          </p14:sldIdLst>
        </p14:section>
        <p14:section name="M2 Activate" id="{6A958018-8FEA-4D38-902B-5EB5279DF521}">
          <p14:sldIdLst>
            <p14:sldId id="325"/>
            <p14:sldId id="331"/>
            <p14:sldId id="327"/>
            <p14:sldId id="326"/>
            <p14:sldId id="342"/>
          </p14:sldIdLst>
        </p14:section>
        <p14:section name="PPC -Permit Pak Complete" id="{235FA0A1-F696-4DE8-AA6A-B0D56C578FCA}">
          <p14:sldIdLst>
            <p14:sldId id="258"/>
            <p14:sldId id="259"/>
          </p14:sldIdLst>
        </p14:section>
        <p14:section name="NH Dashboard" id="{0DC4311D-53C5-488A-817F-33F5FB1A10C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0CC99"/>
    <a:srgbClr val="009900"/>
    <a:srgbClr val="FF6600"/>
    <a:srgbClr val="E46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0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F - Edryl Figueroa" userId="e064a264-e925-45e4-bb52-a7a49365f90b" providerId="ADAL" clId="{02A356EF-B411-4AD7-A36A-223A5F5064DF}"/>
    <pc:docChg chg="addSld delSld modSld modSection">
      <pc:chgData name="ERF - Edryl Figueroa" userId="e064a264-e925-45e4-bb52-a7a49365f90b" providerId="ADAL" clId="{02A356EF-B411-4AD7-A36A-223A5F5064DF}" dt="2026-07-09T20:00:21.780" v="91" actId="20577"/>
      <pc:docMkLst>
        <pc:docMk/>
      </pc:docMkLst>
      <pc:sldChg chg="modSp mod">
        <pc:chgData name="ERF - Edryl Figueroa" userId="e064a264-e925-45e4-bb52-a7a49365f90b" providerId="ADAL" clId="{02A356EF-B411-4AD7-A36A-223A5F5064DF}" dt="2026-07-07T11:35:32.261" v="89" actId="1076"/>
        <pc:sldMkLst>
          <pc:docMk/>
          <pc:sldMk cId="2803480080" sldId="256"/>
        </pc:sldMkLst>
        <pc:spChg chg="mod">
          <ac:chgData name="ERF - Edryl Figueroa" userId="e064a264-e925-45e4-bb52-a7a49365f90b" providerId="ADAL" clId="{02A356EF-B411-4AD7-A36A-223A5F5064DF}" dt="2026-07-07T11:35:32.261" v="89" actId="1076"/>
          <ac:spMkLst>
            <pc:docMk/>
            <pc:sldMk cId="2803480080" sldId="256"/>
            <ac:spMk id="4" creationId="{4D82331A-2CC6-802D-40E1-3C79515DD58C}"/>
          </ac:spMkLst>
        </pc:spChg>
        <pc:spChg chg="mod">
          <ac:chgData name="ERF - Edryl Figueroa" userId="e064a264-e925-45e4-bb52-a7a49365f90b" providerId="ADAL" clId="{02A356EF-B411-4AD7-A36A-223A5F5064DF}" dt="2026-07-07T11:35:05.607" v="88" actId="20577"/>
          <ac:spMkLst>
            <pc:docMk/>
            <pc:sldMk cId="2803480080" sldId="256"/>
            <ac:spMk id="6" creationId="{19D346E1-508B-B465-5B03-9383BE368FD6}"/>
          </ac:spMkLst>
        </pc:spChg>
        <pc:graphicFrameChg chg="modGraphic">
          <ac:chgData name="ERF - Edryl Figueroa" userId="e064a264-e925-45e4-bb52-a7a49365f90b" providerId="ADAL" clId="{02A356EF-B411-4AD7-A36A-223A5F5064DF}" dt="2026-07-07T11:26:00.776" v="32" actId="20577"/>
          <ac:graphicFrameMkLst>
            <pc:docMk/>
            <pc:sldMk cId="2803480080" sldId="256"/>
            <ac:graphicFrameMk id="5" creationId="{EB15402C-443F-4BF2-65CC-AE118FAE5A76}"/>
          </ac:graphicFrameMkLst>
        </pc:graphicFrameChg>
      </pc:sldChg>
      <pc:sldChg chg="modSp add mod">
        <pc:chgData name="ERF - Edryl Figueroa" userId="e064a264-e925-45e4-bb52-a7a49365f90b" providerId="ADAL" clId="{02A356EF-B411-4AD7-A36A-223A5F5064DF}" dt="2026-07-07T11:21:06.631" v="20" actId="20577"/>
        <pc:sldMkLst>
          <pc:docMk/>
          <pc:sldMk cId="960876856" sldId="260"/>
        </pc:sldMkLst>
        <pc:spChg chg="mod">
          <ac:chgData name="ERF - Edryl Figueroa" userId="e064a264-e925-45e4-bb52-a7a49365f90b" providerId="ADAL" clId="{02A356EF-B411-4AD7-A36A-223A5F5064DF}" dt="2026-07-07T11:21:06.631" v="20" actId="20577"/>
          <ac:spMkLst>
            <pc:docMk/>
            <pc:sldMk cId="960876856" sldId="260"/>
            <ac:spMk id="24" creationId="{8744F8F2-B3B5-A915-36EE-C48085DCF7FC}"/>
          </ac:spMkLst>
        </pc:spChg>
      </pc:sldChg>
      <pc:sldChg chg="add">
        <pc:chgData name="ERF - Edryl Figueroa" userId="e064a264-e925-45e4-bb52-a7a49365f90b" providerId="ADAL" clId="{02A356EF-B411-4AD7-A36A-223A5F5064DF}" dt="2026-07-07T11:18:24.590" v="13"/>
        <pc:sldMkLst>
          <pc:docMk/>
          <pc:sldMk cId="3993314866" sldId="261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3057977440" sldId="264"/>
        </pc:sldMkLst>
      </pc:sldChg>
      <pc:sldChg chg="add">
        <pc:chgData name="ERF - Edryl Figueroa" userId="e064a264-e925-45e4-bb52-a7a49365f90b" providerId="ADAL" clId="{02A356EF-B411-4AD7-A36A-223A5F5064DF}" dt="2026-07-07T11:22:09.248" v="22"/>
        <pc:sldMkLst>
          <pc:docMk/>
          <pc:sldMk cId="3244098183" sldId="267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3667254705" sldId="269"/>
        </pc:sldMkLst>
      </pc:sldChg>
      <pc:sldChg chg="add">
        <pc:chgData name="ERF - Edryl Figueroa" userId="e064a264-e925-45e4-bb52-a7a49365f90b" providerId="ADAL" clId="{02A356EF-B411-4AD7-A36A-223A5F5064DF}" dt="2026-07-07T11:22:09.248" v="22"/>
        <pc:sldMkLst>
          <pc:docMk/>
          <pc:sldMk cId="1410042476" sldId="282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1375683983" sldId="283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4081582031" sldId="314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3009526268" sldId="323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2977967260" sldId="325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170303771" sldId="326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1666295951" sldId="327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3270601496" sldId="331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1612666698" sldId="342"/>
        </pc:sldMkLst>
      </pc:sldChg>
      <pc:sldChg chg="add del">
        <pc:chgData name="ERF - Edryl Figueroa" userId="e064a264-e925-45e4-bb52-a7a49365f90b" providerId="ADAL" clId="{02A356EF-B411-4AD7-A36A-223A5F5064DF}" dt="2026-07-07T11:24:00.691" v="26"/>
        <pc:sldMkLst>
          <pc:docMk/>
          <pc:sldMk cId="2273466997" sldId="344"/>
        </pc:sldMkLst>
      </pc:sldChg>
      <pc:sldChg chg="add del">
        <pc:chgData name="ERF - Edryl Figueroa" userId="e064a264-e925-45e4-bb52-a7a49365f90b" providerId="ADAL" clId="{02A356EF-B411-4AD7-A36A-223A5F5064DF}" dt="2026-07-07T11:24:00.691" v="26"/>
        <pc:sldMkLst>
          <pc:docMk/>
          <pc:sldMk cId="1492166039" sldId="345"/>
        </pc:sldMkLst>
      </pc:sldChg>
      <pc:sldChg chg="add del">
        <pc:chgData name="ERF - Edryl Figueroa" userId="e064a264-e925-45e4-bb52-a7a49365f90b" providerId="ADAL" clId="{02A356EF-B411-4AD7-A36A-223A5F5064DF}" dt="2026-07-07T11:24:00.691" v="26"/>
        <pc:sldMkLst>
          <pc:docMk/>
          <pc:sldMk cId="2582704156" sldId="346"/>
        </pc:sldMkLst>
      </pc:sldChg>
      <pc:sldChg chg="modSp mod">
        <pc:chgData name="ERF - Edryl Figueroa" userId="e064a264-e925-45e4-bb52-a7a49365f90b" providerId="ADAL" clId="{02A356EF-B411-4AD7-A36A-223A5F5064DF}" dt="2026-07-09T20:00:21.780" v="91" actId="20577"/>
        <pc:sldMkLst>
          <pc:docMk/>
          <pc:sldMk cId="1140965368" sldId="561"/>
        </pc:sldMkLst>
        <pc:spChg chg="mod">
          <ac:chgData name="ERF - Edryl Figueroa" userId="e064a264-e925-45e4-bb52-a7a49365f90b" providerId="ADAL" clId="{02A356EF-B411-4AD7-A36A-223A5F5064DF}" dt="2026-07-09T20:00:21.780" v="91" actId="20577"/>
          <ac:spMkLst>
            <pc:docMk/>
            <pc:sldMk cId="1140965368" sldId="561"/>
            <ac:spMk id="3" creationId="{0BF053FD-7943-A32F-26FB-3F71980E178A}"/>
          </ac:spMkLst>
        </pc:spChg>
      </pc:sldChg>
      <pc:sldChg chg="modSp mod">
        <pc:chgData name="ERF - Edryl Figueroa" userId="e064a264-e925-45e4-bb52-a7a49365f90b" providerId="ADAL" clId="{02A356EF-B411-4AD7-A36A-223A5F5064DF}" dt="2026-07-07T11:33:38.832" v="81" actId="20577"/>
        <pc:sldMkLst>
          <pc:docMk/>
          <pc:sldMk cId="3119984881" sldId="2147483647"/>
        </pc:sldMkLst>
        <pc:spChg chg="mod">
          <ac:chgData name="ERF - Edryl Figueroa" userId="e064a264-e925-45e4-bb52-a7a49365f90b" providerId="ADAL" clId="{02A356EF-B411-4AD7-A36A-223A5F5064DF}" dt="2026-07-07T11:28:46.412" v="60" actId="20577"/>
          <ac:spMkLst>
            <pc:docMk/>
            <pc:sldMk cId="3119984881" sldId="2147483647"/>
            <ac:spMk id="6" creationId="{79246A5D-60CA-F942-021A-8E91B02184EF}"/>
          </ac:spMkLst>
        </pc:spChg>
        <pc:graphicFrameChg chg="modGraphic">
          <ac:chgData name="ERF - Edryl Figueroa" userId="e064a264-e925-45e4-bb52-a7a49365f90b" providerId="ADAL" clId="{02A356EF-B411-4AD7-A36A-223A5F5064DF}" dt="2026-07-07T11:33:38.832" v="81" actId="20577"/>
          <ac:graphicFrameMkLst>
            <pc:docMk/>
            <pc:sldMk cId="3119984881" sldId="2147483647"/>
            <ac:graphicFrameMk id="10" creationId="{8DFDCCA2-F747-CCE1-1DB0-7316103F74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PowerPoint]FPY_Summary!FPY_MILESTONE</c:name>
    <c:fmtId val="6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 dirty="0"/>
              <a:t>SPWR DIRECT: FDC FIRST PASS YIELD</a:t>
            </a:r>
          </a:p>
          <a:p>
            <a:pPr>
              <a:defRPr sz="2800"/>
            </a:pPr>
            <a:r>
              <a:rPr lang="en-US" dirty="0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FPY_Summary!$F$49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FPY_Summary!$F$50:$F$56</c:f>
              <c:numCache>
                <c:formatCode>#,##0</c:formatCode>
                <c:ptCount val="5"/>
                <c:pt idx="0">
                  <c:v>165</c:v>
                </c:pt>
                <c:pt idx="1">
                  <c:v>139</c:v>
                </c:pt>
                <c:pt idx="2">
                  <c:v>75</c:v>
                </c:pt>
                <c:pt idx="3">
                  <c:v>67</c:v>
                </c:pt>
                <c:pt idx="4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FPY_Summary!$C$49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FPY_Summary!$C$50:$C$56</c:f>
              <c:numCache>
                <c:formatCode>0%</c:formatCode>
                <c:ptCount val="5"/>
                <c:pt idx="0">
                  <c:v>0.73333333333333328</c:v>
                </c:pt>
                <c:pt idx="1">
                  <c:v>0.70503597122302153</c:v>
                </c:pt>
                <c:pt idx="2">
                  <c:v>0.62666666666666671</c:v>
                </c:pt>
                <c:pt idx="3">
                  <c:v>0.62686567164179108</c:v>
                </c:pt>
                <c:pt idx="4">
                  <c:v>0.60869565217391308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FPY_Summary!$D$49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FPY_Summary!$D$50:$D$56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FPY_Summary!$E$49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FPY_Summary!$E$50:$E$56</c:f>
              <c:numCache>
                <c:formatCode>0%</c:formatCode>
                <c:ptCount val="5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PowerPoint]SPD_LR_FPY!spd_m1_fpy</c:name>
    <c:fmtId val="30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 FPY M1 SUBMISSION TO CORPORATE QA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SPD_LR_FPY!$F$39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SPD_LR_FPY!$F$40:$F$51</c:f>
              <c:numCache>
                <c:formatCode>0</c:formatCode>
                <c:ptCount val="10"/>
                <c:pt idx="0">
                  <c:v>44</c:v>
                </c:pt>
                <c:pt idx="1">
                  <c:v>57</c:v>
                </c:pt>
                <c:pt idx="2">
                  <c:v>45</c:v>
                </c:pt>
                <c:pt idx="3">
                  <c:v>18</c:v>
                </c:pt>
                <c:pt idx="4">
                  <c:v>27</c:v>
                </c:pt>
                <c:pt idx="5">
                  <c:v>32</c:v>
                </c:pt>
                <c:pt idx="6">
                  <c:v>42</c:v>
                </c:pt>
                <c:pt idx="7">
                  <c:v>33</c:v>
                </c:pt>
                <c:pt idx="8">
                  <c:v>69</c:v>
                </c:pt>
                <c:pt idx="9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SPD_LR_FPY!$C$39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4DA-4CE6-9776-EF2F4F08F66D}"/>
                </c:ext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E4DA-4CE6-9776-EF2F4F08F66D}"/>
                </c:ext>
              </c:extLst>
            </c:dLbl>
            <c:dLbl>
              <c:idx val="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4DA-4CE6-9776-EF2F4F08F6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SPD_LR_FPY!$C$40:$C$51</c:f>
              <c:numCache>
                <c:formatCode>0%</c:formatCode>
                <c:ptCount val="10"/>
                <c:pt idx="0">
                  <c:v>0.63636363636363635</c:v>
                </c:pt>
                <c:pt idx="1">
                  <c:v>0.70175438596491224</c:v>
                </c:pt>
                <c:pt idx="2">
                  <c:v>0.68888888888888888</c:v>
                </c:pt>
                <c:pt idx="3">
                  <c:v>0.88888888888888884</c:v>
                </c:pt>
                <c:pt idx="4">
                  <c:v>1</c:v>
                </c:pt>
                <c:pt idx="5">
                  <c:v>1</c:v>
                </c:pt>
                <c:pt idx="6">
                  <c:v>0.88095238095238093</c:v>
                </c:pt>
                <c:pt idx="7">
                  <c:v>0.96969696969696972</c:v>
                </c:pt>
                <c:pt idx="8">
                  <c:v>0.97101449275362317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SPD_LR_FPY!$D$39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SPD_LR_FPY!$D$40:$D$51</c:f>
              <c:numCache>
                <c:formatCode>0%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SPD_LR_FPY!$E$39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SPD_LR_FPY!$E$40:$E$51</c:f>
              <c:numCache>
                <c:formatCode>0%</c:formatCode>
                <c:ptCount val="10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6A89E-7EA6-4427-A327-0EF9B6FA9C8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C4C73-F2CB-4413-B3B0-2BA2AA496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156A-D3A2-DB65-016D-97001A1F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56775-EB14-62AF-95DD-C5A7A2846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A2D1B-B9B2-4E5D-5341-BA80FB1B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Add links to the spec</a:t>
            </a:r>
          </a:p>
          <a:p>
            <a:pPr marL="171450" indent="-171450">
              <a:buFontTx/>
              <a:buChar char="-"/>
            </a:pPr>
            <a:r>
              <a:rPr lang="en-US"/>
              <a:t>Put RCCA stage (D1,D2,etc </a:t>
            </a:r>
            <a:r>
              <a:rPr lang="en-US" err="1"/>
              <a:t>etc</a:t>
            </a:r>
            <a:r>
              <a:rPr lang="en-US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FDAA-8C79-5103-957F-0883E6FB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605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2054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1E90-EA39-EC9C-07B4-F17056B2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06A1C-ADF6-4118-4AFD-6FC2E3BC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F6C48-AC84-FE51-D6BF-80D3D27B5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02CC2-E035-91C4-A54B-9C650301C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25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to 25.1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371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External Factors: Excluding AHJ, Customer, Weather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4789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739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8150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322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45BB-0D01-BD7C-0FEB-6427DA5B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C2D76-E1C9-5193-B25C-570DD99B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97FE6-50FB-64E2-A410-75BF462A0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73406-ADB5-F3EA-D7E1-4917C424E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49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40E9DCC0-E6BA-0896-1B1E-44970378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8E7A0-4245-CE95-07F0-EDE27DC4C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3AE9961-7995-01EB-9F51-177FDF9941BC}"/>
              </a:ext>
            </a:extLst>
          </p:cNvPr>
          <p:cNvSpPr txBox="1">
            <a:spLocks/>
          </p:cNvSpPr>
          <p:nvPr/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1FD3A-6AEB-0E42-877A-4FD8026E6CF2}" type="slidenum">
              <a:rPr lang="en-US" sz="1979" smtClean="0">
                <a:solidFill>
                  <a:schemeClr val="accent6"/>
                </a:solidFill>
              </a:rPr>
              <a:pPr/>
              <a:t>‹#›</a:t>
            </a:fld>
            <a:endParaRPr lang="en-US" sz="1979">
              <a:solidFill>
                <a:schemeClr val="accent6"/>
              </a:solidFill>
            </a:endParaRPr>
          </a:p>
        </p:txBody>
      </p:sp>
      <p:pic>
        <p:nvPicPr>
          <p:cNvPr id="12" name="Picture 11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5AFB21AA-5283-8B28-EB30-4E54565900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2050" y="478253"/>
            <a:ext cx="8858468" cy="110083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1B714A6-582E-70A6-082C-5FAB75A3B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766" y="7889241"/>
            <a:ext cx="9757619" cy="2186474"/>
          </a:xfrm>
        </p:spPr>
        <p:txBody>
          <a:bodyPr anchor="b">
            <a:normAutofit/>
          </a:bodyPr>
          <a:lstStyle>
            <a:lvl1pPr algn="ctr">
              <a:defRPr sz="7256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F7FD28-25C6-3603-8084-580A9F8E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8505" y="10279447"/>
            <a:ext cx="7894141" cy="906420"/>
          </a:xfrm>
        </p:spPr>
        <p:txBody>
          <a:bodyPr>
            <a:normAutofit/>
          </a:bodyPr>
          <a:lstStyle>
            <a:lvl1pPr marL="0" indent="0" algn="ctr">
              <a:buNone/>
              <a:defRPr sz="2968" b="0" i="0">
                <a:solidFill>
                  <a:schemeClr val="bg2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  <a:lvl2pPr marL="753888" indent="0">
              <a:buNone/>
              <a:defRPr sz="3298">
                <a:solidFill>
                  <a:schemeClr val="tx1">
                    <a:tint val="82000"/>
                  </a:schemeClr>
                </a:solidFill>
              </a:defRPr>
            </a:lvl2pPr>
            <a:lvl3pPr marL="1507776" indent="0">
              <a:buNone/>
              <a:defRPr sz="2968">
                <a:solidFill>
                  <a:schemeClr val="tx1">
                    <a:tint val="82000"/>
                  </a:schemeClr>
                </a:solidFill>
              </a:defRPr>
            </a:lvl3pPr>
            <a:lvl4pPr marL="2261663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4pPr>
            <a:lvl5pPr marL="3015551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5pPr>
            <a:lvl6pPr marL="3769439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6pPr>
            <a:lvl7pPr marL="4523327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7pPr>
            <a:lvl8pPr marL="5277216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8pPr>
            <a:lvl9pPr marL="6031102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011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3C10F-713C-25A3-022A-D6DB8072F3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5FCBE8-2340-04A3-3CEF-E0C65C179FE1}"/>
              </a:ext>
            </a:extLst>
          </p:cNvPr>
          <p:cNvSpPr/>
          <p:nvPr/>
        </p:nvSpPr>
        <p:spPr>
          <a:xfrm>
            <a:off x="2767757" y="-174828"/>
            <a:ext cx="17533014" cy="11677047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49000">
                <a:schemeClr val="tx1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D04EBEF-3DBF-BE6B-A6B1-BBC926081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2637" y="5654675"/>
            <a:ext cx="7559692" cy="1533735"/>
          </a:xfrm>
        </p:spPr>
        <p:txBody>
          <a:bodyPr/>
          <a:lstStyle>
            <a:lvl1pPr marL="0" indent="0" algn="r">
              <a:buNone/>
              <a:defRPr sz="3958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53888" indent="0" algn="ctr">
              <a:buNone/>
              <a:defRPr sz="3298"/>
            </a:lvl2pPr>
            <a:lvl3pPr marL="1507776" indent="0" algn="ctr">
              <a:buNone/>
              <a:defRPr sz="2968"/>
            </a:lvl3pPr>
            <a:lvl4pPr marL="2261663" indent="0" algn="ctr">
              <a:buNone/>
              <a:defRPr sz="2638"/>
            </a:lvl4pPr>
            <a:lvl5pPr marL="3015551" indent="0" algn="ctr">
              <a:buNone/>
              <a:defRPr sz="2638"/>
            </a:lvl5pPr>
            <a:lvl6pPr marL="3769439" indent="0" algn="ctr">
              <a:buNone/>
              <a:defRPr sz="2638"/>
            </a:lvl6pPr>
            <a:lvl7pPr marL="4523327" indent="0" algn="ctr">
              <a:buNone/>
              <a:defRPr sz="2638"/>
            </a:lvl7pPr>
            <a:lvl8pPr marL="5277216" indent="0" algn="ctr">
              <a:buNone/>
              <a:defRPr sz="2638"/>
            </a:lvl8pPr>
            <a:lvl9pPr marL="603110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12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8A8BEE67-FFA7-CEC6-3E3C-254687D6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EE9454-ECDD-6F81-959E-25AF96CA6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1783" y="486930"/>
            <a:ext cx="10740546" cy="3937329"/>
          </a:xfrm>
        </p:spPr>
        <p:txBody>
          <a:bodyPr anchor="b"/>
          <a:lstStyle>
            <a:lvl1pPr algn="r">
              <a:defRPr sz="9894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188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AF1351-6FEB-42E9-2FD4-682B353AC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687" y="507498"/>
            <a:ext cx="18656732" cy="1380953"/>
          </a:xfrm>
        </p:spPr>
        <p:txBody>
          <a:bodyPr anchor="ctr" anchorCtr="0">
            <a:normAutofit/>
          </a:bodyPr>
          <a:lstStyle>
            <a:lvl1pPr algn="ctr">
              <a:defRPr sz="8575" b="1" i="0">
                <a:solidFill>
                  <a:schemeClr val="accent2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heavy content style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191D99C6-42BE-C19B-1B04-D643C89B874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3685" y="2100267"/>
            <a:ext cx="18656733" cy="8107765"/>
          </a:xfrm>
        </p:spPr>
        <p:txBody>
          <a:bodyPr>
            <a:noAutofit/>
          </a:bodyPr>
          <a:lstStyle>
            <a:lvl1pPr marL="0" indent="0" algn="l">
              <a:buNone/>
              <a:defRPr sz="2638" b="0" i="0">
                <a:solidFill>
                  <a:schemeClr val="accent4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Edit content.</a:t>
            </a:r>
          </a:p>
        </p:txBody>
      </p:sp>
      <p:pic>
        <p:nvPicPr>
          <p:cNvPr id="3" name="Picture 2" descr="A black and white drawing of a solar panel&#10;&#10;AI-generated content may be incorrect.">
            <a:extLst>
              <a:ext uri="{FF2B5EF4-FFF2-40B4-BE49-F238E27FC236}">
                <a16:creationId xmlns:a16="http://schemas.microsoft.com/office/drawing/2014/main" id="{073DBE75-93FC-752F-DA71-5E0E748FDA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1889" y="10456722"/>
            <a:ext cx="1148173" cy="74758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7413-DFCB-DFC0-7D27-B45D4BCCC0D1}"/>
              </a:ext>
            </a:extLst>
          </p:cNvPr>
          <p:cNvSpPr txBox="1">
            <a:spLocks/>
          </p:cNvSpPr>
          <p:nvPr userDrawn="1"/>
        </p:nvSpPr>
        <p:spPr>
          <a:xfrm>
            <a:off x="9515985" y="10602190"/>
            <a:ext cx="107213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8A1FD3A-6AEB-0E42-877A-4FD8026E6CF2}" type="slidenum">
              <a:rPr lang="en-US" sz="1979" b="0" i="0" smtClean="0">
                <a:solidFill>
                  <a:schemeClr val="accent6"/>
                </a:solidFill>
                <a:latin typeface="Segoe UI Semilight" panose="020B0502040204020203" pitchFamily="34" charset="0"/>
                <a:cs typeface="Segoe UI Semilight" panose="020B0502040204020203" pitchFamily="34" charset="0"/>
              </a:rPr>
              <a:pPr algn="ctr"/>
              <a:t>‹#›</a:t>
            </a:fld>
            <a:endParaRPr lang="en-US" sz="1979" b="0" i="0">
              <a:solidFill>
                <a:schemeClr val="accent6"/>
              </a:solidFill>
              <a:latin typeface="Segoe UI Semilight" panose="020B0502040204020203" pitchFamily="34" charset="0"/>
              <a:cs typeface="Segoe UI Semilight" panose="020B0502040204020203" pitchFamily="34" charset="0"/>
            </a:endParaRPr>
          </a:p>
        </p:txBody>
      </p:sp>
      <p:pic>
        <p:nvPicPr>
          <p:cNvPr id="9" name="Picture 8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2A0E9080-BBDF-CAE6-5A62-13CEF3F1B6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946" y="10752405"/>
            <a:ext cx="2427570" cy="3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1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5FDB5C-A31D-BF32-0C0F-3EC582BA7E02}"/>
              </a:ext>
            </a:extLst>
          </p:cNvPr>
          <p:cNvSpPr txBox="1"/>
          <p:nvPr/>
        </p:nvSpPr>
        <p:spPr>
          <a:xfrm>
            <a:off x="998683" y="4170329"/>
            <a:ext cx="1811327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936" b="1" i="0">
                <a:solidFill>
                  <a:schemeClr val="bg1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rPr>
              <a:t>Powering a Brighter Future.</a:t>
            </a:r>
            <a:endParaRPr lang="zh-CN" altLang="en-US" sz="5936" b="1" i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2" name="Picture 1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9985F9DA-3DA9-A774-0F81-EF127AF2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80" y="6097644"/>
            <a:ext cx="3366746" cy="418383"/>
          </a:xfrm>
          <a:prstGeom prst="rect">
            <a:avLst/>
          </a:prstGeom>
        </p:spPr>
      </p:pic>
      <p:pic>
        <p:nvPicPr>
          <p:cNvPr id="3" name="Picture 2" descr="A drawing of a flying airplane&#10;&#10;AI-generated content may be incorrect.">
            <a:extLst>
              <a:ext uri="{FF2B5EF4-FFF2-40B4-BE49-F238E27FC236}">
                <a16:creationId xmlns:a16="http://schemas.microsoft.com/office/drawing/2014/main" id="{CAC49E0C-8768-4128-01DB-FD84A08DB0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410225" y="10274480"/>
            <a:ext cx="1283646" cy="83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970-8A85-4374-8FCE-9C17402800B0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Author: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4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7"/>
            <a:ext cx="4471035" cy="45858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85"/>
            <a:ext cx="11010899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6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2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2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2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68" lvl="0" indent="-31808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3" y="2545912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68" lvl="0" indent="-47712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1" y="10939595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37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2" y="10823436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64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75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3"/>
            <a:ext cx="4471035" cy="4585871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77"/>
            <a:ext cx="11010900" cy="138499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71215-5710-DFD3-1634-170A94C1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25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5286F-ECA1-FBDC-26C5-AE31828E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3F12-B128-0232-8455-5B510F93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3D368-438A-044B-8141-471639B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1507776" rtl="0" eaLnBrk="1" latinLnBrk="0" hangingPunct="1">
        <a:lnSpc>
          <a:spcPct val="90000"/>
        </a:lnSpc>
        <a:spcBef>
          <a:spcPct val="0"/>
        </a:spcBef>
        <a:buNone/>
        <a:defRPr sz="7256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</p:titleStyle>
    <p:bodyStyle>
      <a:lvl1pPr marL="376943" indent="-376943" algn="l" defTabSz="150777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113083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884720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2638608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3392496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4146382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27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159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047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888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77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663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551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439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327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21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102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4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85"/>
            <a:ext cx="11010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4" y="10502954"/>
            <a:ext cx="3871594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703"/>
            <a:ext cx="4623943" cy="27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1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5" y="10493790"/>
            <a:ext cx="187960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699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699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699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699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699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699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699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699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699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991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3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77"/>
            <a:ext cx="110109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3" y="10502948"/>
            <a:ext cx="387159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4" y="10493783"/>
            <a:ext cx="1879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9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https://blueravensolar.sharepoint.com/sites/QualityOMandCustomerSuccess/Shared%20Documents/Quality%20Data%20Repository/SPWR%20Direct%20FPY/FPY_SPD_8_rev00.xlsb!FPY_Summary!%5bFPY_SPD_8_rev00.xlsb%5dFPY_Summary%20Chart%205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BRS%20SCV/BRS%20SCV_Corp_Audit_rev01.xlsx!QA-BRS_FPY_Pareto!%5bBRS%20SCV_Corp_Audit_rev01.xlsx%5dQA-BRS_FPY_Pareto%20Chart%201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BRS%20SCV/BRS%20SCV_Corp_Audit_rev01.xlsx!QA-BRS_FPY_Pareto!%5bBRS%20SCV_Corp_Audit_rev01.xlsx%5dQA-BRS_FPY_Pareto%20Chart%2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22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16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5" TargetMode="External"/><Relationship Id="rId7" Type="http://schemas.openxmlformats.org/officeDocument/2006/relationships/hyperlink" Target="https://ambia.lightning.force.com/lightning/r/Report/00OUS00000Arvon2AB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ambia.lightning.force.com/lightning/r/Report/00OUS00000AoD172AF/view" TargetMode="Externa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mbia.lightning.force.com/lightning/r/Dashboard/01ZUS00000Iajtu2AB/view?queryScope=userFolder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FPY!%5bNH%20M2%20FPY%20for%20CorpQA_rev00.xlsx%5dSPD_LR_FPY%20Chart%205" TargetMode="Externa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24BB-A96C-2FCF-8C07-7A67FEB0F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Cignetti Turnaround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53FD-7943-A32F-26FB-3F71980E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WW27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4096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EB47-EE9A-3603-3CB9-B22ACE8D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0784-21A5-E885-A24B-B2AA8AAE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04" y="393740"/>
            <a:ext cx="19045896" cy="881700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SUNPOWER DIRECT PROCESSES: TARGET TO FPY=100%</a:t>
            </a:r>
            <a:endParaRPr lang="en-US" sz="461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246A5D-60CA-F942-021A-8E91B02184EF}"/>
              </a:ext>
            </a:extLst>
          </p:cNvPr>
          <p:cNvSpPr/>
          <p:nvPr/>
        </p:nvSpPr>
        <p:spPr>
          <a:xfrm>
            <a:off x="529099" y="10198363"/>
            <a:ext cx="3439058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7/7/2026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5237F-95C9-9DCE-DCA4-FAD05D9EF7B8}"/>
              </a:ext>
            </a:extLst>
          </p:cNvPr>
          <p:cNvSpPr/>
          <p:nvPr/>
        </p:nvSpPr>
        <p:spPr>
          <a:xfrm>
            <a:off x="4181485" y="1020689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35D173-80CF-88B9-18E6-E7C13E70548F}"/>
              </a:ext>
            </a:extLst>
          </p:cNvPr>
          <p:cNvSpPr/>
          <p:nvPr/>
        </p:nvSpPr>
        <p:spPr>
          <a:xfrm>
            <a:off x="6418989" y="1019836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FDCCA2-F747-CCE1-1DB0-7316103F749D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40269954"/>
              </p:ext>
            </p:extLst>
          </p:nvPr>
        </p:nvGraphicFramePr>
        <p:xfrm>
          <a:off x="529101" y="1186301"/>
          <a:ext cx="19045897" cy="896722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5465">
                  <a:extLst>
                    <a:ext uri="{9D8B030D-6E8A-4147-A177-3AD203B41FA5}">
                      <a16:colId xmlns:a16="http://schemas.microsoft.com/office/drawing/2014/main" val="1518125497"/>
                    </a:ext>
                  </a:extLst>
                </a:gridCol>
                <a:gridCol w="1056814">
                  <a:extLst>
                    <a:ext uri="{9D8B030D-6E8A-4147-A177-3AD203B41FA5}">
                      <a16:colId xmlns:a16="http://schemas.microsoft.com/office/drawing/2014/main" val="3675496511"/>
                    </a:ext>
                  </a:extLst>
                </a:gridCol>
                <a:gridCol w="2110931">
                  <a:extLst>
                    <a:ext uri="{9D8B030D-6E8A-4147-A177-3AD203B41FA5}">
                      <a16:colId xmlns:a16="http://schemas.microsoft.com/office/drawing/2014/main" val="1210708615"/>
                    </a:ext>
                  </a:extLst>
                </a:gridCol>
                <a:gridCol w="3707284">
                  <a:extLst>
                    <a:ext uri="{9D8B030D-6E8A-4147-A177-3AD203B41FA5}">
                      <a16:colId xmlns:a16="http://schemas.microsoft.com/office/drawing/2014/main" val="2171911438"/>
                    </a:ext>
                  </a:extLst>
                </a:gridCol>
                <a:gridCol w="666610">
                  <a:extLst>
                    <a:ext uri="{9D8B030D-6E8A-4147-A177-3AD203B41FA5}">
                      <a16:colId xmlns:a16="http://schemas.microsoft.com/office/drawing/2014/main" val="1930453277"/>
                    </a:ext>
                  </a:extLst>
                </a:gridCol>
                <a:gridCol w="3838678">
                  <a:extLst>
                    <a:ext uri="{9D8B030D-6E8A-4147-A177-3AD203B41FA5}">
                      <a16:colId xmlns:a16="http://schemas.microsoft.com/office/drawing/2014/main" val="2252815029"/>
                    </a:ext>
                  </a:extLst>
                </a:gridCol>
                <a:gridCol w="1398969">
                  <a:extLst>
                    <a:ext uri="{9D8B030D-6E8A-4147-A177-3AD203B41FA5}">
                      <a16:colId xmlns:a16="http://schemas.microsoft.com/office/drawing/2014/main" val="969082246"/>
                    </a:ext>
                  </a:extLst>
                </a:gridCol>
                <a:gridCol w="1743188">
                  <a:extLst>
                    <a:ext uri="{9D8B030D-6E8A-4147-A177-3AD203B41FA5}">
                      <a16:colId xmlns:a16="http://schemas.microsoft.com/office/drawing/2014/main" val="1043205116"/>
                    </a:ext>
                  </a:extLst>
                </a:gridCol>
                <a:gridCol w="1206246">
                  <a:extLst>
                    <a:ext uri="{9D8B030D-6E8A-4147-A177-3AD203B41FA5}">
                      <a16:colId xmlns:a16="http://schemas.microsoft.com/office/drawing/2014/main" val="1893318163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2761053476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655202858"/>
                    </a:ext>
                  </a:extLst>
                </a:gridCol>
              </a:tblGrid>
              <a:tr h="35182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Quality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Milesone1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RCCA/ 8D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313161"/>
                  </a:ext>
                </a:extLst>
              </a:tr>
              <a:tr h="1853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WW26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WW27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89437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KXW/DJF</a:t>
                      </a:r>
                      <a:endParaRPr lang="en-US" sz="1800" b="0" i="0" u="none" strike="noStrike" kern="12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Booking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12885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10848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65634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422312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92258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FDC (Project Acceptance)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10470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235,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63%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61%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814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S5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12385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88054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Request Permit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10823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40417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Submission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12460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994253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S7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Request Permit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950506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IXP1 Submission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Approval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222,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98%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22941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S8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Approved/IXP1 Approval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10961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95487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S9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11819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30232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S10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IPG/ZJW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12022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10496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95%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85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Submission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12285/12430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77778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Submission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Approved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12285/12430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96%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62267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S13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11001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187,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77897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10899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Arial"/>
                        </a:rPr>
                        <a:t>242,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76%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93290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S15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11143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40790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1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M3 Activation Approved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12445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234,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94%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76670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MBC/TGM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Grant PTO To Customer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7758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B3122A2-8748-1240-DDA1-5BA99E67D11F}"/>
              </a:ext>
            </a:extLst>
          </p:cNvPr>
          <p:cNvSpPr/>
          <p:nvPr/>
        </p:nvSpPr>
        <p:spPr>
          <a:xfrm>
            <a:off x="16719332" y="10104640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ACE9A1-4A62-032F-5F45-F8816C5C4B79}"/>
              </a:ext>
            </a:extLst>
          </p:cNvPr>
          <p:cNvSpPr/>
          <p:nvPr/>
        </p:nvSpPr>
        <p:spPr>
          <a:xfrm>
            <a:off x="13629049" y="10198363"/>
            <a:ext cx="310242" cy="131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9A7800-1766-5907-B05E-CC7A5B8F5287}"/>
              </a:ext>
            </a:extLst>
          </p:cNvPr>
          <p:cNvSpPr/>
          <p:nvPr/>
        </p:nvSpPr>
        <p:spPr>
          <a:xfrm>
            <a:off x="13727220" y="10096341"/>
            <a:ext cx="33003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Cignetti Turnaround Focus – SSB-217D </a:t>
            </a:r>
          </a:p>
        </p:txBody>
      </p:sp>
    </p:spTree>
    <p:extLst>
      <p:ext uri="{BB962C8B-B14F-4D97-AF65-F5344CB8AC3E}">
        <p14:creationId xmlns:p14="http://schemas.microsoft.com/office/powerpoint/2010/main" val="311998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243B01-BB11-3365-B317-208735951001}"/>
              </a:ext>
            </a:extLst>
          </p:cNvPr>
          <p:cNvGraphicFramePr>
            <a:graphicFrameLocks/>
          </p:cNvGraphicFramePr>
          <p:nvPr/>
        </p:nvGraphicFramePr>
        <p:xfrm>
          <a:off x="450850" y="1539875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FDC FPY, WW23-WW27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450850" y="9769475"/>
            <a:ext cx="137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7/06/2026		Owner: SGS / BCB			QA: DJF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42C97BD-EB5E-484F-2D70-61A1B9149A2C}"/>
              </a:ext>
            </a:extLst>
          </p:cNvPr>
          <p:cNvSpPr txBox="1"/>
          <p:nvPr/>
        </p:nvSpPr>
        <p:spPr>
          <a:xfrm>
            <a:off x="1813281" y="318786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71F6A7-EF7C-4450-E68F-388602CC2EC8}"/>
              </a:ext>
            </a:extLst>
          </p:cNvPr>
          <p:cNvGrpSpPr/>
          <p:nvPr/>
        </p:nvGrpSpPr>
        <p:grpSpPr>
          <a:xfrm>
            <a:off x="15303563" y="3227109"/>
            <a:ext cx="2252737" cy="5389949"/>
            <a:chOff x="14317252" y="3227109"/>
            <a:chExt cx="2252737" cy="538994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3FC25E-2F47-91F6-AFB1-C7496019A831}"/>
                </a:ext>
              </a:extLst>
            </p:cNvPr>
            <p:cNvCxnSpPr>
              <a:cxnSpLocks/>
            </p:cNvCxnSpPr>
            <p:nvPr/>
          </p:nvCxnSpPr>
          <p:spPr>
            <a:xfrm>
              <a:off x="16569989" y="3227109"/>
              <a:ext cx="0" cy="538994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44F8F2-B3B5-A915-36EE-C48085DCF7FC}"/>
                </a:ext>
              </a:extLst>
            </p:cNvPr>
            <p:cNvSpPr txBox="1"/>
            <p:nvPr/>
          </p:nvSpPr>
          <p:spPr>
            <a:xfrm>
              <a:off x="14317252" y="3780372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10470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RCCA 243, D3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(OPEN)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4979042-799A-4C8B-D9D4-46F71B56FE4E}"/>
              </a:ext>
            </a:extLst>
          </p:cNvPr>
          <p:cNvSpPr/>
          <p:nvPr/>
        </p:nvSpPr>
        <p:spPr>
          <a:xfrm>
            <a:off x="17067447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F573934-9D11-3F01-02A4-54DC18677E3E}"/>
              </a:ext>
            </a:extLst>
          </p:cNvPr>
          <p:cNvSpPr txBox="1"/>
          <p:nvPr/>
        </p:nvSpPr>
        <p:spPr>
          <a:xfrm>
            <a:off x="15350057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</p:spTree>
    <p:extLst>
      <p:ext uri="{BB962C8B-B14F-4D97-AF65-F5344CB8AC3E}">
        <p14:creationId xmlns:p14="http://schemas.microsoft.com/office/powerpoint/2010/main" val="96087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6681F62-500D-42F2-FACF-517FF5B2E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113" y="1547813"/>
          <a:ext cx="18808700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10448615" imgH="4572000" progId="Excel.SheetBinaryMacroEnabled.12">
                  <p:link updateAutomatic="1"/>
                </p:oleObj>
              </mc:Choice>
              <mc:Fallback>
                <p:oleObj name="Binary Worksheet" r:id="rId2" imgW="10448615" imgH="4572000" progId="Excel.SheetBinary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6681F62-500D-42F2-FACF-517FF5B2EE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6113" y="1547813"/>
                        <a:ext cx="18808700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FDC FPY, WW23-WW27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327858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6EE32-EB37-033B-DE68-293A6BFE5608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235. D1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646113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7/06/2026		Owner: SGS / BCB 	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0247313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Specs L2: 12777	Specs L3: 10470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19F44-61BA-A63E-1606-C2ABF31348B2}"/>
              </a:ext>
            </a:extLst>
          </p:cNvPr>
          <p:cNvSpPr/>
          <p:nvPr/>
        </p:nvSpPr>
        <p:spPr>
          <a:xfrm>
            <a:off x="8360410" y="2165900"/>
            <a:ext cx="338328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INPUT TO DESIGN</a:t>
            </a:r>
          </a:p>
        </p:txBody>
      </p:sp>
    </p:spTree>
    <p:extLst>
      <p:ext uri="{BB962C8B-B14F-4D97-AF65-F5344CB8AC3E}">
        <p14:creationId xmlns:p14="http://schemas.microsoft.com/office/powerpoint/2010/main" val="399331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C25E495-F134-8842-EBFF-E521EC9E3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" y="1785938"/>
          <a:ext cx="18905538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524638" imgH="4572000" progId="Excel.Sheet.12">
                  <p:link updateAutomatic="1"/>
                </p:oleObj>
              </mc:Choice>
              <mc:Fallback>
                <p:oleObj name="Worksheet" r:id="rId3" imgW="10524638" imgH="4572000" progId="Excel.Sheet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C25E495-F134-8842-EBFF-E521EC9E39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075" y="1785938"/>
                        <a:ext cx="18905538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S10: SPWR Direct SCV Corporate QA Inspection, WW27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450850" y="10073562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TGM/ZJW/EVV, 7/06/2026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8AE9F-9FD7-4FDC-568F-4766406AB9A2}"/>
              </a:ext>
            </a:extLst>
          </p:cNvPr>
          <p:cNvSpPr/>
          <p:nvPr/>
        </p:nvSpPr>
        <p:spPr>
          <a:xfrm>
            <a:off x="5051094" y="10073562"/>
            <a:ext cx="11546961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SPEC: 10496, RCCA: 188, D6         	* WW17, WW23: Revised the FPY Data to 100% for spec alignment.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0D19B146-82D4-259E-3816-9B54641F5074}"/>
              </a:ext>
            </a:extLst>
          </p:cNvPr>
          <p:cNvSpPr txBox="1"/>
          <p:nvPr/>
        </p:nvSpPr>
        <p:spPr>
          <a:xfrm>
            <a:off x="7030335" y="5951630"/>
            <a:ext cx="6131963" cy="4540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ROOT CAUSE CORRECTIVE ACTION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8D6A8-7F66-D85B-2D50-3CDF98742A03}"/>
              </a:ext>
            </a:extLst>
          </p:cNvPr>
          <p:cNvCxnSpPr>
            <a:cxnSpLocks/>
          </p:cNvCxnSpPr>
          <p:nvPr/>
        </p:nvCxnSpPr>
        <p:spPr>
          <a:xfrm flipV="1">
            <a:off x="5701825" y="3906118"/>
            <a:ext cx="0" cy="5019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F12F38-4B0F-D921-C021-ABA4C8B107BE}"/>
              </a:ext>
            </a:extLst>
          </p:cNvPr>
          <p:cNvCxnSpPr>
            <a:cxnSpLocks/>
          </p:cNvCxnSpPr>
          <p:nvPr/>
        </p:nvCxnSpPr>
        <p:spPr>
          <a:xfrm flipV="1">
            <a:off x="6408123" y="3906118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3B82EE-4D2A-A096-C6EC-B5D3D640713D}"/>
              </a:ext>
            </a:extLst>
          </p:cNvPr>
          <p:cNvCxnSpPr>
            <a:cxnSpLocks/>
          </p:cNvCxnSpPr>
          <p:nvPr/>
        </p:nvCxnSpPr>
        <p:spPr>
          <a:xfrm flipV="1">
            <a:off x="8349370" y="3796799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958456-4704-5258-146F-9A55519330FE}"/>
              </a:ext>
            </a:extLst>
          </p:cNvPr>
          <p:cNvGrpSpPr/>
          <p:nvPr/>
        </p:nvGrpSpPr>
        <p:grpSpPr>
          <a:xfrm>
            <a:off x="854190" y="3493963"/>
            <a:ext cx="17627443" cy="5245845"/>
            <a:chOff x="2869518" y="3011416"/>
            <a:chExt cx="17627443" cy="524584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A7C2342-1B17-4323-AEB2-DD73DBE07C76}"/>
                </a:ext>
              </a:extLst>
            </p:cNvPr>
            <p:cNvGrpSpPr/>
            <p:nvPr/>
          </p:nvGrpSpPr>
          <p:grpSpPr>
            <a:xfrm>
              <a:off x="2869518" y="3011416"/>
              <a:ext cx="17627443" cy="5245845"/>
              <a:chOff x="2869518" y="3011416"/>
              <a:chExt cx="17627443" cy="524584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954250D-B290-10A2-8B99-74AC04D75348}"/>
                  </a:ext>
                </a:extLst>
              </p:cNvPr>
              <p:cNvGrpSpPr/>
              <p:nvPr/>
            </p:nvGrpSpPr>
            <p:grpSpPr>
              <a:xfrm>
                <a:off x="2869518" y="3011416"/>
                <a:ext cx="17627443" cy="5245845"/>
                <a:chOff x="2869518" y="3011416"/>
                <a:chExt cx="17627443" cy="524584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6DA15BEE-5A15-4890-BB9C-8A3E34783184}"/>
                    </a:ext>
                  </a:extLst>
                </p:cNvPr>
                <p:cNvGrpSpPr/>
                <p:nvPr/>
              </p:nvGrpSpPr>
              <p:grpSpPr>
                <a:xfrm>
                  <a:off x="2869518" y="3011416"/>
                  <a:ext cx="16312252" cy="5245845"/>
                  <a:chOff x="2869518" y="3011416"/>
                  <a:chExt cx="16312252" cy="5245845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251CCFB3-4444-7AE8-251D-EFD5482021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6890" y="3026405"/>
                    <a:ext cx="15804880" cy="5230856"/>
                    <a:chOff x="1614639" y="684244"/>
                    <a:chExt cx="15804880" cy="2721555"/>
                  </a:xfrm>
                </p:grpSpPr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7CB5645D-2325-AA5C-7233-62A8107CA3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587931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TextBox 8">
                      <a:extLst>
                        <a:ext uri="{FF2B5EF4-FFF2-40B4-BE49-F238E27FC236}">
                          <a16:creationId xmlns:a16="http://schemas.microsoft.com/office/drawing/2014/main" id="{0D6F13EC-3C19-6473-109B-D2ABA15345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14639" y="2542275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ANDON CORD ACTIVATED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1/27/2026, 3PM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SSB-164A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RCCA188, D6 (OPEN)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SPEC 10496</a:t>
                      </a:r>
                    </a:p>
                  </p:txBody>
                </p: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49533C7A-C27E-3167-9A77-71B32C8410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7419519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" name="TextBox 8">
                      <a:extLst>
                        <a:ext uri="{FF2B5EF4-FFF2-40B4-BE49-F238E27FC236}">
                          <a16:creationId xmlns:a16="http://schemas.microsoft.com/office/drawing/2014/main" id="{15EF0238-1733-76F7-BBEE-7EA2F79912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446227" y="2833730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Re-Open RCCA 188 at D6 to address Electrical defects from WW24 and 25</a:t>
                      </a:r>
                    </a:p>
                  </p:txBody>
                </p:sp>
              </p:grpSp>
              <p:sp>
                <p:nvSpPr>
                  <p:cNvPr id="21" name="TextBox 6">
                    <a:extLst>
                      <a:ext uri="{FF2B5EF4-FFF2-40B4-BE49-F238E27FC236}">
                        <a16:creationId xmlns:a16="http://schemas.microsoft.com/office/drawing/2014/main" id="{4B0D651F-118D-75CA-AFC4-C4C1A3802747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518" y="3011416"/>
                    <a:ext cx="1217941" cy="54632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97%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Escalate to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SSB</a:t>
                    </a:r>
                  </a:p>
                </p:txBody>
              </p:sp>
            </p:grpSp>
            <p:sp>
              <p:nvSpPr>
                <p:cNvPr id="26" name="TextBox 30">
                  <a:extLst>
                    <a:ext uri="{FF2B5EF4-FFF2-40B4-BE49-F238E27FC236}">
                      <a16:creationId xmlns:a16="http://schemas.microsoft.com/office/drawing/2014/main" id="{64002656-ACE5-F93D-61E3-98F79CE3CD47}"/>
                    </a:ext>
                  </a:extLst>
                </p:cNvPr>
                <p:cNvSpPr txBox="1"/>
                <p:nvPr/>
              </p:nvSpPr>
              <p:spPr>
                <a:xfrm>
                  <a:off x="6366582" y="5928466"/>
                  <a:ext cx="1448856" cy="540586"/>
                </a:xfrm>
                <a:prstGeom prst="rect">
                  <a:avLst/>
                </a:prstGeom>
                <a:no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TRAINING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TGM-74A</a:t>
                  </a:r>
                </a:p>
              </p:txBody>
            </p:sp>
            <p:sp>
              <p:nvSpPr>
                <p:cNvPr id="20" name="TextBox 30">
                  <a:extLst>
                    <a:ext uri="{FF2B5EF4-FFF2-40B4-BE49-F238E27FC236}">
                      <a16:creationId xmlns:a16="http://schemas.microsoft.com/office/drawing/2014/main" id="{DB3BF857-7ED1-DDCC-7490-349BEC8037A3}"/>
                    </a:ext>
                  </a:extLst>
                </p:cNvPr>
                <p:cNvSpPr txBox="1"/>
                <p:nvPr/>
              </p:nvSpPr>
              <p:spPr>
                <a:xfrm>
                  <a:off x="6531105" y="4206348"/>
                  <a:ext cx="2167210" cy="739015"/>
                </a:xfrm>
                <a:prstGeom prst="accentCallout1">
                  <a:avLst>
                    <a:gd name="adj1" fmla="val 826"/>
                    <a:gd name="adj2" fmla="val 391"/>
                    <a:gd name="adj3" fmla="val -73833"/>
                    <a:gd name="adj4" fmla="val 34484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Missing Photos,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23" name="TextBox 30">
                  <a:extLst>
                    <a:ext uri="{FF2B5EF4-FFF2-40B4-BE49-F238E27FC236}">
                      <a16:creationId xmlns:a16="http://schemas.microsoft.com/office/drawing/2014/main" id="{AA70BFD0-0812-7179-5425-17033AB0EA0B}"/>
                    </a:ext>
                  </a:extLst>
                </p:cNvPr>
                <p:cNvSpPr txBox="1"/>
                <p:nvPr/>
              </p:nvSpPr>
              <p:spPr>
                <a:xfrm>
                  <a:off x="8295655" y="4256830"/>
                  <a:ext cx="2383995" cy="850435"/>
                </a:xfrm>
                <a:prstGeom prst="accentCallout1">
                  <a:avLst>
                    <a:gd name="adj1" fmla="val -2384"/>
                    <a:gd name="adj2" fmla="val 391"/>
                    <a:gd name="adj3" fmla="val -36015"/>
                    <a:gd name="adj4" fmla="val -11250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Permit Set Mismatch,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1" name="TextBox 30">
                  <a:extLst>
                    <a:ext uri="{FF2B5EF4-FFF2-40B4-BE49-F238E27FC236}">
                      <a16:creationId xmlns:a16="http://schemas.microsoft.com/office/drawing/2014/main" id="{70E16B09-1DAD-4CFE-6FE0-0DBFFB2EBB07}"/>
                    </a:ext>
                  </a:extLst>
                </p:cNvPr>
                <p:cNvSpPr txBox="1"/>
                <p:nvPr/>
              </p:nvSpPr>
              <p:spPr>
                <a:xfrm>
                  <a:off x="10632476" y="4256830"/>
                  <a:ext cx="2383995" cy="955817"/>
                </a:xfrm>
                <a:prstGeom prst="accentCallout1">
                  <a:avLst>
                    <a:gd name="adj1" fmla="val -1366"/>
                    <a:gd name="adj2" fmla="val 1020"/>
                    <a:gd name="adj3" fmla="val -66361"/>
                    <a:gd name="adj4" fmla="val -19864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RCCA188, D6 (CLOSED)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TRAINING – CMM-50A</a:t>
                  </a:r>
                  <a:endPara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/>
                    <a:sym typeface="Arial"/>
                  </a:endParaRPr>
                </a:p>
              </p:txBody>
            </p:sp>
            <p:sp>
              <p:nvSpPr>
                <p:cNvPr id="9" name="TextBox 30">
                  <a:extLst>
                    <a:ext uri="{FF2B5EF4-FFF2-40B4-BE49-F238E27FC236}">
                      <a16:creationId xmlns:a16="http://schemas.microsoft.com/office/drawing/2014/main" id="{2904D007-0EDE-FAB5-D786-4C2CA4FC524F}"/>
                    </a:ext>
                  </a:extLst>
                </p:cNvPr>
                <p:cNvSpPr txBox="1"/>
                <p:nvPr/>
              </p:nvSpPr>
              <p:spPr>
                <a:xfrm>
                  <a:off x="14667858" y="4096518"/>
                  <a:ext cx="2167210" cy="1037536"/>
                </a:xfrm>
                <a:prstGeom prst="accentCallout1">
                  <a:avLst>
                    <a:gd name="adj1" fmla="val 826"/>
                    <a:gd name="adj2" fmla="val 391"/>
                    <a:gd name="adj3" fmla="val -42033"/>
                    <a:gd name="adj4" fmla="val 40043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Tilt Photo,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0" name="TextBox 30">
                  <a:extLst>
                    <a:ext uri="{FF2B5EF4-FFF2-40B4-BE49-F238E27FC236}">
                      <a16:creationId xmlns:a16="http://schemas.microsoft.com/office/drawing/2014/main" id="{81F121EB-3981-8964-92E9-74FC52FE31EC}"/>
                    </a:ext>
                  </a:extLst>
                </p:cNvPr>
                <p:cNvSpPr txBox="1"/>
                <p:nvPr/>
              </p:nvSpPr>
              <p:spPr>
                <a:xfrm flipH="1">
                  <a:off x="16094279" y="4707110"/>
                  <a:ext cx="2167210" cy="1484082"/>
                </a:xfrm>
                <a:prstGeom prst="accentCallout1">
                  <a:avLst>
                    <a:gd name="adj1" fmla="val 826"/>
                    <a:gd name="adj2" fmla="val 391"/>
                    <a:gd name="adj3" fmla="val -36892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Blurry Photo, Permit Set Mismatch, 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7" name="TextBox 30">
                  <a:extLst>
                    <a:ext uri="{FF2B5EF4-FFF2-40B4-BE49-F238E27FC236}">
                      <a16:creationId xmlns:a16="http://schemas.microsoft.com/office/drawing/2014/main" id="{4FE0D686-92D5-01F1-1CCC-3301FEE428B3}"/>
                    </a:ext>
                  </a:extLst>
                </p:cNvPr>
                <p:cNvSpPr txBox="1"/>
                <p:nvPr/>
              </p:nvSpPr>
              <p:spPr>
                <a:xfrm flipH="1">
                  <a:off x="16749910" y="6513912"/>
                  <a:ext cx="2167210" cy="540586"/>
                </a:xfrm>
                <a:prstGeom prst="accentCallout1">
                  <a:avLst>
                    <a:gd name="adj1" fmla="val 826"/>
                    <a:gd name="adj2" fmla="val 391"/>
                    <a:gd name="adj3" fmla="val -439610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</p:txBody>
            </p:sp>
            <p:sp>
              <p:nvSpPr>
                <p:cNvPr id="12" name="TextBox 30">
                  <a:extLst>
                    <a:ext uri="{FF2B5EF4-FFF2-40B4-BE49-F238E27FC236}">
                      <a16:creationId xmlns:a16="http://schemas.microsoft.com/office/drawing/2014/main" id="{B31E326D-BE0B-C9FE-610A-B7DE0212B3BE}"/>
                    </a:ext>
                  </a:extLst>
                </p:cNvPr>
                <p:cNvSpPr txBox="1"/>
                <p:nvPr/>
              </p:nvSpPr>
              <p:spPr>
                <a:xfrm flipH="1">
                  <a:off x="18878859" y="4392013"/>
                  <a:ext cx="1618102" cy="981242"/>
                </a:xfrm>
                <a:prstGeom prst="accentCallout1">
                  <a:avLst>
                    <a:gd name="adj1" fmla="val 826"/>
                    <a:gd name="adj2" fmla="val 391"/>
                    <a:gd name="adj3" fmla="val -67955"/>
                    <a:gd name="adj4" fmla="val 13498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Permit Set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Mismatch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</a:t>
                  </a:r>
                </a:p>
              </p:txBody>
            </p:sp>
          </p:grpSp>
          <p:sp>
            <p:nvSpPr>
              <p:cNvPr id="28" name="TextBox 23">
                <a:extLst>
                  <a:ext uri="{FF2B5EF4-FFF2-40B4-BE49-F238E27FC236}">
                    <a16:creationId xmlns:a16="http://schemas.microsoft.com/office/drawing/2014/main" id="{ED7913EE-C7A5-46CF-9480-84C00AE98465}"/>
                  </a:ext>
                </a:extLst>
              </p:cNvPr>
              <p:cNvSpPr txBox="1"/>
              <p:nvPr/>
            </p:nvSpPr>
            <p:spPr>
              <a:xfrm>
                <a:off x="3775336" y="5197910"/>
                <a:ext cx="3215531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DON'T PUT RAW SEWAGE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IN THEIR COMPUTER</a:t>
                </a:r>
              </a:p>
            </p:txBody>
          </p:sp>
          <p:sp>
            <p:nvSpPr>
              <p:cNvPr id="29" name="TextBox 23">
                <a:extLst>
                  <a:ext uri="{FF2B5EF4-FFF2-40B4-BE49-F238E27FC236}">
                    <a16:creationId xmlns:a16="http://schemas.microsoft.com/office/drawing/2014/main" id="{E0C88997-2DE0-4C12-B8D1-9D7F7832749B}"/>
                  </a:ext>
                </a:extLst>
              </p:cNvPr>
              <p:cNvSpPr txBox="1"/>
              <p:nvPr/>
            </p:nvSpPr>
            <p:spPr>
              <a:xfrm>
                <a:off x="6350182" y="5474441"/>
                <a:ext cx="3069717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CONTAINMENT</a:t>
                </a:r>
              </a:p>
            </p:txBody>
          </p:sp>
        </p:grp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763855E-E43A-43D4-BACE-33F125E61987}"/>
                </a:ext>
                <a:ext uri="{147F2762-F138-4A5C-976F-8EAC2B608ADB}">
                  <a16:predDERef xmlns:a16="http://schemas.microsoft.com/office/drawing/2014/main" pred="{ED7913EE-C7A5-46CF-9480-84C00AE98465}"/>
                </a:ext>
              </a:extLst>
            </p:cNvPr>
            <p:cNvSpPr txBox="1"/>
            <p:nvPr/>
          </p:nvSpPr>
          <p:spPr>
            <a:xfrm>
              <a:off x="6350182" y="6597559"/>
              <a:ext cx="2850707" cy="10508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ANDON CORD LIFTED 2/01/2026. 11:15AM Sunday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SSB-164B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004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D33A-4FFC-70E7-6094-3A18AED3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5242E2-A27D-667B-79CA-348417EFB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1350963"/>
          <a:ext cx="16511587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91315" imgH="4572000" progId="Excel.Sheet.12">
                  <p:link updateAutomatic="1"/>
                </p:oleObj>
              </mc:Choice>
              <mc:Fallback>
                <p:oleObj name="Worksheet" r:id="rId3" imgW="9191315" imgH="4572000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5242E2-A27D-667B-79CA-348417EFB6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463" y="1350963"/>
                        <a:ext cx="16511587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0258CE9-09B8-3714-F8D8-BE3C35EA418C}"/>
              </a:ext>
            </a:extLst>
          </p:cNvPr>
          <p:cNvSpPr txBox="1"/>
          <p:nvPr/>
        </p:nvSpPr>
        <p:spPr>
          <a:xfrm>
            <a:off x="222250" y="58262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Arial"/>
                <a:sym typeface="Open Sans"/>
              </a:rPr>
              <a:t>SPWR Direct 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Figtree Light"/>
              </a:rPr>
              <a:t>S10 SCV Corporate QA WW52-WW27’2026 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7554-362B-A611-7B3D-FEAD9073DBCC}"/>
              </a:ext>
            </a:extLst>
          </p:cNvPr>
          <p:cNvSpPr/>
          <p:nvPr/>
        </p:nvSpPr>
        <p:spPr>
          <a:xfrm>
            <a:off x="9587927" y="9572647"/>
            <a:ext cx="7986015" cy="66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Funding Defect: AVL LightReach eligibility, PV Panel mismatch, Missing Cell kit</a:t>
            </a:r>
          </a:p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Electrical Defect: Main breaker/sub-panel issues, Point of interconnection issues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3B738-B477-A3CF-9C72-79219E00096D}"/>
              </a:ext>
            </a:extLst>
          </p:cNvPr>
          <p:cNvSpPr/>
          <p:nvPr/>
        </p:nvSpPr>
        <p:spPr>
          <a:xfrm>
            <a:off x="7271614" y="8795139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D56F3-77A2-75A9-3B96-687DB655A65C}"/>
              </a:ext>
            </a:extLst>
          </p:cNvPr>
          <p:cNvSpPr/>
          <p:nvPr/>
        </p:nvSpPr>
        <p:spPr>
          <a:xfrm>
            <a:off x="5082192" y="8780148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1FA06-3F85-C6DE-3ED6-FBA613C4E459}"/>
              </a:ext>
            </a:extLst>
          </p:cNvPr>
          <p:cNvSpPr/>
          <p:nvPr/>
        </p:nvSpPr>
        <p:spPr>
          <a:xfrm>
            <a:off x="1791083" y="9572647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TGM/EVV, 7/06/2026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BE43E-D90C-C2A2-F63B-7C8AE5DE5E94}"/>
              </a:ext>
            </a:extLst>
          </p:cNvPr>
          <p:cNvSpPr/>
          <p:nvPr/>
        </p:nvSpPr>
        <p:spPr>
          <a:xfrm>
            <a:off x="16339321" y="153776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10496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E043C9-E475-C57C-02ED-2D3B53EAD72F}"/>
              </a:ext>
            </a:extLst>
          </p:cNvPr>
          <p:cNvGrpSpPr/>
          <p:nvPr/>
        </p:nvGrpSpPr>
        <p:grpSpPr>
          <a:xfrm>
            <a:off x="3313965" y="3849378"/>
            <a:ext cx="12630889" cy="1289619"/>
            <a:chOff x="3313965" y="3248892"/>
            <a:chExt cx="12630889" cy="12896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FB7EA-9FCD-6B38-C0CB-88156025A17A}"/>
                </a:ext>
              </a:extLst>
            </p:cNvPr>
            <p:cNvSpPr/>
            <p:nvPr/>
          </p:nvSpPr>
          <p:spPr>
            <a:xfrm>
              <a:off x="5721664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195.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B943DF-2424-4C48-230B-43D6E0BDD155}"/>
                </a:ext>
              </a:extLst>
            </p:cNvPr>
            <p:cNvSpPr/>
            <p:nvPr/>
          </p:nvSpPr>
          <p:spPr>
            <a:xfrm>
              <a:off x="11572206" y="3248892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(RE-OPEN)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EECE89E-F69A-1A02-F83C-8A07B937EC4A}"/>
                </a:ext>
              </a:extLst>
            </p:cNvPr>
            <p:cNvSpPr/>
            <p:nvPr/>
          </p:nvSpPr>
          <p:spPr>
            <a:xfrm rot="16200000">
              <a:off x="12059886" y="653543"/>
              <a:ext cx="579120" cy="719081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77230D-0225-A94D-79EF-E9C7CF6E0904}"/>
                </a:ext>
              </a:extLst>
            </p:cNvPr>
            <p:cNvSpPr/>
            <p:nvPr/>
          </p:nvSpPr>
          <p:spPr>
            <a:xfrm>
              <a:off x="3313965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(CLOSED)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09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D38D88C4-F867-9F51-8460-BACB51989AB4}"/>
              </a:ext>
            </a:extLst>
          </p:cNvPr>
          <p:cNvGraphicFramePr>
            <a:graphicFrameLocks/>
          </p:cNvGraphicFramePr>
          <p:nvPr/>
        </p:nvGraphicFramePr>
        <p:xfrm>
          <a:off x="450850" y="1401549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2011448" y="969753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883042" y="969753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6453AA-6E55-C838-060B-58AA69E883F0}"/>
              </a:ext>
            </a:extLst>
          </p:cNvPr>
          <p:cNvGrpSpPr/>
          <p:nvPr/>
        </p:nvGrpSpPr>
        <p:grpSpPr>
          <a:xfrm>
            <a:off x="709660" y="3089152"/>
            <a:ext cx="8167289" cy="5419417"/>
            <a:chOff x="-384410" y="2981578"/>
            <a:chExt cx="8167289" cy="54194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CBC5C-2F49-BC61-999F-75A9926ED9A3}"/>
                </a:ext>
              </a:extLst>
            </p:cNvPr>
            <p:cNvSpPr txBox="1"/>
            <p:nvPr/>
          </p:nvSpPr>
          <p:spPr>
            <a:xfrm>
              <a:off x="5763878" y="5541262"/>
              <a:ext cx="201900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SPEC 12285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ANDON CORD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RCCA 228, D6 (OPEN)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TRAINING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A7B3A6-C4BE-7778-C67D-0C33E94F651D}"/>
                </a:ext>
              </a:extLst>
            </p:cNvPr>
            <p:cNvGrpSpPr/>
            <p:nvPr/>
          </p:nvGrpSpPr>
          <p:grpSpPr>
            <a:xfrm>
              <a:off x="-384410" y="2981578"/>
              <a:ext cx="7773881" cy="5419417"/>
              <a:chOff x="-384410" y="2981578"/>
              <a:chExt cx="7773881" cy="541941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754023B-5C11-08DE-F692-D0CC68E0AB01}"/>
                  </a:ext>
                </a:extLst>
              </p:cNvPr>
              <p:cNvGrpSpPr/>
              <p:nvPr/>
            </p:nvGrpSpPr>
            <p:grpSpPr>
              <a:xfrm>
                <a:off x="2642435" y="2981578"/>
                <a:ext cx="4747036" cy="5419417"/>
                <a:chOff x="2642435" y="2947774"/>
                <a:chExt cx="4747036" cy="5419417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DD55854B-92F1-90B2-142D-BFEC77EBEEE5}"/>
                    </a:ext>
                  </a:extLst>
                </p:cNvPr>
                <p:cNvGrpSpPr/>
                <p:nvPr/>
              </p:nvGrpSpPr>
              <p:grpSpPr>
                <a:xfrm>
                  <a:off x="4002690" y="3116669"/>
                  <a:ext cx="1719624" cy="5250522"/>
                  <a:chOff x="-6628475" y="-3086646"/>
                  <a:chExt cx="1719624" cy="5250522"/>
                </a:xfrm>
              </p:grpSpPr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09E3721F-F540-3848-7FE5-BC96CB53B2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6628475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A6AD635-2239-BD09-D3A3-1F4AF9CC3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4908851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449F028-E89F-C44A-383A-89C0E2187F26}"/>
                    </a:ext>
                  </a:extLst>
                </p:cNvPr>
                <p:cNvGrpSpPr/>
                <p:nvPr/>
              </p:nvGrpSpPr>
              <p:grpSpPr>
                <a:xfrm>
                  <a:off x="2642435" y="2947774"/>
                  <a:ext cx="4747036" cy="2189059"/>
                  <a:chOff x="5251330" y="3036364"/>
                  <a:chExt cx="4747036" cy="2189059"/>
                </a:xfrm>
              </p:grpSpPr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D644FF9-BF91-567B-0409-46C1AB3831BD}"/>
                      </a:ext>
                    </a:extLst>
                  </p:cNvPr>
                  <p:cNvSpPr txBox="1"/>
                  <p:nvPr/>
                </p:nvSpPr>
                <p:spPr>
                  <a:xfrm>
                    <a:off x="6611585" y="3421617"/>
                    <a:ext cx="2206243" cy="86774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SPEC 12285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ANDON CORD 1 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RCCA 228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5C98F92-02C2-7A23-1360-C766FD50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7792123" y="3036364"/>
                    <a:ext cx="2206243" cy="337791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CF81034-E14F-AAF0-489B-AF202406DE89}"/>
                      </a:ext>
                    </a:extLst>
                  </p:cNvPr>
                  <p:cNvSpPr/>
                  <p:nvPr/>
                </p:nvSpPr>
                <p:spPr>
                  <a:xfrm>
                    <a:off x="5251330" y="4376954"/>
                    <a:ext cx="848469" cy="84846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  <a:sym typeface="Arial"/>
                    </a:endParaRPr>
                  </a:p>
                </p:txBody>
              </p:sp>
            </p:grpSp>
          </p:grpSp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50B5293D-928B-43D5-DBCA-42CE8F92112E}"/>
                  </a:ext>
                </a:extLst>
              </p:cNvPr>
              <p:cNvSpPr txBox="1"/>
              <p:nvPr/>
            </p:nvSpPr>
            <p:spPr>
              <a:xfrm>
                <a:off x="-384410" y="3088481"/>
                <a:ext cx="1365232" cy="6953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97%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Escalate to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SSB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1F36ED-03CC-7069-9C68-3F3ABAC0B233}"/>
              </a:ext>
            </a:extLst>
          </p:cNvPr>
          <p:cNvSpPr txBox="1"/>
          <p:nvPr/>
        </p:nvSpPr>
        <p:spPr>
          <a:xfrm>
            <a:off x="9815862" y="9697538"/>
            <a:ext cx="796075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3FC96-75E8-C3C6-6D9D-4FF8E9B1DAF0}"/>
              </a:ext>
            </a:extLst>
          </p:cNvPr>
          <p:cNvSpPr txBox="1"/>
          <p:nvPr/>
        </p:nvSpPr>
        <p:spPr>
          <a:xfrm>
            <a:off x="9349875" y="4606746"/>
            <a:ext cx="1739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CONTAINMENT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483B49-300A-B509-1EFD-5A72ADF3F05B}"/>
              </a:ext>
            </a:extLst>
          </p:cNvPr>
          <p:cNvSpPr txBox="1"/>
          <p:nvPr/>
        </p:nvSpPr>
        <p:spPr>
          <a:xfrm>
            <a:off x="9367301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4B63C6-DC0E-E38C-E615-69BF4BEEAF37}"/>
              </a:ext>
            </a:extLst>
          </p:cNvPr>
          <p:cNvSpPr txBox="1"/>
          <p:nvPr/>
        </p:nvSpPr>
        <p:spPr>
          <a:xfrm>
            <a:off x="11135635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FD2EB152-2A8C-42AE-9CE2-2C935EF622F1}"/>
              </a:ext>
            </a:extLst>
          </p:cNvPr>
          <p:cNvSpPr txBox="1"/>
          <p:nvPr/>
        </p:nvSpPr>
        <p:spPr>
          <a:xfrm flipH="1">
            <a:off x="8091746" y="10030948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7AD139F-1050-CCB0-3B10-190D5EA04EFE}"/>
              </a:ext>
            </a:extLst>
          </p:cNvPr>
          <p:cNvSpPr txBox="1"/>
          <p:nvPr/>
        </p:nvSpPr>
        <p:spPr>
          <a:xfrm>
            <a:off x="12491300" y="5109496"/>
            <a:ext cx="3026806" cy="1397135"/>
          </a:xfrm>
          <a:prstGeom prst="accentCallout1">
            <a:avLst>
              <a:gd name="adj1" fmla="val 956"/>
              <a:gd name="adj2" fmla="val -554"/>
              <a:gd name="adj3" fmla="val -72135"/>
              <a:gd name="adj4" fmla="val 8108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5 REJECTS. RCCA 228, D6 (OPEN)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ADDITIONAL TRAINING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12285, REV N UPDATE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INSPECTION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REQUIRED FOR DESIGN AND FIELD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4C5EAD-86EA-B328-2F29-E51192B624E6}"/>
              </a:ext>
            </a:extLst>
          </p:cNvPr>
          <p:cNvSpPr txBox="1"/>
          <p:nvPr/>
        </p:nvSpPr>
        <p:spPr>
          <a:xfrm>
            <a:off x="10238333" y="4249295"/>
            <a:ext cx="3855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ROOT CAUSE CORRECTIVE ACTION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48EF3-4C99-1194-6FAC-50CBEF44642F}"/>
              </a:ext>
            </a:extLst>
          </p:cNvPr>
          <p:cNvSpPr txBox="1"/>
          <p:nvPr/>
        </p:nvSpPr>
        <p:spPr>
          <a:xfrm>
            <a:off x="7617808" y="3739001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4FC36D8-1195-C09A-46E8-F4DBFEF26D4F}"/>
              </a:ext>
            </a:extLst>
          </p:cNvPr>
          <p:cNvSpPr txBox="1"/>
          <p:nvPr/>
        </p:nvSpPr>
        <p:spPr>
          <a:xfrm flipH="1">
            <a:off x="13721310" y="4097250"/>
            <a:ext cx="1252312" cy="727679"/>
          </a:xfrm>
          <a:prstGeom prst="accentCallout1">
            <a:avLst>
              <a:gd name="adj1" fmla="val 956"/>
              <a:gd name="adj2" fmla="val -554"/>
              <a:gd name="adj3" fmla="val -68400"/>
              <a:gd name="adj4" fmla="val 33217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REJECT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228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D6 (OPEN)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A46A40-23B0-ECA8-004D-2A47CA7933FD}"/>
              </a:ext>
            </a:extLst>
          </p:cNvPr>
          <p:cNvCxnSpPr/>
          <p:nvPr/>
        </p:nvCxnSpPr>
        <p:spPr>
          <a:xfrm flipV="1">
            <a:off x="14742391" y="3646298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D164BD-0509-DE1E-4E9D-A6E7E488B0B7}"/>
              </a:ext>
            </a:extLst>
          </p:cNvPr>
          <p:cNvCxnSpPr/>
          <p:nvPr/>
        </p:nvCxnSpPr>
        <p:spPr>
          <a:xfrm flipV="1">
            <a:off x="13137086" y="3754499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F30D51-1DB0-0682-766C-BB8C219A403D}"/>
              </a:ext>
            </a:extLst>
          </p:cNvPr>
          <p:cNvCxnSpPr/>
          <p:nvPr/>
        </p:nvCxnSpPr>
        <p:spPr>
          <a:xfrm flipV="1">
            <a:off x="9026615" y="34644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B80580-DD00-50E5-14E2-44C039503647}"/>
              </a:ext>
            </a:extLst>
          </p:cNvPr>
          <p:cNvCxnSpPr/>
          <p:nvPr/>
        </p:nvCxnSpPr>
        <p:spPr>
          <a:xfrm flipV="1">
            <a:off x="11135635" y="34349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">
            <a:extLst>
              <a:ext uri="{FF2B5EF4-FFF2-40B4-BE49-F238E27FC236}">
                <a16:creationId xmlns:a16="http://schemas.microsoft.com/office/drawing/2014/main" id="{27FAB86E-BDD8-3675-040F-EE25A74E9E90}"/>
              </a:ext>
            </a:extLst>
          </p:cNvPr>
          <p:cNvSpPr txBox="1"/>
          <p:nvPr/>
        </p:nvSpPr>
        <p:spPr>
          <a:xfrm flipH="1">
            <a:off x="15279843" y="4428600"/>
            <a:ext cx="1143461" cy="727680"/>
          </a:xfrm>
          <a:prstGeom prst="accentCallout1">
            <a:avLst>
              <a:gd name="adj1" fmla="val 956"/>
              <a:gd name="adj2" fmla="val -554"/>
              <a:gd name="adj3" fmla="val -112646"/>
              <a:gd name="adj4" fmla="val 21282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2 REJECTS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228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D6 (OPEN)</a:t>
            </a:r>
          </a:p>
        </p:txBody>
      </p:sp>
    </p:spTree>
    <p:extLst>
      <p:ext uri="{BB962C8B-B14F-4D97-AF65-F5344CB8AC3E}">
        <p14:creationId xmlns:p14="http://schemas.microsoft.com/office/powerpoint/2010/main" val="305797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83D74C0-7B1D-5429-711F-C0822DDEC6DC}"/>
              </a:ext>
            </a:extLst>
          </p:cNvPr>
          <p:cNvSpPr txBox="1"/>
          <p:nvPr/>
        </p:nvSpPr>
        <p:spPr>
          <a:xfrm flipH="1">
            <a:off x="8043620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254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8B585B3-44EF-0D4F-FDA4-3164E74F9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2493" y="1557338"/>
          <a:ext cx="16425863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44000" imgH="4572000" progId="Excel.Sheet.12">
                  <p:link updateAutomatic="1"/>
                </p:oleObj>
              </mc:Choice>
              <mc:Fallback>
                <p:oleObj name="Worksheet" r:id="rId2" imgW="9144000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8B585B3-44EF-0D4F-FDA4-3164E74F9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2493" y="1557338"/>
                        <a:ext cx="16425863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46888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18482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49980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90992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9329D-23AA-2E4C-ED35-039FA9EAB76F}"/>
              </a:ext>
            </a:extLst>
          </p:cNvPr>
          <p:cNvSpPr txBox="1"/>
          <p:nvPr/>
        </p:nvSpPr>
        <p:spPr>
          <a:xfrm>
            <a:off x="8606565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 Rejection seen at pre-check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95A08-58FE-6502-0267-C379C82F4CA8}"/>
              </a:ext>
            </a:extLst>
          </p:cNvPr>
          <p:cNvSpPr txBox="1"/>
          <p:nvPr/>
        </p:nvSpPr>
        <p:spPr>
          <a:xfrm>
            <a:off x="12478159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** </a:t>
            </a:r>
            <a:r>
              <a: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Sameday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Solar</a:t>
            </a:r>
          </a:p>
        </p:txBody>
      </p:sp>
    </p:spTree>
    <p:extLst>
      <p:ext uri="{BB962C8B-B14F-4D97-AF65-F5344CB8AC3E}">
        <p14:creationId xmlns:p14="http://schemas.microsoft.com/office/powerpoint/2010/main" val="1375683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F1807CC-D6CD-CA3D-5051-94288FCA3AAA}"/>
              </a:ext>
            </a:extLst>
          </p:cNvPr>
          <p:cNvSpPr txBox="1"/>
          <p:nvPr/>
        </p:nvSpPr>
        <p:spPr>
          <a:xfrm flipH="1">
            <a:off x="8043620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1582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C57F49C-C80F-1733-4658-E46C88669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538" y="1612900"/>
          <a:ext cx="16421100" cy="822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44000" imgH="4581038" progId="Excel.Sheet.12">
                  <p:link updateAutomatic="1"/>
                </p:oleObj>
              </mc:Choice>
              <mc:Fallback>
                <p:oleObj name="Worksheet" r:id="rId2" imgW="9144000" imgH="4581038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C57F49C-C80F-1733-4658-E46C88669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7538" y="1612900"/>
                        <a:ext cx="16421100" cy="822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30847" y="9954189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02441" y="9957364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33939" y="165980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74951" y="1659805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C4C77-3763-2A8F-73CA-1172897D9312}"/>
              </a:ext>
            </a:extLst>
          </p:cNvPr>
          <p:cNvSpPr txBox="1"/>
          <p:nvPr/>
        </p:nvSpPr>
        <p:spPr>
          <a:xfrm>
            <a:off x="8580872" y="9889405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A99F3-EDB5-DCAE-B18F-5FD405DF1265}"/>
              </a:ext>
            </a:extLst>
          </p:cNvPr>
          <p:cNvSpPr txBox="1"/>
          <p:nvPr/>
        </p:nvSpPr>
        <p:spPr>
          <a:xfrm>
            <a:off x="8580872" y="10129816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** </a:t>
            </a:r>
            <a:r>
              <a: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Sameday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Solar</a:t>
            </a:r>
          </a:p>
        </p:txBody>
      </p:sp>
    </p:spTree>
    <p:extLst>
      <p:ext uri="{BB962C8B-B14F-4D97-AF65-F5344CB8AC3E}">
        <p14:creationId xmlns:p14="http://schemas.microsoft.com/office/powerpoint/2010/main" val="300952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E22743-C4C9-A913-A4F7-F73955C32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9108" y="1343867"/>
          <a:ext cx="1810588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0058400" imgH="4572000" progId="Excel.SheetBinaryMacroEnabled.12">
                  <p:link updateAutomatic="1"/>
                </p:oleObj>
              </mc:Choice>
              <mc:Fallback>
                <p:oleObj name="Binary Worksheet" r:id="rId3" imgW="10058400" imgH="4572000" progId="Excel.SheetBinary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6E22743-C4C9-A913-A4F7-F73955C32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9108" y="1343867"/>
                        <a:ext cx="1810588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S14: SPWR Direct Final Inspection Verified FPY, WW23-WW27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999108" y="9617464"/>
            <a:ext cx="9601199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7/06/2026	Owner: RLJ, JTE      QA: TGM, ZJW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B368E56-3988-02D9-2609-BF63BFAB5BF5}"/>
              </a:ext>
            </a:extLst>
          </p:cNvPr>
          <p:cNvSpPr txBox="1"/>
          <p:nvPr/>
        </p:nvSpPr>
        <p:spPr>
          <a:xfrm>
            <a:off x="13297029" y="5155000"/>
            <a:ext cx="1469720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12807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8D-242, D3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ANDON CORD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TGM-107A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8FAD6D-0CA0-8545-7E21-5C0CC12B6BFF}"/>
              </a:ext>
            </a:extLst>
          </p:cNvPr>
          <p:cNvGrpSpPr/>
          <p:nvPr/>
        </p:nvGrpSpPr>
        <p:grpSpPr>
          <a:xfrm>
            <a:off x="2483583" y="3075667"/>
            <a:ext cx="12413603" cy="5226623"/>
            <a:chOff x="1865154" y="3075667"/>
            <a:chExt cx="12413603" cy="522662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9EAE52-5807-0244-F56A-1079AD327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78757" y="3075667"/>
              <a:ext cx="0" cy="5226623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C833041D-6C0C-3EC3-8C54-458166D0FB98}"/>
                </a:ext>
              </a:extLst>
            </p:cNvPr>
            <p:cNvSpPr txBox="1"/>
            <p:nvPr/>
          </p:nvSpPr>
          <p:spPr>
            <a:xfrm>
              <a:off x="1865154" y="3075667"/>
              <a:ext cx="1256004" cy="59303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97%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Escalation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to SSB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5B29F7-AF65-4DF9-77FF-D6C72B7937AD}"/>
              </a:ext>
            </a:extLst>
          </p:cNvPr>
          <p:cNvSpPr txBox="1"/>
          <p:nvPr/>
        </p:nvSpPr>
        <p:spPr>
          <a:xfrm>
            <a:off x="4568354" y="10051527"/>
            <a:ext cx="6365894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: FOR Q326 ONWARDS DATA FROM SALESFORCE WILL BE ALIGNED TO FIV TEAM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F103C-D0BD-2042-59C4-FA8A2D43F63A}"/>
              </a:ext>
            </a:extLst>
          </p:cNvPr>
          <p:cNvSpPr txBox="1"/>
          <p:nvPr/>
        </p:nvSpPr>
        <p:spPr>
          <a:xfrm>
            <a:off x="10934248" y="10051527"/>
            <a:ext cx="6365894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SF REPORT 1: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</a:rPr>
              <a:t>Q2 Inspection Fails | Salesforce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SF REPORT 2: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</a:rPr>
              <a:t>All Inspection Tickets Q2 | Salesforce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346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8DA2536-FBEE-8BDC-5CFB-DA60B18F8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" y="1539875"/>
          <a:ext cx="18928080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0515600" imgH="4572000" progId="Excel.SheetBinaryMacroEnabled.12">
                  <p:link updateAutomatic="1"/>
                </p:oleObj>
              </mc:Choice>
              <mc:Fallback>
                <p:oleObj name="Binary Worksheet" r:id="rId3" imgW="10515600" imgH="4572000" progId="Excel.SheetBinary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8DA2536-FBEE-8BDC-5CFB-DA60B18F8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010" y="1539875"/>
                        <a:ext cx="18928080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WW23-WW27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CC1DE-F1FB-F083-E3E0-1F6EB97E396E}"/>
              </a:ext>
            </a:extLst>
          </p:cNvPr>
          <p:cNvSpPr txBox="1"/>
          <p:nvPr/>
        </p:nvSpPr>
        <p:spPr>
          <a:xfrm>
            <a:off x="12923519" y="9776867"/>
            <a:ext cx="4663440" cy="338554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* WW23-27 DATA ALIGNMENT WITH FIV TEAM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3FCC9C-6F80-FE4F-F07E-A42A20784E8F}"/>
              </a:ext>
            </a:extLst>
          </p:cNvPr>
          <p:cNvGrpSpPr/>
          <p:nvPr/>
        </p:nvGrpSpPr>
        <p:grpSpPr>
          <a:xfrm>
            <a:off x="2475331" y="9058581"/>
            <a:ext cx="7083191" cy="665790"/>
            <a:chOff x="2597897" y="8448980"/>
            <a:chExt cx="7083191" cy="6657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00ED70-241C-AAB3-D3D6-B89B21338910}"/>
                </a:ext>
              </a:extLst>
            </p:cNvPr>
            <p:cNvSpPr/>
            <p:nvPr/>
          </p:nvSpPr>
          <p:spPr>
            <a:xfrm>
              <a:off x="259789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430367-95BE-9850-20D8-DB03E68AD7C7}"/>
                </a:ext>
              </a:extLst>
            </p:cNvPr>
            <p:cNvSpPr/>
            <p:nvPr/>
          </p:nvSpPr>
          <p:spPr>
            <a:xfrm>
              <a:off x="355875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DE9B36-87B2-A5F5-A2CF-5FF443EFCA5A}"/>
                </a:ext>
              </a:extLst>
            </p:cNvPr>
            <p:cNvSpPr/>
            <p:nvPr/>
          </p:nvSpPr>
          <p:spPr>
            <a:xfrm>
              <a:off x="4946556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6C4CB1A-ED7E-818B-0706-AA3F0B2164E0}"/>
                </a:ext>
              </a:extLst>
            </p:cNvPr>
            <p:cNvSpPr/>
            <p:nvPr/>
          </p:nvSpPr>
          <p:spPr>
            <a:xfrm>
              <a:off x="6171288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FC1E17-C869-1314-5A5F-ED9106824385}"/>
                </a:ext>
              </a:extLst>
            </p:cNvPr>
            <p:cNvSpPr/>
            <p:nvPr/>
          </p:nvSpPr>
          <p:spPr>
            <a:xfrm>
              <a:off x="7779946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96AEE-799F-FD80-17C2-0E09483B5BE4}"/>
                </a:ext>
              </a:extLst>
            </p:cNvPr>
            <p:cNvSpPr/>
            <p:nvPr/>
          </p:nvSpPr>
          <p:spPr>
            <a:xfrm>
              <a:off x="9096119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6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0AD02B-3BF3-75F4-FFB0-9F84571558E4}"/>
              </a:ext>
            </a:extLst>
          </p:cNvPr>
          <p:cNvGrpSpPr/>
          <p:nvPr/>
        </p:nvGrpSpPr>
        <p:grpSpPr>
          <a:xfrm>
            <a:off x="1082007" y="1691887"/>
            <a:ext cx="17940086" cy="5468740"/>
            <a:chOff x="1082007" y="1691887"/>
            <a:chExt cx="17940086" cy="54687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95C138-2901-7977-EBD5-E6D4F07D249C}"/>
                </a:ext>
              </a:extLst>
            </p:cNvPr>
            <p:cNvSpPr/>
            <p:nvPr/>
          </p:nvSpPr>
          <p:spPr>
            <a:xfrm>
              <a:off x="17193293" y="1691887"/>
              <a:ext cx="18288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1507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Spec 12807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15F432-95E2-8CC6-4181-9EEC3C1DD8C0}"/>
                </a:ext>
              </a:extLst>
            </p:cNvPr>
            <p:cNvSpPr/>
            <p:nvPr/>
          </p:nvSpPr>
          <p:spPr>
            <a:xfrm>
              <a:off x="1082007" y="1691887"/>
              <a:ext cx="4200255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8D 242, D3 (OPEN)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20CDED-01CA-5DBC-B5D3-B2A4516D4F3E}"/>
                </a:ext>
              </a:extLst>
            </p:cNvPr>
            <p:cNvSpPr/>
            <p:nvPr/>
          </p:nvSpPr>
          <p:spPr>
            <a:xfrm>
              <a:off x="12923519" y="3287867"/>
              <a:ext cx="4670150" cy="38727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SUBCATEGORY</a:t>
              </a:r>
              <a:b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</a:b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1-Uncategorized: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Attribution for review and category validation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2-AHJ: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City or County Requirements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3-</a:t>
              </a: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DESIGN: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Incorrect Design, AB Design Process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4-ELECTRICAL TECH (ET):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Human Error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5-PERMITTING: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6-CUSTOMER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1822451" y="9769475"/>
            <a:ext cx="960120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7/06/2026	Owner: RLJ , JTE     QA Support: ZJW, TGM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9CD22-BF2A-629F-038C-6063DD60CD53}"/>
              </a:ext>
            </a:extLst>
          </p:cNvPr>
          <p:cNvSpPr txBox="1"/>
          <p:nvPr/>
        </p:nvSpPr>
        <p:spPr>
          <a:xfrm>
            <a:off x="6044122" y="10323480"/>
            <a:ext cx="8015856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NOTE: FOR Q326 ONWARDS DATA FROM SALESFORCE WILL BE ALIGNED TO FIV TEAM’S REPORTING. THUS, UNCATEGORIZED WILL BE ELIMINATED</a:t>
            </a:r>
          </a:p>
        </p:txBody>
      </p:sp>
    </p:spTree>
    <p:extLst>
      <p:ext uri="{BB962C8B-B14F-4D97-AF65-F5344CB8AC3E}">
        <p14:creationId xmlns:p14="http://schemas.microsoft.com/office/powerpoint/2010/main" val="149216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WW23-WW27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450850" y="7721529"/>
            <a:ext cx="1356995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3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7/06/2026	Owner: RLJ, JTE     QA Support: TGM, ZJW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FC6C5-9723-80EA-3FEB-34C827EBB72E}"/>
              </a:ext>
            </a:extLst>
          </p:cNvPr>
          <p:cNvSpPr/>
          <p:nvPr/>
        </p:nvSpPr>
        <p:spPr>
          <a:xfrm>
            <a:off x="14383825" y="1387863"/>
            <a:ext cx="4837203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2ND LEVEL PARETO BY CREW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433E8CF-B472-BE80-C781-F23294DD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83" y="1777929"/>
          <a:ext cx="13681683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10524638" imgH="4572000" progId="Excel.SheetBinaryMacroEnabled.12">
                  <p:link updateAutomatic="1"/>
                </p:oleObj>
              </mc:Choice>
              <mc:Fallback>
                <p:oleObj name="Binary Worksheet" r:id="rId4" imgW="10524638" imgH="4572000" progId="Excel.SheetBinaryMacroEnabled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433E8CF-B472-BE80-C781-F23294DD73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4983" y="1777929"/>
                        <a:ext cx="13681683" cy="594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83CCF21-AFD6-5DB6-BBB2-33F610BE3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3825" y="1777929"/>
            <a:ext cx="3924300" cy="84010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82704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E2175C7-2989-3AA7-AC52-CEF4DF6F8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1581150"/>
          <a:ext cx="1656260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00884" imgH="4572000" progId="Excel.Sheet.12">
                  <p:link updateAutomatic="1"/>
                </p:oleObj>
              </mc:Choice>
              <mc:Fallback>
                <p:oleObj name="Worksheet" r:id="rId2" imgW="9200884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E2175C7-2989-3AA7-AC52-CEF4DF6F8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9113" y="1581150"/>
                        <a:ext cx="1656260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89113" y="598653"/>
            <a:ext cx="1656260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789113" y="9837083"/>
            <a:ext cx="3044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4620926" y="9837083"/>
            <a:ext cx="289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013A9AB-ABE0-75FA-FEF4-788D6E5F13E2}"/>
              </a:ext>
            </a:extLst>
          </p:cNvPr>
          <p:cNvSpPr txBox="1"/>
          <p:nvPr/>
        </p:nvSpPr>
        <p:spPr>
          <a:xfrm>
            <a:off x="1053274" y="3227109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C90822-99D6-E8DF-F057-44DA1EF88ECB}"/>
              </a:ext>
            </a:extLst>
          </p:cNvPr>
          <p:cNvGrpSpPr/>
          <p:nvPr/>
        </p:nvGrpSpPr>
        <p:grpSpPr>
          <a:xfrm>
            <a:off x="12072918" y="3227109"/>
            <a:ext cx="2355742" cy="4863006"/>
            <a:chOff x="16755969" y="3227109"/>
            <a:chExt cx="2355742" cy="486300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54D5D6-7C9C-E731-433C-939E7B58D806}"/>
                </a:ext>
              </a:extLst>
            </p:cNvPr>
            <p:cNvCxnSpPr>
              <a:cxnSpLocks/>
            </p:cNvCxnSpPr>
            <p:nvPr/>
          </p:nvCxnSpPr>
          <p:spPr>
            <a:xfrm>
              <a:off x="19111711" y="3227109"/>
              <a:ext cx="0" cy="4863006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73FF2A-58B6-9346-712D-248AD6DDDB8A}"/>
                </a:ext>
              </a:extLst>
            </p:cNvPr>
            <p:cNvSpPr txBox="1"/>
            <p:nvPr/>
          </p:nvSpPr>
          <p:spPr>
            <a:xfrm>
              <a:off x="16755969" y="6559790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UPDATE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12445/B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9370F9-F53F-AF45-6082-C26EFA1368B8}"/>
              </a:ext>
            </a:extLst>
          </p:cNvPr>
          <p:cNvSpPr txBox="1"/>
          <p:nvPr/>
        </p:nvSpPr>
        <p:spPr>
          <a:xfrm>
            <a:off x="6952843" y="9837083"/>
            <a:ext cx="2126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Spec: 12445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A28B18F-43DD-B777-B48E-AC9B84273127}"/>
              </a:ext>
            </a:extLst>
          </p:cNvPr>
          <p:cNvSpPr txBox="1"/>
          <p:nvPr/>
        </p:nvSpPr>
        <p:spPr>
          <a:xfrm>
            <a:off x="2118134" y="329378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2D751-0C0D-6295-9166-AE687B3F563A}"/>
              </a:ext>
            </a:extLst>
          </p:cNvPr>
          <p:cNvSpPr txBox="1"/>
          <p:nvPr/>
        </p:nvSpPr>
        <p:spPr>
          <a:xfrm>
            <a:off x="12222417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86DA1-7E1C-8CC5-4BC0-9A77FA766093}"/>
              </a:ext>
            </a:extLst>
          </p:cNvPr>
          <p:cNvSpPr txBox="1"/>
          <p:nvPr/>
        </p:nvSpPr>
        <p:spPr>
          <a:xfrm>
            <a:off x="8942296" y="9837083"/>
            <a:ext cx="8390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If Activation Approved is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 achieved within 115 days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LightReach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may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claw back the M2 funds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that were previously paid.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once a project has been paid the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kumimoji="0" lang="en-US" sz="1400" b="1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Install (M1)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funding milestone it has a 115 day “shot clock” to reach </a:t>
            </a:r>
            <a:r>
              <a:rPr kumimoji="0" lang="en-US" sz="1400" b="1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Activation Approved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.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9E121EF-C1B3-10A0-101B-7BF247227625}"/>
              </a:ext>
            </a:extLst>
          </p:cNvPr>
          <p:cNvSpPr/>
          <p:nvPr/>
        </p:nvSpPr>
        <p:spPr>
          <a:xfrm rot="5400000" flipV="1">
            <a:off x="9926677" y="2407418"/>
            <a:ext cx="712922" cy="7237703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05E693-7E92-1170-2936-3074A531E48E}"/>
              </a:ext>
            </a:extLst>
          </p:cNvPr>
          <p:cNvSpPr txBox="1"/>
          <p:nvPr/>
        </p:nvSpPr>
        <p:spPr>
          <a:xfrm>
            <a:off x="9180016" y="6409065"/>
            <a:ext cx="2206243" cy="71292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234, D4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D6D157-F1B1-C4F4-A5E2-E283FCE53EB5}"/>
              </a:ext>
            </a:extLst>
          </p:cNvPr>
          <p:cNvSpPr txBox="1"/>
          <p:nvPr/>
        </p:nvSpPr>
        <p:spPr>
          <a:xfrm flipH="1">
            <a:off x="14955330" y="4580859"/>
            <a:ext cx="2206243" cy="857264"/>
          </a:xfrm>
          <a:prstGeom prst="accentCallout1">
            <a:avLst>
              <a:gd name="adj1" fmla="val -563"/>
              <a:gd name="adj2" fmla="val 1502"/>
              <a:gd name="adj3" fmla="val -57180"/>
              <a:gd name="adj4" fmla="val 7328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– Commissioning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issue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234, D4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7967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B2D1215-8D30-4498-0B21-45F67670A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443" y="1547812"/>
          <a:ext cx="1657921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2D1215-8D30-4498-0B21-45F67670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2443" y="1547812"/>
                        <a:ext cx="1657921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8A592-8E1F-6693-E252-D9D78BD023C8}"/>
              </a:ext>
            </a:extLst>
          </p:cNvPr>
          <p:cNvSpPr txBox="1"/>
          <p:nvPr/>
        </p:nvSpPr>
        <p:spPr>
          <a:xfrm>
            <a:off x="1762443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032-6EE2-6267-7B8E-2B626B042EC1}"/>
              </a:ext>
            </a:extLst>
          </p:cNvPr>
          <p:cNvSpPr txBox="1"/>
          <p:nvPr/>
        </p:nvSpPr>
        <p:spPr>
          <a:xfrm>
            <a:off x="5634037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BD40-01F9-1BDC-07A0-3A9894C95736}"/>
              </a:ext>
            </a:extLst>
          </p:cNvPr>
          <p:cNvSpPr/>
          <p:nvPr/>
        </p:nvSpPr>
        <p:spPr>
          <a:xfrm>
            <a:off x="9261363" y="7547675"/>
            <a:ext cx="1554480" cy="762197"/>
          </a:xfrm>
          <a:prstGeom prst="rect">
            <a:avLst/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Incorrect Shine Disclosure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(FUNDING)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45AAB1-FFA1-DEE9-4659-75C954EAB421}"/>
              </a:ext>
            </a:extLst>
          </p:cNvPr>
          <p:cNvGrpSpPr/>
          <p:nvPr/>
        </p:nvGrpSpPr>
        <p:grpSpPr>
          <a:xfrm>
            <a:off x="4138047" y="2888026"/>
            <a:ext cx="11947765" cy="1341758"/>
            <a:chOff x="4138047" y="3430644"/>
            <a:chExt cx="11947765" cy="13417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5511C-8287-11A2-CEFA-2C4849993992}"/>
                </a:ext>
              </a:extLst>
            </p:cNvPr>
            <p:cNvSpPr/>
            <p:nvPr/>
          </p:nvSpPr>
          <p:spPr>
            <a:xfrm>
              <a:off x="9426130" y="3430644"/>
              <a:ext cx="137160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234. D4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D03BA66B-3913-07DC-7158-44436B42DF83}"/>
                </a:ext>
              </a:extLst>
            </p:cNvPr>
            <p:cNvSpPr/>
            <p:nvPr/>
          </p:nvSpPr>
          <p:spPr>
            <a:xfrm rot="16200000">
              <a:off x="9755469" y="-1557942"/>
              <a:ext cx="712922" cy="11947765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060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666C5-4F74-F6F5-E0EA-17741FF12C10}"/>
              </a:ext>
            </a:extLst>
          </p:cNvPr>
          <p:cNvSpPr txBox="1"/>
          <p:nvPr/>
        </p:nvSpPr>
        <p:spPr>
          <a:xfrm>
            <a:off x="9625907" y="9753098"/>
            <a:ext cx="5887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TGH – Tyson Hunter, LTD – Leo Miguel De Perio</a:t>
            </a:r>
          </a:p>
        </p:txBody>
      </p:sp>
    </p:spTree>
    <p:extLst>
      <p:ext uri="{BB962C8B-B14F-4D97-AF65-F5344CB8AC3E}">
        <p14:creationId xmlns:p14="http://schemas.microsoft.com/office/powerpoint/2010/main" val="1666295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B2D1215-8D30-4498-0B21-45F67670A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443" y="1547812"/>
          <a:ext cx="1657921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2D1215-8D30-4498-0B21-45F67670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2443" y="1547812"/>
                        <a:ext cx="1657921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8A592-8E1F-6693-E252-D9D78BD023C8}"/>
              </a:ext>
            </a:extLst>
          </p:cNvPr>
          <p:cNvSpPr txBox="1"/>
          <p:nvPr/>
        </p:nvSpPr>
        <p:spPr>
          <a:xfrm>
            <a:off x="1762443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032-6EE2-6267-7B8E-2B626B042EC1}"/>
              </a:ext>
            </a:extLst>
          </p:cNvPr>
          <p:cNvSpPr txBox="1"/>
          <p:nvPr/>
        </p:nvSpPr>
        <p:spPr>
          <a:xfrm>
            <a:off x="5634037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3028AB58-E179-3743-585C-9A551D64D71A}"/>
              </a:ext>
            </a:extLst>
          </p:cNvPr>
          <p:cNvSpPr/>
          <p:nvPr/>
        </p:nvSpPr>
        <p:spPr>
          <a:xfrm>
            <a:off x="7854392" y="4932793"/>
            <a:ext cx="2197657" cy="1063652"/>
          </a:xfrm>
          <a:prstGeom prst="borderCallout1">
            <a:avLst>
              <a:gd name="adj1" fmla="val 100347"/>
              <a:gd name="adj2" fmla="val -357"/>
              <a:gd name="adj3" fmla="val 160583"/>
              <a:gd name="adj4" fmla="val -446"/>
            </a:avLst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– Request new Shine Disclosure (FUNDING)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– Incorrect Shine Disclosure (FUNDING)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5E5C24-293F-DF95-0392-82ECB6AA862C}"/>
              </a:ext>
            </a:extLst>
          </p:cNvPr>
          <p:cNvGrpSpPr/>
          <p:nvPr/>
        </p:nvGrpSpPr>
        <p:grpSpPr>
          <a:xfrm>
            <a:off x="3440623" y="3043009"/>
            <a:ext cx="13282048" cy="1341758"/>
            <a:chOff x="3440623" y="3430644"/>
            <a:chExt cx="13282048" cy="134175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AFD040-0A25-6122-DEB0-0A78D1209D74}"/>
                </a:ext>
              </a:extLst>
            </p:cNvPr>
            <p:cNvSpPr/>
            <p:nvPr/>
          </p:nvSpPr>
          <p:spPr>
            <a:xfrm>
              <a:off x="9395847" y="3430644"/>
              <a:ext cx="137160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234. D4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5830ECAB-DA70-2936-3B09-C6D420AC5ADA}"/>
                </a:ext>
              </a:extLst>
            </p:cNvPr>
            <p:cNvSpPr/>
            <p:nvPr/>
          </p:nvSpPr>
          <p:spPr>
            <a:xfrm rot="16200000">
              <a:off x="9725186" y="-2225083"/>
              <a:ext cx="712922" cy="13282048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303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DF33B-6B11-0568-6FD1-2A56E90F6608}"/>
              </a:ext>
            </a:extLst>
          </p:cNvPr>
          <p:cNvSpPr txBox="1"/>
          <p:nvPr/>
        </p:nvSpPr>
        <p:spPr>
          <a:xfrm>
            <a:off x="9625907" y="9753098"/>
            <a:ext cx="588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TGH – Tyson Hunter, LTD – Leo Miguel De Perio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JDH – James Hampton, PXB – Pallavi Bhasker</a:t>
            </a:r>
          </a:p>
        </p:txBody>
      </p:sp>
    </p:spTree>
    <p:extLst>
      <p:ext uri="{BB962C8B-B14F-4D97-AF65-F5344CB8AC3E}">
        <p14:creationId xmlns:p14="http://schemas.microsoft.com/office/powerpoint/2010/main" val="161266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D2467F-4497-5FC3-C78E-12172185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93" y="1539875"/>
            <a:ext cx="16437315" cy="8229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5952C5A-132F-B733-835D-16EFF9FD0FAA}"/>
              </a:ext>
            </a:extLst>
          </p:cNvPr>
          <p:cNvSpPr/>
          <p:nvPr/>
        </p:nvSpPr>
        <p:spPr>
          <a:xfrm>
            <a:off x="1833392" y="9769475"/>
            <a:ext cx="3368040" cy="428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776">
              <a:defRPr/>
            </a:pPr>
            <a:r>
              <a:rPr lang="en-US" sz="160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EVV, 6/16/2026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1833392" y="687856"/>
            <a:ext cx="164373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Complete QA FPY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9B0C4-8231-43DC-1EBD-D84D7AC15EBE}"/>
              </a:ext>
            </a:extLst>
          </p:cNvPr>
          <p:cNvSpPr/>
          <p:nvPr/>
        </p:nvSpPr>
        <p:spPr>
          <a:xfrm>
            <a:off x="5201431" y="9769475"/>
            <a:ext cx="7986015" cy="428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776">
              <a:defRPr/>
            </a:pPr>
            <a:r>
              <a:rPr lang="en-US" sz="160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SGS/BCB	QA: DJF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70A6A98-2BD9-DCDC-3EFF-5551397DC490}"/>
              </a:ext>
            </a:extLst>
          </p:cNvPr>
          <p:cNvSpPr txBox="1"/>
          <p:nvPr/>
        </p:nvSpPr>
        <p:spPr>
          <a:xfrm>
            <a:off x="2562886" y="3402281"/>
            <a:ext cx="1256004" cy="59303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97%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Escalation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SSB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7440E-EE90-D9D2-FB51-4ADF00D4F82E}"/>
              </a:ext>
            </a:extLst>
          </p:cNvPr>
          <p:cNvSpPr/>
          <p:nvPr/>
        </p:nvSpPr>
        <p:spPr>
          <a:xfrm>
            <a:off x="4755323" y="4522918"/>
            <a:ext cx="10593454" cy="276230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RE-INTRODUCE PERMIT PACK QA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REVISE PERMIT PACK QA TO REFLECT THE CORRECT PROCESS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TRAIN AND DEPLOY PERMIT PACK QA TO DESIGN TEAM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QUALITY AUDITS AGAINST THE SPEC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REVIVE THE FPY OF ENPHASE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44FAC-4B3A-D07F-3AC6-3BB5CCBF55C2}"/>
              </a:ext>
            </a:extLst>
          </p:cNvPr>
          <p:cNvSpPr txBox="1"/>
          <p:nvPr/>
        </p:nvSpPr>
        <p:spPr>
          <a:xfrm>
            <a:off x="11434592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Specs L2: 12777	Specs L4: 12385</a:t>
            </a:r>
          </a:p>
        </p:txBody>
      </p:sp>
    </p:spTree>
    <p:extLst>
      <p:ext uri="{BB962C8B-B14F-4D97-AF65-F5344CB8AC3E}">
        <p14:creationId xmlns:p14="http://schemas.microsoft.com/office/powerpoint/2010/main" val="2021043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0B40E-F92B-A8B6-AE2E-CB54ADA7D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93" y="1539875"/>
            <a:ext cx="16437315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5963254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12385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1833392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Author: DJF/EVV, 6/16/2026		Owner: SGS/BCB 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1434592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Specs L2: 12777	Specs L4: 12385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6A87D23-3EA0-C95A-B70C-E9346C6B7219}"/>
              </a:ext>
            </a:extLst>
          </p:cNvPr>
          <p:cNvSpPr txBox="1"/>
          <p:nvPr/>
        </p:nvSpPr>
        <p:spPr>
          <a:xfrm>
            <a:off x="1833392" y="687856"/>
            <a:ext cx="164373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QA Pareto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B6FBEA-0F42-216D-E681-B36D760EE0D4}"/>
              </a:ext>
            </a:extLst>
          </p:cNvPr>
          <p:cNvSpPr/>
          <p:nvPr/>
        </p:nvSpPr>
        <p:spPr>
          <a:xfrm>
            <a:off x="4829699" y="4273524"/>
            <a:ext cx="10444703" cy="276230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START WITH DESIGN DEFECTS FOR Q2 FROM FUNDING (M1 &amp; M2)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PULL DATA FROM SALESFORCE BASED ON LAYOUT AND UPGRADE REVIEW</a:t>
            </a:r>
          </a:p>
          <a:p>
            <a:pPr defTabSz="1507776">
              <a:defRPr/>
            </a:pPr>
            <a:endParaRPr lang="en-US" sz="2400" b="1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88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5441-8245-D3D5-96BA-0D0EC628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871A-1C56-6700-AC9B-ECD51BCD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5" y="399"/>
            <a:ext cx="18864812" cy="1232187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NEW HOMES PROCESSES: TARGET TO FPY=100%</a:t>
            </a:r>
            <a:endParaRPr lang="en-US" sz="4617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15402C-443F-4BF2-65CC-AE118FAE5A7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04028982"/>
              </p:ext>
            </p:extLst>
          </p:nvPr>
        </p:nvGraphicFramePr>
        <p:xfrm>
          <a:off x="515605" y="843697"/>
          <a:ext cx="19072889" cy="955778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90863">
                  <a:extLst>
                    <a:ext uri="{9D8B030D-6E8A-4147-A177-3AD203B41FA5}">
                      <a16:colId xmlns:a16="http://schemas.microsoft.com/office/drawing/2014/main" val="3842544468"/>
                    </a:ext>
                  </a:extLst>
                </a:gridCol>
                <a:gridCol w="971698">
                  <a:extLst>
                    <a:ext uri="{9D8B030D-6E8A-4147-A177-3AD203B41FA5}">
                      <a16:colId xmlns:a16="http://schemas.microsoft.com/office/drawing/2014/main" val="1410292681"/>
                    </a:ext>
                  </a:extLst>
                </a:gridCol>
                <a:gridCol w="1980846">
                  <a:extLst>
                    <a:ext uri="{9D8B030D-6E8A-4147-A177-3AD203B41FA5}">
                      <a16:colId xmlns:a16="http://schemas.microsoft.com/office/drawing/2014/main" val="787894804"/>
                    </a:ext>
                  </a:extLst>
                </a:gridCol>
                <a:gridCol w="3319935">
                  <a:extLst>
                    <a:ext uri="{9D8B030D-6E8A-4147-A177-3AD203B41FA5}">
                      <a16:colId xmlns:a16="http://schemas.microsoft.com/office/drawing/2014/main" val="4106445735"/>
                    </a:ext>
                  </a:extLst>
                </a:gridCol>
                <a:gridCol w="768982">
                  <a:extLst>
                    <a:ext uri="{9D8B030D-6E8A-4147-A177-3AD203B41FA5}">
                      <a16:colId xmlns:a16="http://schemas.microsoft.com/office/drawing/2014/main" val="3567871352"/>
                    </a:ext>
                  </a:extLst>
                </a:gridCol>
                <a:gridCol w="5277326">
                  <a:extLst>
                    <a:ext uri="{9D8B030D-6E8A-4147-A177-3AD203B41FA5}">
                      <a16:colId xmlns:a16="http://schemas.microsoft.com/office/drawing/2014/main" val="1161482405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2415657813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1933493864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3413017769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2520571553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1355593155"/>
                    </a:ext>
                  </a:extLst>
                </a:gridCol>
              </a:tblGrid>
              <a:tr h="35182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Owner/Quality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Milestone1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38433"/>
                  </a:ext>
                </a:extLst>
              </a:tr>
              <a:tr h="2170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WW26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WW27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64472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Lead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145, D6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1285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49009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3955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3559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MQT/TGM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12507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553007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10549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97676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09177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JMN/ZJW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11287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01541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0338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8283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ROS/TGM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161,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895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32809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LKR/EZD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10853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600" b="1" i="0" u="none" strike="noStrike" baseline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54776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KAM/EZD/TGM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Activation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13058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12152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0833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Install Complete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11971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37235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L16P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Opportunity appt. confirmed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10782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5307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L17P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05960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L18P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9097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L19P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12477</a:t>
                      </a: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97878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L20P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-Installation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10724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430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L21P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-Activation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224,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31366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9D346E1-508B-B465-5B03-9383BE368FD6}"/>
              </a:ext>
            </a:extLst>
          </p:cNvPr>
          <p:cNvSpPr/>
          <p:nvPr/>
        </p:nvSpPr>
        <p:spPr>
          <a:xfrm>
            <a:off x="515606" y="10328853"/>
            <a:ext cx="3569963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7/7/2026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7663-062B-4687-8B0A-BADCB24736C5}"/>
              </a:ext>
            </a:extLst>
          </p:cNvPr>
          <p:cNvSpPr/>
          <p:nvPr/>
        </p:nvSpPr>
        <p:spPr>
          <a:xfrm>
            <a:off x="4085565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316AA-DF0C-D274-C983-2DAB8790FC47}"/>
              </a:ext>
            </a:extLst>
          </p:cNvPr>
          <p:cNvSpPr/>
          <p:nvPr/>
        </p:nvSpPr>
        <p:spPr>
          <a:xfrm>
            <a:off x="6347276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2331A-2CC6-802D-40E1-3C79515DD58C}"/>
              </a:ext>
            </a:extLst>
          </p:cNvPr>
          <p:cNvSpPr/>
          <p:nvPr/>
        </p:nvSpPr>
        <p:spPr>
          <a:xfrm>
            <a:off x="13172819" y="10717743"/>
            <a:ext cx="4987843" cy="64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– PREVIOUS WEEK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– MONTHLY CADENCE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 – ALBATROSS DATA ONLY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– PENDING SIGNOFF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 – SPEC FOR UPDATE</a:t>
            </a:r>
          </a:p>
          <a:p>
            <a:pPr defTabSz="2486207">
              <a:defRPr/>
            </a:pPr>
            <a:endParaRPr lang="en-US" sz="1319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27982-CBCA-C75C-C332-B360BDB1C483}"/>
              </a:ext>
            </a:extLst>
          </p:cNvPr>
          <p:cNvSpPr/>
          <p:nvPr/>
        </p:nvSpPr>
        <p:spPr>
          <a:xfrm>
            <a:off x="16732828" y="10328854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  <a:endParaRPr lang="en-US" sz="1319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80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SunPower_v3">
  <a:themeElements>
    <a:clrScheme name="SunPower">
      <a:dk1>
        <a:srgbClr val="000000"/>
      </a:dk1>
      <a:lt1>
        <a:srgbClr val="FFFFFF"/>
      </a:lt1>
      <a:dk2>
        <a:srgbClr val="162241"/>
      </a:dk2>
      <a:lt2>
        <a:srgbClr val="E8E8E8"/>
      </a:lt2>
      <a:accent1>
        <a:srgbClr val="162241"/>
      </a:accent1>
      <a:accent2>
        <a:srgbClr val="0056B8"/>
      </a:accent2>
      <a:accent3>
        <a:srgbClr val="FAD646"/>
      </a:accent3>
      <a:accent4>
        <a:srgbClr val="000000"/>
      </a:accent4>
      <a:accent5>
        <a:srgbClr val="FFFFFF"/>
      </a:accent5>
      <a:accent6>
        <a:srgbClr val="404040"/>
      </a:accent6>
      <a:hlink>
        <a:srgbClr val="839FFE"/>
      </a:hlink>
      <a:folHlink>
        <a:srgbClr val="839FF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spcFirstLastPara="1" wrap="square" lIns="0" tIns="7307" rIns="0" bIns="0" rtlCol="0" anchor="t" anchorCtr="0">
        <a:spAutoFit/>
      </a:bodyPr>
      <a:lstStyle>
        <a:defPPr marL="7701" marR="3081" algn="r">
          <a:lnSpc>
            <a:spcPct val="119500"/>
          </a:lnSpc>
          <a:defRPr sz="1800" b="1" i="0" dirty="0">
            <a:solidFill>
              <a:schemeClr val="accent4"/>
            </a:solidFill>
            <a:latin typeface="Open Sans ExtraBold" pitchFamily="2" charset="0"/>
            <a:ea typeface="Open Sans ExtraBold" pitchFamily="2" charset="0"/>
            <a:cs typeface="Open Sans ExtraBold" pitchFamily="2" charset="0"/>
            <a:sym typeface="Figtree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unPower_v3" id="{4596D956-87D5-3A42-8782-DE3527235942}" vid="{408376D1-EDEC-574E-95E1-F424A780B3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C504355090C444BE7D10ADFD191CD1" ma:contentTypeVersion="84" ma:contentTypeDescription="Create a new document." ma:contentTypeScope="" ma:versionID="a0de59c850f63590172dccfc0ab2cd06">
  <xsd:schema xmlns:xsd="http://www.w3.org/2001/XMLSchema" xmlns:xs="http://www.w3.org/2001/XMLSchema" xmlns:p="http://schemas.microsoft.com/office/2006/metadata/properties" xmlns:ns1="http://schemas.microsoft.com/sharepoint/v3" xmlns:ns2="83f8eacf-2526-432c-b3e2-18eea6be12a3" xmlns:ns3="a8d63d1d-10eb-44b3-8a11-d5a029092278" targetNamespace="http://schemas.microsoft.com/office/2006/metadata/properties" ma:root="true" ma:fieldsID="d2de3c7ce2308ae132d05e48147c0fe7" ns1:_="" ns2:_="" ns3:_="">
    <xsd:import namespace="http://schemas.microsoft.com/sharepoint/v3"/>
    <xsd:import namespace="83f8eacf-2526-432c-b3e2-18eea6be12a3"/>
    <xsd:import namespace="a8d63d1d-10eb-44b3-8a11-d5a029092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Owners_x002f_DataStewards" minOccurs="0"/>
                <xsd:element ref="ns2:Information" minOccurs="0"/>
                <xsd:element ref="ns2:Bright_x0020_Idea_x0020_Submis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8eacf-2526-432c-b3e2-18eea6be12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Owners_x002f_DataStewards" ma:index="24" nillable="true" ma:displayName="Owners/Data Stewards" ma:format="Dropdown" ma:list="UserInfo" ma:SharePointGroup="0" ma:internalName="Owners_x002f_DataSteward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formation" ma:index="25" nillable="true" ma:displayName="Information" ma:format="Dropdown" ma:internalName="Information">
      <xsd:simpleType>
        <xsd:restriction base="dms:Note">
          <xsd:maxLength value="255"/>
        </xsd:restriction>
      </xsd:simpleType>
    </xsd:element>
    <xsd:element name="Bright_x0020_Idea_x0020_Submissions" ma:index="26" nillable="true" ma:displayName="Bright Idea Submissions" ma:internalName="Bright_x0020_Idea_x0020_Submissions" ma:percentage="FALSE">
      <xsd:simpleType>
        <xsd:restriction base="dms:Number">
          <xsd:maxInclusive value="1.7976931348623157e+308"/>
          <xsd:minInclusive value="-1.7976931348623157e+308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d63d1d-10eb-44b3-8a11-d5a02909227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37dc13-104b-4894-a790-8da42721ea16}" ma:internalName="TaxCatchAll" ma:showField="CatchAllData" ma:web="a8d63d1d-10eb-44b3-8a11-d5a029092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d63d1d-10eb-44b3-8a11-d5a029092278" xsi:nil="true"/>
    <_ip_UnifiedCompliancePolicyUIAction xmlns="http://schemas.microsoft.com/sharepoint/v3" xsi:nil="true"/>
    <lcf76f155ced4ddcb4097134ff3c332f xmlns="83f8eacf-2526-432c-b3e2-18eea6be12a3" xsi:nil="true"/>
    <Information xmlns="83f8eacf-2526-432c-b3e2-18eea6be12a3" xsi:nil="true"/>
    <Bright_x0020_Idea_x0020_Submissions xmlns="83f8eacf-2526-432c-b3e2-18eea6be12a3" xsi:nil="true"/>
    <Owners_x002f_DataStewards xmlns="83f8eacf-2526-432c-b3e2-18eea6be12a3">
      <UserInfo>
        <DisplayName/>
        <AccountId xsi:nil="true"/>
        <AccountType/>
      </UserInfo>
    </Owners_x002f_DataStewards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6A2A52-DF72-4630-96B1-EC00318D3C53}">
  <ds:schemaRefs>
    <ds:schemaRef ds:uri="83f8eacf-2526-432c-b3e2-18eea6be12a3"/>
    <ds:schemaRef ds:uri="a8d63d1d-10eb-44b3-8a11-d5a0290922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4E8A881-0B0D-423E-8AD5-DD5B6EE7E43E}">
  <ds:schemaRefs>
    <ds:schemaRef ds:uri="http://purl.org/dc/terms/"/>
    <ds:schemaRef ds:uri="a8d63d1d-10eb-44b3-8a11-d5a029092278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83f8eacf-2526-432c-b3e2-18eea6be12a3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B181334-4667-421D-BCEF-E3978F7946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28900</TotalTime>
  <Words>2355</Words>
  <Application>Microsoft Office PowerPoint</Application>
  <PresentationFormat>Custom</PresentationFormat>
  <Paragraphs>700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22</vt:i4>
      </vt:variant>
    </vt:vector>
  </HeadingPairs>
  <TitlesOfParts>
    <vt:vector size="49" baseType="lpstr">
      <vt:lpstr>Aptos</vt:lpstr>
      <vt:lpstr>Arial</vt:lpstr>
      <vt:lpstr>Figtree</vt:lpstr>
      <vt:lpstr>Figtree Light</vt:lpstr>
      <vt:lpstr>Open Sans Light</vt:lpstr>
      <vt:lpstr>Roboto</vt:lpstr>
      <vt:lpstr>Segoe UI</vt:lpstr>
      <vt:lpstr>Segoe UI Semibold</vt:lpstr>
      <vt:lpstr>Segoe UI Semilight</vt:lpstr>
      <vt:lpstr>SunPower_v3</vt:lpstr>
      <vt:lpstr>Office Theme</vt:lpstr>
      <vt:lpstr>1_Office Theme</vt:lpstr>
      <vt:lpstr>https://blueravensolar.sharepoint.com/sites/QualityOMandCustomerSuccess/Shared%20Documents/Quality%20Data%20Repository/SPWR%20Direct%20FPY/FPY_SPD_8_rev00.xlsb!FPY_Summary!%5bFPY_SPD_8_rev00.xlsb%5dFPY_Summary%20Chart%205</vt:lpstr>
      <vt:lpstr>https://blueravensolar.sharepoint.com/sites/QualityOMandCustomerSuccess/Shared%20Documents/BRS%20SCV/BRS%20SCV_Corp_Audit_rev01.xlsx!QA-BRS_FPY_Pareto!%5bBRS%20SCV_Corp_Audit_rev01.xlsx%5dQA-BRS_FPY_Pareto%20Chart%2013</vt:lpstr>
      <vt:lpstr>https://blueravensolar.sharepoint.com/sites/QualityOMandCustomerSuccess/Shared%20Documents/BRS%20SCV/BRS%20SCV_Corp_Audit_rev01.xlsx!QA-BRS_FPY_Pareto!%5bBRS%20SCV_Corp_Audit_rev01.xlsx%5dQA-BRS_FPY_Pareto%20Chart%201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https://blueravensolar.sharepoint.com/sites/QualityOMandCustomerSuccess/Shared%20Documents/NH%20JCO%20First%20Pass%20Yield%20Data/NH%20M2%20FPY%20for%20CorpQA_rev00.xlsx!SPD_LR_JF_Pareto!%5bNH%20M2%20FPY%20for%20CorpQA_rev00.xlsx%5dSPD_LR_JF_Pareto%20Chart%2022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https://blueravensolar.sharepoint.com/sites/QualityOMandCustomerSuccess/Shared%20Documents/NH%20JCO%20First%20Pass%20Yield%20Data/NH%20M2%20FPY%20for%20CorpQA_rev00.xlsx!SPD_LR_JF_Pareto!%5bNH%20M2%20FPY%20for%20CorpQA_rev00.xlsx%5dSPD_LR_JF_Pareto%20Chart%2016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https://blueravensolar.sharepoint.com/sites/QualityOMandCustomerSuccess/Shared%20Documents/Quality%20Data%20Repository/SPWR%20Direct%20FPY/14%20Final%20Inspection%20Verified/S14_FIV_FPY_rev00.xlsb!FPY_Pareto!%5bS14_FIV_FPY_rev00.xlsb%5dFPY_Pareto%20Chart%205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https://blueravensolar.sharepoint.com/sites/QualityOMandCustomerSuccess/Shared%20Documents/Quality%20Data%20Repository/SPWR%20Direct%20FPY/14%20Final%20Inspection%20Verified/S14_FIV_FPY_rev00.xlsb!FPY_Pareto!%5bS14_FIV_FPY_rev00.xlsb%5dFPY_Pareto%20Chart%203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https://blueravensolar.sharepoint.com/sites/QualityOMandCustomerSuccess/Shared%20Documents/Quality%20Data%20Repository/SPWR%20Direct%20FPY/14%20Final%20Inspection%20Verified/S14_FIV_FPY_rev00.xlsb!FPY_Pareto!%5bS14_FIV_FPY_rev00.xlsb%5dFPY_Pareto%20Chart%204</vt:lpstr>
      <vt:lpstr>https://blueravensolar.sharepoint.com/sites/QualityOMandCustomerSuccess/Shared%20Documents/NH%20JCO%20First%20Pass%20Yield%20Data/NH%20M2%20FPY%20for%20CorpQA_rev00.xlsx!SPD_LR_FPY!%5bNH%20M2%20FPY%20for%20CorpQA_rev00.xlsx%5dSPD_LR_FPY%20Chart%205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Cignetti Turnaround</vt:lpstr>
      <vt:lpstr>SUNPOWER DIRECT PROCESSES: TARGET TO FPY=100%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HOMES PROCESSES: TARGET TO FPY=100%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 - Edryl Figueroa</dc:creator>
  <cp:lastModifiedBy>ERF - Edryl Figueroa</cp:lastModifiedBy>
  <cp:revision>9</cp:revision>
  <dcterms:created xsi:type="dcterms:W3CDTF">2026-05-13T23:00:09Z</dcterms:created>
  <dcterms:modified xsi:type="dcterms:W3CDTF">2026-07-09T20:00:25Z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0x01010030C504355090C444BE7D10ADFD191CD1</vt:lpwstr>
  </property>
</Properties>
</file>