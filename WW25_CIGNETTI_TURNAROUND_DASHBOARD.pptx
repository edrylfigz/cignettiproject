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6.xml" ContentType="application/vnd.openxmlformats-officedocument.themeOverr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66" r:id="rId5"/>
    <p:sldMasterId id="2147483671" r:id="rId6"/>
  </p:sldMasterIdLst>
  <p:notesMasterIdLst>
    <p:notesMasterId r:id="rId32"/>
  </p:notesMasterIdLst>
  <p:sldIdLst>
    <p:sldId id="561" r:id="rId7"/>
    <p:sldId id="267" r:id="rId8"/>
    <p:sldId id="307" r:id="rId9"/>
    <p:sldId id="314" r:id="rId10"/>
    <p:sldId id="2147483628" r:id="rId11"/>
    <p:sldId id="2147483629" r:id="rId12"/>
    <p:sldId id="2147483639" r:id="rId13"/>
    <p:sldId id="2147483618" r:id="rId14"/>
    <p:sldId id="2147483632" r:id="rId15"/>
    <p:sldId id="2147483622" r:id="rId16"/>
    <p:sldId id="2147483640" r:id="rId17"/>
    <p:sldId id="2147483621" r:id="rId18"/>
    <p:sldId id="289" r:id="rId19"/>
    <p:sldId id="291" r:id="rId20"/>
    <p:sldId id="292" r:id="rId21"/>
    <p:sldId id="281" r:id="rId22"/>
    <p:sldId id="264" r:id="rId23"/>
    <p:sldId id="258" r:id="rId24"/>
    <p:sldId id="2147483643" r:id="rId25"/>
    <p:sldId id="2147483644" r:id="rId26"/>
    <p:sldId id="2147483645" r:id="rId27"/>
    <p:sldId id="2147483646" r:id="rId28"/>
    <p:sldId id="2147483624" r:id="rId29"/>
    <p:sldId id="2147483625" r:id="rId30"/>
    <p:sldId id="560" r:id="rId31"/>
  </p:sldIdLst>
  <p:sldSz cx="20104100" cy="11309350"/>
  <p:notesSz cx="6858000" cy="9144000"/>
  <p:defaultTextStyle>
    <a:defPPr>
      <a:defRPr lang="en-US"/>
    </a:defPPr>
    <a:lvl1pPr marL="0" algn="l" defTabSz="1507846" rtl="0" eaLnBrk="1" latinLnBrk="0" hangingPunct="1">
      <a:defRPr sz="2968" kern="1200">
        <a:solidFill>
          <a:schemeClr val="tx1"/>
        </a:solidFill>
        <a:latin typeface="+mn-lt"/>
        <a:ea typeface="+mn-ea"/>
        <a:cs typeface="+mn-cs"/>
      </a:defRPr>
    </a:lvl1pPr>
    <a:lvl2pPr marL="753923" algn="l" defTabSz="1507846" rtl="0" eaLnBrk="1" latinLnBrk="0" hangingPunct="1">
      <a:defRPr sz="2968" kern="1200">
        <a:solidFill>
          <a:schemeClr val="tx1"/>
        </a:solidFill>
        <a:latin typeface="+mn-lt"/>
        <a:ea typeface="+mn-ea"/>
        <a:cs typeface="+mn-cs"/>
      </a:defRPr>
    </a:lvl2pPr>
    <a:lvl3pPr marL="1507846" algn="l" defTabSz="1507846" rtl="0" eaLnBrk="1" latinLnBrk="0" hangingPunct="1">
      <a:defRPr sz="2968" kern="1200">
        <a:solidFill>
          <a:schemeClr val="tx1"/>
        </a:solidFill>
        <a:latin typeface="+mn-lt"/>
        <a:ea typeface="+mn-ea"/>
        <a:cs typeface="+mn-cs"/>
      </a:defRPr>
    </a:lvl3pPr>
    <a:lvl4pPr marL="2261768" algn="l" defTabSz="1507846" rtl="0" eaLnBrk="1" latinLnBrk="0" hangingPunct="1">
      <a:defRPr sz="2968" kern="1200">
        <a:solidFill>
          <a:schemeClr val="tx1"/>
        </a:solidFill>
        <a:latin typeface="+mn-lt"/>
        <a:ea typeface="+mn-ea"/>
        <a:cs typeface="+mn-cs"/>
      </a:defRPr>
    </a:lvl4pPr>
    <a:lvl5pPr marL="3015691" algn="l" defTabSz="1507846" rtl="0" eaLnBrk="1" latinLnBrk="0" hangingPunct="1">
      <a:defRPr sz="2968" kern="1200">
        <a:solidFill>
          <a:schemeClr val="tx1"/>
        </a:solidFill>
        <a:latin typeface="+mn-lt"/>
        <a:ea typeface="+mn-ea"/>
        <a:cs typeface="+mn-cs"/>
      </a:defRPr>
    </a:lvl5pPr>
    <a:lvl6pPr marL="3769614" algn="l" defTabSz="1507846" rtl="0" eaLnBrk="1" latinLnBrk="0" hangingPunct="1">
      <a:defRPr sz="2968" kern="1200">
        <a:solidFill>
          <a:schemeClr val="tx1"/>
        </a:solidFill>
        <a:latin typeface="+mn-lt"/>
        <a:ea typeface="+mn-ea"/>
        <a:cs typeface="+mn-cs"/>
      </a:defRPr>
    </a:lvl6pPr>
    <a:lvl7pPr marL="4523537" algn="l" defTabSz="1507846" rtl="0" eaLnBrk="1" latinLnBrk="0" hangingPunct="1">
      <a:defRPr sz="2968" kern="1200">
        <a:solidFill>
          <a:schemeClr val="tx1"/>
        </a:solidFill>
        <a:latin typeface="+mn-lt"/>
        <a:ea typeface="+mn-ea"/>
        <a:cs typeface="+mn-cs"/>
      </a:defRPr>
    </a:lvl7pPr>
    <a:lvl8pPr marL="5277460" algn="l" defTabSz="1507846" rtl="0" eaLnBrk="1" latinLnBrk="0" hangingPunct="1">
      <a:defRPr sz="2968" kern="1200">
        <a:solidFill>
          <a:schemeClr val="tx1"/>
        </a:solidFill>
        <a:latin typeface="+mn-lt"/>
        <a:ea typeface="+mn-ea"/>
        <a:cs typeface="+mn-cs"/>
      </a:defRPr>
    </a:lvl8pPr>
    <a:lvl9pPr marL="6031382" algn="l" defTabSz="1507846" rtl="0" eaLnBrk="1" latinLnBrk="0" hangingPunct="1">
      <a:defRPr sz="296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2BE8724-8E98-411C-9684-ABD8152EB447}">
          <p14:sldIdLst>
            <p14:sldId id="561"/>
          </p14:sldIdLst>
        </p14:section>
        <p14:section name="SPD Dashboard" id="{B4561748-8AAB-4082-AEEA-65130E6E8119}">
          <p14:sldIdLst>
            <p14:sldId id="267"/>
          </p14:sldIdLst>
        </p14:section>
        <p14:section name="FDC" id="{FB243C43-CAE2-457A-8919-A50068D07D64}">
          <p14:sldIdLst>
            <p14:sldId id="307"/>
            <p14:sldId id="314"/>
          </p14:sldIdLst>
        </p14:section>
        <p14:section name="SCV" id="{724B2FBC-61BE-4E96-9562-010897B56495}">
          <p14:sldIdLst>
            <p14:sldId id="2147483628"/>
            <p14:sldId id="2147483629"/>
          </p14:sldIdLst>
        </p14:section>
        <p14:section name="M1Install" id="{E960ECDA-F107-49BA-AF22-45F50AE95925}">
          <p14:sldIdLst>
            <p14:sldId id="2147483639"/>
            <p14:sldId id="2147483618"/>
            <p14:sldId id="2147483632"/>
            <p14:sldId id="2147483622"/>
            <p14:sldId id="2147483640"/>
            <p14:sldId id="2147483621"/>
          </p14:sldIdLst>
        </p14:section>
        <p14:section name="FIV" id="{2EC3B98B-AD9B-4D9F-8976-C6218D9E585C}">
          <p14:sldIdLst>
            <p14:sldId id="289"/>
            <p14:sldId id="291"/>
            <p14:sldId id="292"/>
            <p14:sldId id="281"/>
          </p14:sldIdLst>
        </p14:section>
        <p14:section name="M2 Activate" id="{6A958018-8FEA-4D38-902B-5EB5279DF521}">
          <p14:sldIdLst>
            <p14:sldId id="264"/>
            <p14:sldId id="258"/>
            <p14:sldId id="2147483643"/>
            <p14:sldId id="2147483644"/>
            <p14:sldId id="2147483645"/>
            <p14:sldId id="2147483646"/>
          </p14:sldIdLst>
        </p14:section>
        <p14:section name="PPC -Permit Pak Complete" id="{235FA0A1-F696-4DE8-AA6A-B0D56C578FCA}">
          <p14:sldIdLst>
            <p14:sldId id="2147483624"/>
            <p14:sldId id="2147483625"/>
          </p14:sldIdLst>
        </p14:section>
        <p14:section name="NH Dashboard" id="{0DC4311D-53C5-488A-817F-33F5FB1A10C1}">
          <p14:sldIdLst>
            <p14:sldId id="56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FF"/>
    <a:srgbClr val="00CC99"/>
    <a:srgbClr val="009900"/>
    <a:srgbClr val="FF6600"/>
    <a:srgbClr val="E468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1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34" Type="http://schemas.openxmlformats.org/officeDocument/2006/relationships/viewProps" Target="view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theme" Target="theme/theme1.xml"/><Relationship Id="rId8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[Chart in Microsoft PowerPoint]FPY_Summary!FPY_MILESTONE</c:name>
    <c:fmtId val="5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1" i="0" u="none" strike="noStrike" kern="1200" spc="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pPr>
            <a:r>
              <a:rPr lang="en-US"/>
              <a:t>SPWR DIRECT: FDC FIRST PASS YIELD</a:t>
            </a:r>
          </a:p>
          <a:p>
            <a:pPr>
              <a:defRPr sz="2800"/>
            </a:pPr>
            <a:r>
              <a:rPr lang="en-US"/>
              <a:t>FPY TARGET = 100%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1" i="0" u="none" strike="noStrike" kern="1200" spc="0" baseline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8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8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3"/>
          <c:order val="3"/>
          <c:tx>
            <c:strRef>
              <c:f>FPY_Summary!$F$49</c:f>
              <c:strCache>
                <c:ptCount val="1"/>
                <c:pt idx="0">
                  <c:v>Volume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bg1">
                        <a:lumMod val="65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FPY_Summary!$B$50:$B$59</c:f>
              <c:multiLvlStrCache>
                <c:ptCount val="8"/>
                <c:lvl>
                  <c:pt idx="0">
                    <c:v>18</c:v>
                  </c:pt>
                  <c:pt idx="1">
                    <c:v>19</c:v>
                  </c:pt>
                  <c:pt idx="2">
                    <c:v>20</c:v>
                  </c:pt>
                  <c:pt idx="3">
                    <c:v>21</c:v>
                  </c:pt>
                  <c:pt idx="4">
                    <c:v>22</c:v>
                  </c:pt>
                  <c:pt idx="5">
                    <c:v>23</c:v>
                  </c:pt>
                  <c:pt idx="6">
                    <c:v>24</c:v>
                  </c:pt>
                  <c:pt idx="7">
                    <c:v>25</c:v>
                  </c:pt>
                </c:lvl>
                <c:lvl>
                  <c:pt idx="0">
                    <c:v>2026</c:v>
                  </c:pt>
                </c:lvl>
              </c:multiLvlStrCache>
            </c:multiLvlStrRef>
          </c:cat>
          <c:val>
            <c:numRef>
              <c:f>FPY_Summary!$F$50:$F$59</c:f>
              <c:numCache>
                <c:formatCode>#,##0</c:formatCode>
                <c:ptCount val="8"/>
                <c:pt idx="0">
                  <c:v>116</c:v>
                </c:pt>
                <c:pt idx="1">
                  <c:v>103</c:v>
                </c:pt>
                <c:pt idx="2">
                  <c:v>119</c:v>
                </c:pt>
                <c:pt idx="3">
                  <c:v>125</c:v>
                </c:pt>
                <c:pt idx="4">
                  <c:v>118</c:v>
                </c:pt>
                <c:pt idx="5">
                  <c:v>166</c:v>
                </c:pt>
                <c:pt idx="6">
                  <c:v>140</c:v>
                </c:pt>
                <c:pt idx="7">
                  <c:v>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B6-4B24-A9C0-8F37A96F5F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42121840"/>
        <c:axId val="42121360"/>
      </c:barChart>
      <c:lineChart>
        <c:grouping val="standard"/>
        <c:varyColors val="0"/>
        <c:ser>
          <c:idx val="0"/>
          <c:order val="0"/>
          <c:tx>
            <c:strRef>
              <c:f>FPY_Summary!$C$49</c:f>
              <c:strCache>
                <c:ptCount val="1"/>
                <c:pt idx="0">
                  <c:v>FPY</c:v>
                </c:pt>
              </c:strCache>
            </c:strRef>
          </c:tx>
          <c:spPr>
            <a:ln w="38100" cap="rnd">
              <a:solidFill>
                <a:schemeClr val="tx2">
                  <a:lumMod val="90000"/>
                  <a:lumOff val="10000"/>
                </a:schemeClr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chemeClr val="tx2">
                  <a:lumMod val="90000"/>
                  <a:lumOff val="10000"/>
                </a:schemeClr>
              </a:solidFill>
              <a:ln w="9525"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FPY_Summary!$B$50:$B$59</c:f>
              <c:multiLvlStrCache>
                <c:ptCount val="8"/>
                <c:lvl>
                  <c:pt idx="0">
                    <c:v>18</c:v>
                  </c:pt>
                  <c:pt idx="1">
                    <c:v>19</c:v>
                  </c:pt>
                  <c:pt idx="2">
                    <c:v>20</c:v>
                  </c:pt>
                  <c:pt idx="3">
                    <c:v>21</c:v>
                  </c:pt>
                  <c:pt idx="4">
                    <c:v>22</c:v>
                  </c:pt>
                  <c:pt idx="5">
                    <c:v>23</c:v>
                  </c:pt>
                  <c:pt idx="6">
                    <c:v>24</c:v>
                  </c:pt>
                  <c:pt idx="7">
                    <c:v>25</c:v>
                  </c:pt>
                </c:lvl>
                <c:lvl>
                  <c:pt idx="0">
                    <c:v>2026</c:v>
                  </c:pt>
                </c:lvl>
              </c:multiLvlStrCache>
            </c:multiLvlStrRef>
          </c:cat>
          <c:val>
            <c:numRef>
              <c:f>FPY_Summary!$C$50:$C$59</c:f>
              <c:numCache>
                <c:formatCode>0%</c:formatCode>
                <c:ptCount val="8"/>
                <c:pt idx="0">
                  <c:v>0.81896551724137934</c:v>
                </c:pt>
                <c:pt idx="1">
                  <c:v>0.73786407766990292</c:v>
                </c:pt>
                <c:pt idx="2">
                  <c:v>0.72268907563025209</c:v>
                </c:pt>
                <c:pt idx="3">
                  <c:v>0.71199999999999997</c:v>
                </c:pt>
                <c:pt idx="4">
                  <c:v>0.71186440677966101</c:v>
                </c:pt>
                <c:pt idx="5">
                  <c:v>0.73493975903614461</c:v>
                </c:pt>
                <c:pt idx="6">
                  <c:v>0.70714285714285718</c:v>
                </c:pt>
                <c:pt idx="7">
                  <c:v>0.62666666666666671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AB6-4B24-A9C0-8F37A96F5FA4}"/>
            </c:ext>
          </c:extLst>
        </c:ser>
        <c:ser>
          <c:idx val="1"/>
          <c:order val="1"/>
          <c:tx>
            <c:strRef>
              <c:f>FPY_Summary!$D$49</c:f>
              <c:strCache>
                <c:ptCount val="1"/>
                <c:pt idx="0">
                  <c:v>Target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multiLvlStrRef>
              <c:f>FPY_Summary!$B$50:$B$59</c:f>
              <c:multiLvlStrCache>
                <c:ptCount val="8"/>
                <c:lvl>
                  <c:pt idx="0">
                    <c:v>18</c:v>
                  </c:pt>
                  <c:pt idx="1">
                    <c:v>19</c:v>
                  </c:pt>
                  <c:pt idx="2">
                    <c:v>20</c:v>
                  </c:pt>
                  <c:pt idx="3">
                    <c:v>21</c:v>
                  </c:pt>
                  <c:pt idx="4">
                    <c:v>22</c:v>
                  </c:pt>
                  <c:pt idx="5">
                    <c:v>23</c:v>
                  </c:pt>
                  <c:pt idx="6">
                    <c:v>24</c:v>
                  </c:pt>
                  <c:pt idx="7">
                    <c:v>25</c:v>
                  </c:pt>
                </c:lvl>
                <c:lvl>
                  <c:pt idx="0">
                    <c:v>2026</c:v>
                  </c:pt>
                </c:lvl>
              </c:multiLvlStrCache>
            </c:multiLvlStrRef>
          </c:cat>
          <c:val>
            <c:numRef>
              <c:f>FPY_Summary!$D$50:$D$59</c:f>
              <c:numCache>
                <c:formatCode>0%</c:formatCode>
                <c:ptCount val="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AB6-4B24-A9C0-8F37A96F5FA4}"/>
            </c:ext>
          </c:extLst>
        </c:ser>
        <c:ser>
          <c:idx val="2"/>
          <c:order val="2"/>
          <c:tx>
            <c:strRef>
              <c:f>FPY_Summary!$E$49</c:f>
              <c:strCache>
                <c:ptCount val="1"/>
                <c:pt idx="0">
                  <c:v>Escalation</c:v>
                </c:pt>
              </c:strCache>
            </c:strRef>
          </c:tx>
          <c:spPr>
            <a:ln w="28575" cap="rnd">
              <a:solidFill>
                <a:srgbClr val="FF0000"/>
              </a:solidFill>
              <a:prstDash val="sysDash"/>
              <a:round/>
            </a:ln>
            <a:effectLst/>
          </c:spPr>
          <c:marker>
            <c:symbol val="none"/>
          </c:marker>
          <c:cat>
            <c:multiLvlStrRef>
              <c:f>FPY_Summary!$B$50:$B$59</c:f>
              <c:multiLvlStrCache>
                <c:ptCount val="8"/>
                <c:lvl>
                  <c:pt idx="0">
                    <c:v>18</c:v>
                  </c:pt>
                  <c:pt idx="1">
                    <c:v>19</c:v>
                  </c:pt>
                  <c:pt idx="2">
                    <c:v>20</c:v>
                  </c:pt>
                  <c:pt idx="3">
                    <c:v>21</c:v>
                  </c:pt>
                  <c:pt idx="4">
                    <c:v>22</c:v>
                  </c:pt>
                  <c:pt idx="5">
                    <c:v>23</c:v>
                  </c:pt>
                  <c:pt idx="6">
                    <c:v>24</c:v>
                  </c:pt>
                  <c:pt idx="7">
                    <c:v>25</c:v>
                  </c:pt>
                </c:lvl>
                <c:lvl>
                  <c:pt idx="0">
                    <c:v>2026</c:v>
                  </c:pt>
                </c:lvl>
              </c:multiLvlStrCache>
            </c:multiLvlStrRef>
          </c:cat>
          <c:val>
            <c:numRef>
              <c:f>FPY_Summary!$E$50:$E$59</c:f>
              <c:numCache>
                <c:formatCode>0%</c:formatCode>
                <c:ptCount val="8"/>
                <c:pt idx="0">
                  <c:v>0.97</c:v>
                </c:pt>
                <c:pt idx="1">
                  <c:v>0.97</c:v>
                </c:pt>
                <c:pt idx="2">
                  <c:v>0.97</c:v>
                </c:pt>
                <c:pt idx="3">
                  <c:v>0.97</c:v>
                </c:pt>
                <c:pt idx="4">
                  <c:v>0.97</c:v>
                </c:pt>
                <c:pt idx="5">
                  <c:v>0.97</c:v>
                </c:pt>
                <c:pt idx="6">
                  <c:v>0.97</c:v>
                </c:pt>
                <c:pt idx="7">
                  <c:v>0.97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AB6-4B24-A9C0-8F37A96F5F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1444800"/>
        <c:axId val="61445280"/>
      </c:lineChart>
      <c:catAx>
        <c:axId val="6144480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r>
                  <a:rPr lang="en-US"/>
                  <a:t>Work Week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pPr>
            <a:endParaRPr lang="en-US"/>
          </a:p>
        </c:txPr>
        <c:crossAx val="61445280"/>
        <c:crosses val="autoZero"/>
        <c:auto val="1"/>
        <c:lblAlgn val="ctr"/>
        <c:lblOffset val="100"/>
        <c:noMultiLvlLbl val="0"/>
      </c:catAx>
      <c:valAx>
        <c:axId val="61445280"/>
        <c:scaling>
          <c:orientation val="minMax"/>
          <c:max val="1.1000000000000001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r>
                  <a:rPr lang="en-US"/>
                  <a:t>First Pass Yield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</c:title>
        <c:numFmt formatCode="0%" sourceLinked="1"/>
        <c:majorTickMark val="cross"/>
        <c:minorTickMark val="none"/>
        <c:tickLblPos val="nextTo"/>
        <c:spPr>
          <a:noFill/>
          <a:ln>
            <a:solidFill>
              <a:schemeClr val="bg1">
                <a:lumMod val="8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pPr>
            <a:endParaRPr lang="en-US"/>
          </a:p>
        </c:txPr>
        <c:crossAx val="61444800"/>
        <c:crosses val="autoZero"/>
        <c:crossBetween val="between"/>
      </c:valAx>
      <c:valAx>
        <c:axId val="42121360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bg1">
                        <a:lumMod val="65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r>
                  <a:rPr lang="en-US"/>
                  <a:t>Volume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</c:title>
        <c:numFmt formatCode="#,##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pPr>
            <a:endParaRPr lang="en-US"/>
          </a:p>
        </c:txPr>
        <c:crossAx val="42121840"/>
        <c:crosses val="max"/>
        <c:crossBetween val="between"/>
      </c:valAx>
      <c:catAx>
        <c:axId val="421218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2121360"/>
        <c:crosses val="autoZero"/>
        <c:auto val="1"/>
        <c:lblAlgn val="ctr"/>
        <c:lblOffset val="100"/>
        <c:noMultiLvlLbl val="0"/>
      </c:catAx>
      <c:spPr>
        <a:noFill/>
        <a:ln>
          <a:solidFill>
            <a:schemeClr val="bg1">
              <a:lumMod val="85000"/>
            </a:schemeClr>
          </a:solidFill>
        </a:ln>
        <a:effectLst/>
      </c:spPr>
    </c:plotArea>
    <c:plotVisOnly val="1"/>
    <c:dispBlanksAs val="span"/>
    <c:showDLblsOverMax val="0"/>
    <c:extLst/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 sz="1600" b="1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[Chart in Microsoft PowerPoint]QA-BRS_FPY_Pareto!FPY</c:name>
    <c:fmtId val="27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1" i="0" u="none" strike="noStrike" kern="1200" spc="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pPr>
            <a:r>
              <a:rPr lang="en-US"/>
              <a:t>SPWR DIRECT, SCV FIRST PASS YIELD, CORP. QA AUDIT</a:t>
            </a:r>
          </a:p>
          <a:p>
            <a:pPr>
              <a:defRPr sz="2800"/>
            </a:pPr>
            <a:r>
              <a:rPr lang="en-US"/>
              <a:t>FPY TARGET = 100%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1" i="0" u="none" strike="noStrike" kern="1200" spc="0" baseline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8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8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3"/>
          <c:order val="3"/>
          <c:tx>
            <c:strRef>
              <c:f>'QA-BRS_FPY_Pareto'!$F$41</c:f>
              <c:strCache>
                <c:ptCount val="1"/>
                <c:pt idx="0">
                  <c:v>Volume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bg1">
                        <a:lumMod val="65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'QA-BRS_FPY_Pareto'!$B$42:$B$67</c:f>
              <c:multiLvlStrCache>
                <c:ptCount val="24"/>
                <c:lvl>
                  <c:pt idx="0">
                    <c:v>02</c:v>
                  </c:pt>
                  <c:pt idx="1">
                    <c:v>03</c:v>
                  </c:pt>
                  <c:pt idx="2">
                    <c:v>04</c:v>
                  </c:pt>
                  <c:pt idx="3">
                    <c:v>05</c:v>
                  </c:pt>
                  <c:pt idx="4">
                    <c:v>06</c:v>
                  </c:pt>
                  <c:pt idx="5">
                    <c:v>07</c:v>
                  </c:pt>
                  <c:pt idx="6">
                    <c:v>08</c:v>
                  </c:pt>
                  <c:pt idx="7">
                    <c:v>09</c:v>
                  </c:pt>
                  <c:pt idx="8">
                    <c:v>10</c:v>
                  </c:pt>
                  <c:pt idx="9">
                    <c:v>11</c:v>
                  </c:pt>
                  <c:pt idx="10">
                    <c:v>12</c:v>
                  </c:pt>
                  <c:pt idx="11">
                    <c:v>13</c:v>
                  </c:pt>
                  <c:pt idx="12">
                    <c:v>14</c:v>
                  </c:pt>
                  <c:pt idx="13">
                    <c:v>15</c:v>
                  </c:pt>
                  <c:pt idx="14">
                    <c:v>16</c:v>
                  </c:pt>
                  <c:pt idx="15">
                    <c:v>17*</c:v>
                  </c:pt>
                  <c:pt idx="16">
                    <c:v>18</c:v>
                  </c:pt>
                  <c:pt idx="17">
                    <c:v>19</c:v>
                  </c:pt>
                  <c:pt idx="18">
                    <c:v>20</c:v>
                  </c:pt>
                  <c:pt idx="19">
                    <c:v>21</c:v>
                  </c:pt>
                  <c:pt idx="20">
                    <c:v>22</c:v>
                  </c:pt>
                  <c:pt idx="21">
                    <c:v>23*</c:v>
                  </c:pt>
                  <c:pt idx="22">
                    <c:v>24</c:v>
                  </c:pt>
                  <c:pt idx="23">
                    <c:v>25</c:v>
                  </c:pt>
                </c:lvl>
                <c:lvl>
                  <c:pt idx="0">
                    <c:v>2026</c:v>
                  </c:pt>
                </c:lvl>
              </c:multiLvlStrCache>
            </c:multiLvlStrRef>
          </c:cat>
          <c:val>
            <c:numRef>
              <c:f>'QA-BRS_FPY_Pareto'!$F$42:$F$67</c:f>
              <c:numCache>
                <c:formatCode>General</c:formatCode>
                <c:ptCount val="24"/>
                <c:pt idx="0">
                  <c:v>37</c:v>
                </c:pt>
                <c:pt idx="1">
                  <c:v>19</c:v>
                </c:pt>
                <c:pt idx="2">
                  <c:v>27</c:v>
                </c:pt>
                <c:pt idx="3">
                  <c:v>19</c:v>
                </c:pt>
                <c:pt idx="4">
                  <c:v>30</c:v>
                </c:pt>
                <c:pt idx="5">
                  <c:v>21</c:v>
                </c:pt>
                <c:pt idx="6">
                  <c:v>11</c:v>
                </c:pt>
                <c:pt idx="7">
                  <c:v>7</c:v>
                </c:pt>
                <c:pt idx="8">
                  <c:v>15</c:v>
                </c:pt>
                <c:pt idx="9">
                  <c:v>18</c:v>
                </c:pt>
                <c:pt idx="10">
                  <c:v>16</c:v>
                </c:pt>
                <c:pt idx="11">
                  <c:v>20</c:v>
                </c:pt>
                <c:pt idx="12">
                  <c:v>20</c:v>
                </c:pt>
                <c:pt idx="13">
                  <c:v>17</c:v>
                </c:pt>
                <c:pt idx="14">
                  <c:v>17</c:v>
                </c:pt>
                <c:pt idx="15">
                  <c:v>16</c:v>
                </c:pt>
                <c:pt idx="16">
                  <c:v>20</c:v>
                </c:pt>
                <c:pt idx="17">
                  <c:v>15</c:v>
                </c:pt>
                <c:pt idx="18">
                  <c:v>20</c:v>
                </c:pt>
                <c:pt idx="19">
                  <c:v>16</c:v>
                </c:pt>
                <c:pt idx="20">
                  <c:v>10</c:v>
                </c:pt>
                <c:pt idx="21">
                  <c:v>16</c:v>
                </c:pt>
                <c:pt idx="22">
                  <c:v>22</c:v>
                </c:pt>
                <c:pt idx="23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B6-4B24-A9C0-8F37A96F5F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42121840"/>
        <c:axId val="42121360"/>
      </c:barChart>
      <c:lineChart>
        <c:grouping val="standard"/>
        <c:varyColors val="0"/>
        <c:ser>
          <c:idx val="0"/>
          <c:order val="0"/>
          <c:tx>
            <c:strRef>
              <c:f>'QA-BRS_FPY_Pareto'!$C$41</c:f>
              <c:strCache>
                <c:ptCount val="1"/>
                <c:pt idx="0">
                  <c:v>FPY</c:v>
                </c:pt>
              </c:strCache>
            </c:strRef>
          </c:tx>
          <c:spPr>
            <a:ln w="38100" cap="rnd">
              <a:solidFill>
                <a:schemeClr val="tx2">
                  <a:lumMod val="90000"/>
                  <a:lumOff val="10000"/>
                </a:schemeClr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chemeClr val="tx2">
                  <a:lumMod val="90000"/>
                  <a:lumOff val="10000"/>
                </a:schemeClr>
              </a:solidFill>
              <a:ln w="9525">
                <a:noFill/>
              </a:ln>
              <a:effectLst/>
            </c:spPr>
          </c:marker>
          <c:dLbls>
            <c:dLbl>
              <c:idx val="7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8AB9-4763-815C-D25068B4068F}"/>
                </c:ext>
              </c:extLst>
            </c:dLbl>
            <c:dLbl>
              <c:idx val="8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8AB9-4763-815C-D25068B4068F}"/>
                </c:ext>
              </c:extLst>
            </c:dLbl>
            <c:dLbl>
              <c:idx val="1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8AB9-4763-815C-D25068B4068F}"/>
                </c:ext>
              </c:extLst>
            </c:dLbl>
            <c:dLbl>
              <c:idx val="11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8AB9-4763-815C-D25068B4068F}"/>
                </c:ext>
              </c:extLst>
            </c:dLbl>
            <c:dLbl>
              <c:idx val="12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8AB9-4763-815C-D25068B4068F}"/>
                </c:ext>
              </c:extLst>
            </c:dLbl>
            <c:dLbl>
              <c:idx val="13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8AB9-4763-815C-D25068B4068F}"/>
                </c:ext>
              </c:extLst>
            </c:dLbl>
            <c:dLbl>
              <c:idx val="14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8AB9-4763-815C-D25068B4068F}"/>
                </c:ext>
              </c:extLst>
            </c:dLbl>
            <c:dLbl>
              <c:idx val="15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8AB9-4763-815C-D25068B4068F}"/>
                </c:ext>
              </c:extLst>
            </c:dLbl>
            <c:dLbl>
              <c:idx val="16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8AB9-4763-815C-D25068B4068F}"/>
                </c:ext>
              </c:extLst>
            </c:dLbl>
            <c:dLbl>
              <c:idx val="17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8AB9-4763-815C-D25068B4068F}"/>
                </c:ext>
              </c:extLst>
            </c:dLbl>
            <c:dLbl>
              <c:idx val="19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8AB9-4763-815C-D25068B4068F}"/>
                </c:ext>
              </c:extLst>
            </c:dLbl>
            <c:dLbl>
              <c:idx val="2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8AB9-4763-815C-D25068B4068F}"/>
                </c:ext>
              </c:extLst>
            </c:dLbl>
            <c:dLbl>
              <c:idx val="21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8AB9-4763-815C-D25068B4068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'QA-BRS_FPY_Pareto'!$B$42:$B$67</c:f>
              <c:multiLvlStrCache>
                <c:ptCount val="24"/>
                <c:lvl>
                  <c:pt idx="0">
                    <c:v>02</c:v>
                  </c:pt>
                  <c:pt idx="1">
                    <c:v>03</c:v>
                  </c:pt>
                  <c:pt idx="2">
                    <c:v>04</c:v>
                  </c:pt>
                  <c:pt idx="3">
                    <c:v>05</c:v>
                  </c:pt>
                  <c:pt idx="4">
                    <c:v>06</c:v>
                  </c:pt>
                  <c:pt idx="5">
                    <c:v>07</c:v>
                  </c:pt>
                  <c:pt idx="6">
                    <c:v>08</c:v>
                  </c:pt>
                  <c:pt idx="7">
                    <c:v>09</c:v>
                  </c:pt>
                  <c:pt idx="8">
                    <c:v>10</c:v>
                  </c:pt>
                  <c:pt idx="9">
                    <c:v>11</c:v>
                  </c:pt>
                  <c:pt idx="10">
                    <c:v>12</c:v>
                  </c:pt>
                  <c:pt idx="11">
                    <c:v>13</c:v>
                  </c:pt>
                  <c:pt idx="12">
                    <c:v>14</c:v>
                  </c:pt>
                  <c:pt idx="13">
                    <c:v>15</c:v>
                  </c:pt>
                  <c:pt idx="14">
                    <c:v>16</c:v>
                  </c:pt>
                  <c:pt idx="15">
                    <c:v>17*</c:v>
                  </c:pt>
                  <c:pt idx="16">
                    <c:v>18</c:v>
                  </c:pt>
                  <c:pt idx="17">
                    <c:v>19</c:v>
                  </c:pt>
                  <c:pt idx="18">
                    <c:v>20</c:v>
                  </c:pt>
                  <c:pt idx="19">
                    <c:v>21</c:v>
                  </c:pt>
                  <c:pt idx="20">
                    <c:v>22</c:v>
                  </c:pt>
                  <c:pt idx="21">
                    <c:v>23*</c:v>
                  </c:pt>
                  <c:pt idx="22">
                    <c:v>24</c:v>
                  </c:pt>
                  <c:pt idx="23">
                    <c:v>25</c:v>
                  </c:pt>
                </c:lvl>
                <c:lvl>
                  <c:pt idx="0">
                    <c:v>2026</c:v>
                  </c:pt>
                </c:lvl>
              </c:multiLvlStrCache>
            </c:multiLvlStrRef>
          </c:cat>
          <c:val>
            <c:numRef>
              <c:f>'QA-BRS_FPY_Pareto'!$C$42:$C$67</c:f>
              <c:numCache>
                <c:formatCode>0%</c:formatCode>
                <c:ptCount val="24"/>
                <c:pt idx="0">
                  <c:v>0.72972972972972971</c:v>
                </c:pt>
                <c:pt idx="1">
                  <c:v>0.78947368421052633</c:v>
                </c:pt>
                <c:pt idx="2">
                  <c:v>0.77777777777777779</c:v>
                </c:pt>
                <c:pt idx="3">
                  <c:v>0.84210526315789469</c:v>
                </c:pt>
                <c:pt idx="4">
                  <c:v>0.93333333333333335</c:v>
                </c:pt>
                <c:pt idx="5">
                  <c:v>0.95238095238095233</c:v>
                </c:pt>
                <c:pt idx="6">
                  <c:v>0.90909090909090906</c:v>
                </c:pt>
                <c:pt idx="7">
                  <c:v>1</c:v>
                </c:pt>
                <c:pt idx="8">
                  <c:v>1</c:v>
                </c:pt>
                <c:pt idx="9">
                  <c:v>0.94444444444444442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0.95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0.86363636363636365</c:v>
                </c:pt>
                <c:pt idx="23">
                  <c:v>0.7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AB6-4B24-A9C0-8F37A96F5FA4}"/>
            </c:ext>
          </c:extLst>
        </c:ser>
        <c:ser>
          <c:idx val="1"/>
          <c:order val="1"/>
          <c:tx>
            <c:strRef>
              <c:f>'QA-BRS_FPY_Pareto'!$D$41</c:f>
              <c:strCache>
                <c:ptCount val="1"/>
                <c:pt idx="0">
                  <c:v>Target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multiLvlStrRef>
              <c:f>'QA-BRS_FPY_Pareto'!$B$42:$B$67</c:f>
              <c:multiLvlStrCache>
                <c:ptCount val="24"/>
                <c:lvl>
                  <c:pt idx="0">
                    <c:v>02</c:v>
                  </c:pt>
                  <c:pt idx="1">
                    <c:v>03</c:v>
                  </c:pt>
                  <c:pt idx="2">
                    <c:v>04</c:v>
                  </c:pt>
                  <c:pt idx="3">
                    <c:v>05</c:v>
                  </c:pt>
                  <c:pt idx="4">
                    <c:v>06</c:v>
                  </c:pt>
                  <c:pt idx="5">
                    <c:v>07</c:v>
                  </c:pt>
                  <c:pt idx="6">
                    <c:v>08</c:v>
                  </c:pt>
                  <c:pt idx="7">
                    <c:v>09</c:v>
                  </c:pt>
                  <c:pt idx="8">
                    <c:v>10</c:v>
                  </c:pt>
                  <c:pt idx="9">
                    <c:v>11</c:v>
                  </c:pt>
                  <c:pt idx="10">
                    <c:v>12</c:v>
                  </c:pt>
                  <c:pt idx="11">
                    <c:v>13</c:v>
                  </c:pt>
                  <c:pt idx="12">
                    <c:v>14</c:v>
                  </c:pt>
                  <c:pt idx="13">
                    <c:v>15</c:v>
                  </c:pt>
                  <c:pt idx="14">
                    <c:v>16</c:v>
                  </c:pt>
                  <c:pt idx="15">
                    <c:v>17*</c:v>
                  </c:pt>
                  <c:pt idx="16">
                    <c:v>18</c:v>
                  </c:pt>
                  <c:pt idx="17">
                    <c:v>19</c:v>
                  </c:pt>
                  <c:pt idx="18">
                    <c:v>20</c:v>
                  </c:pt>
                  <c:pt idx="19">
                    <c:v>21</c:v>
                  </c:pt>
                  <c:pt idx="20">
                    <c:v>22</c:v>
                  </c:pt>
                  <c:pt idx="21">
                    <c:v>23*</c:v>
                  </c:pt>
                  <c:pt idx="22">
                    <c:v>24</c:v>
                  </c:pt>
                  <c:pt idx="23">
                    <c:v>25</c:v>
                  </c:pt>
                </c:lvl>
                <c:lvl>
                  <c:pt idx="0">
                    <c:v>2026</c:v>
                  </c:pt>
                </c:lvl>
              </c:multiLvlStrCache>
            </c:multiLvlStrRef>
          </c:cat>
          <c:val>
            <c:numRef>
              <c:f>'QA-BRS_FPY_Pareto'!$D$42:$D$67</c:f>
              <c:numCache>
                <c:formatCode>0%</c:formatCode>
                <c:ptCount val="2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AB6-4B24-A9C0-8F37A96F5FA4}"/>
            </c:ext>
          </c:extLst>
        </c:ser>
        <c:ser>
          <c:idx val="2"/>
          <c:order val="2"/>
          <c:tx>
            <c:strRef>
              <c:f>'QA-BRS_FPY_Pareto'!$E$41</c:f>
              <c:strCache>
                <c:ptCount val="1"/>
                <c:pt idx="0">
                  <c:v>Escalation</c:v>
                </c:pt>
              </c:strCache>
            </c:strRef>
          </c:tx>
          <c:spPr>
            <a:ln w="28575" cap="rnd">
              <a:solidFill>
                <a:srgbClr val="FF0000"/>
              </a:solidFill>
              <a:prstDash val="sysDash"/>
              <a:round/>
            </a:ln>
            <a:effectLst/>
          </c:spPr>
          <c:marker>
            <c:symbol val="none"/>
          </c:marker>
          <c:cat>
            <c:multiLvlStrRef>
              <c:f>'QA-BRS_FPY_Pareto'!$B$42:$B$67</c:f>
              <c:multiLvlStrCache>
                <c:ptCount val="24"/>
                <c:lvl>
                  <c:pt idx="0">
                    <c:v>02</c:v>
                  </c:pt>
                  <c:pt idx="1">
                    <c:v>03</c:v>
                  </c:pt>
                  <c:pt idx="2">
                    <c:v>04</c:v>
                  </c:pt>
                  <c:pt idx="3">
                    <c:v>05</c:v>
                  </c:pt>
                  <c:pt idx="4">
                    <c:v>06</c:v>
                  </c:pt>
                  <c:pt idx="5">
                    <c:v>07</c:v>
                  </c:pt>
                  <c:pt idx="6">
                    <c:v>08</c:v>
                  </c:pt>
                  <c:pt idx="7">
                    <c:v>09</c:v>
                  </c:pt>
                  <c:pt idx="8">
                    <c:v>10</c:v>
                  </c:pt>
                  <c:pt idx="9">
                    <c:v>11</c:v>
                  </c:pt>
                  <c:pt idx="10">
                    <c:v>12</c:v>
                  </c:pt>
                  <c:pt idx="11">
                    <c:v>13</c:v>
                  </c:pt>
                  <c:pt idx="12">
                    <c:v>14</c:v>
                  </c:pt>
                  <c:pt idx="13">
                    <c:v>15</c:v>
                  </c:pt>
                  <c:pt idx="14">
                    <c:v>16</c:v>
                  </c:pt>
                  <c:pt idx="15">
                    <c:v>17*</c:v>
                  </c:pt>
                  <c:pt idx="16">
                    <c:v>18</c:v>
                  </c:pt>
                  <c:pt idx="17">
                    <c:v>19</c:v>
                  </c:pt>
                  <c:pt idx="18">
                    <c:v>20</c:v>
                  </c:pt>
                  <c:pt idx="19">
                    <c:v>21</c:v>
                  </c:pt>
                  <c:pt idx="20">
                    <c:v>22</c:v>
                  </c:pt>
                  <c:pt idx="21">
                    <c:v>23*</c:v>
                  </c:pt>
                  <c:pt idx="22">
                    <c:v>24</c:v>
                  </c:pt>
                  <c:pt idx="23">
                    <c:v>25</c:v>
                  </c:pt>
                </c:lvl>
                <c:lvl>
                  <c:pt idx="0">
                    <c:v>2026</c:v>
                  </c:pt>
                </c:lvl>
              </c:multiLvlStrCache>
            </c:multiLvlStrRef>
          </c:cat>
          <c:val>
            <c:numRef>
              <c:f>'QA-BRS_FPY_Pareto'!$E$42:$E$67</c:f>
              <c:numCache>
                <c:formatCode>0%</c:formatCode>
                <c:ptCount val="24"/>
                <c:pt idx="0">
                  <c:v>0.97</c:v>
                </c:pt>
                <c:pt idx="1">
                  <c:v>0.97</c:v>
                </c:pt>
                <c:pt idx="2">
                  <c:v>0.97</c:v>
                </c:pt>
                <c:pt idx="3">
                  <c:v>0.97</c:v>
                </c:pt>
                <c:pt idx="4">
                  <c:v>0.97</c:v>
                </c:pt>
                <c:pt idx="5">
                  <c:v>0.97</c:v>
                </c:pt>
                <c:pt idx="6">
                  <c:v>0.97</c:v>
                </c:pt>
                <c:pt idx="7">
                  <c:v>0.97</c:v>
                </c:pt>
                <c:pt idx="8">
                  <c:v>0.97</c:v>
                </c:pt>
                <c:pt idx="9">
                  <c:v>0.97</c:v>
                </c:pt>
                <c:pt idx="10">
                  <c:v>0.97</c:v>
                </c:pt>
                <c:pt idx="11">
                  <c:v>0.97</c:v>
                </c:pt>
                <c:pt idx="12">
                  <c:v>0.97</c:v>
                </c:pt>
                <c:pt idx="13">
                  <c:v>0.97</c:v>
                </c:pt>
                <c:pt idx="14">
                  <c:v>0.97</c:v>
                </c:pt>
                <c:pt idx="15">
                  <c:v>0.97</c:v>
                </c:pt>
                <c:pt idx="16">
                  <c:v>0.97</c:v>
                </c:pt>
                <c:pt idx="17">
                  <c:v>0.97</c:v>
                </c:pt>
                <c:pt idx="18">
                  <c:v>0.97</c:v>
                </c:pt>
                <c:pt idx="19">
                  <c:v>0.97</c:v>
                </c:pt>
                <c:pt idx="20">
                  <c:v>0.97</c:v>
                </c:pt>
                <c:pt idx="21">
                  <c:v>0.97</c:v>
                </c:pt>
                <c:pt idx="22">
                  <c:v>0.97</c:v>
                </c:pt>
                <c:pt idx="23">
                  <c:v>0.97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AB6-4B24-A9C0-8F37A96F5F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1444800"/>
        <c:axId val="61445280"/>
      </c:lineChart>
      <c:catAx>
        <c:axId val="6144480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r>
                  <a:rPr lang="en-US"/>
                  <a:t>Work Week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pPr>
            <a:endParaRPr lang="en-US"/>
          </a:p>
        </c:txPr>
        <c:crossAx val="61445280"/>
        <c:crosses val="autoZero"/>
        <c:auto val="1"/>
        <c:lblAlgn val="ctr"/>
        <c:lblOffset val="100"/>
        <c:noMultiLvlLbl val="0"/>
      </c:catAx>
      <c:valAx>
        <c:axId val="61445280"/>
        <c:scaling>
          <c:orientation val="minMax"/>
          <c:max val="1.1000000000000001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r>
                  <a:rPr lang="en-US"/>
                  <a:t>First Pass Yield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</c:title>
        <c:numFmt formatCode="0%" sourceLinked="1"/>
        <c:majorTickMark val="cross"/>
        <c:minorTickMark val="none"/>
        <c:tickLblPos val="nextTo"/>
        <c:spPr>
          <a:noFill/>
          <a:ln>
            <a:solidFill>
              <a:schemeClr val="bg1">
                <a:lumMod val="8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pPr>
            <a:endParaRPr lang="en-US"/>
          </a:p>
        </c:txPr>
        <c:crossAx val="61444800"/>
        <c:crosses val="autoZero"/>
        <c:crossBetween val="between"/>
      </c:valAx>
      <c:valAx>
        <c:axId val="42121360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bg1">
                        <a:lumMod val="65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r>
                  <a:rPr lang="en-US"/>
                  <a:t>Volume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pPr>
            <a:endParaRPr lang="en-US"/>
          </a:p>
        </c:txPr>
        <c:crossAx val="42121840"/>
        <c:crosses val="max"/>
        <c:crossBetween val="between"/>
      </c:valAx>
      <c:catAx>
        <c:axId val="421218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2121360"/>
        <c:crosses val="autoZero"/>
        <c:auto val="1"/>
        <c:lblAlgn val="ctr"/>
        <c:lblOffset val="100"/>
        <c:noMultiLvlLbl val="0"/>
      </c:catAx>
      <c:spPr>
        <a:noFill/>
        <a:ln>
          <a:solidFill>
            <a:schemeClr val="bg1">
              <a:lumMod val="85000"/>
            </a:schemeClr>
          </a:solidFill>
        </a:ln>
        <a:effectLst/>
      </c:spPr>
    </c:plotArea>
    <c:plotVisOnly val="1"/>
    <c:dispBlanksAs val="span"/>
    <c:showDLblsOverMax val="0"/>
    <c:extLst/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 sz="1600" b="1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[Chart in Microsoft PowerPoint]SPD_LR_FPY!spd_m1_fpy</c:name>
    <c:fmtId val="25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1" i="0" u="none" strike="noStrike" kern="1200" spc="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pPr>
            <a:r>
              <a:rPr lang="en-US" dirty="0"/>
              <a:t>SPWR DIRECT FPY M1 SUBMISSION TO CORPORATE QA</a:t>
            </a:r>
          </a:p>
          <a:p>
            <a:pPr>
              <a:defRPr sz="2800"/>
            </a:pPr>
            <a:r>
              <a:rPr lang="en-US" dirty="0"/>
              <a:t>FPY TARGET = 100%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1" i="0" u="none" strike="noStrike" kern="1200" spc="0" baseline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8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8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3"/>
          <c:order val="3"/>
          <c:tx>
            <c:strRef>
              <c:f>SPD_LR_FPY!$F$39</c:f>
              <c:strCache>
                <c:ptCount val="1"/>
                <c:pt idx="0">
                  <c:v>N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bg1">
                        <a:lumMod val="65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SPD_LR_FPY!$B$40:$B$49</c:f>
              <c:multiLvlStrCache>
                <c:ptCount val="8"/>
                <c:lvl>
                  <c:pt idx="0">
                    <c:v>18</c:v>
                  </c:pt>
                  <c:pt idx="1">
                    <c:v>19</c:v>
                  </c:pt>
                  <c:pt idx="2">
                    <c:v>20</c:v>
                  </c:pt>
                  <c:pt idx="3">
                    <c:v>21</c:v>
                  </c:pt>
                  <c:pt idx="4">
                    <c:v>22</c:v>
                  </c:pt>
                  <c:pt idx="5">
                    <c:v>23</c:v>
                  </c:pt>
                  <c:pt idx="6">
                    <c:v>24</c:v>
                  </c:pt>
                  <c:pt idx="7">
                    <c:v>25</c:v>
                  </c:pt>
                </c:lvl>
                <c:lvl>
                  <c:pt idx="0">
                    <c:v>2026</c:v>
                  </c:pt>
                </c:lvl>
              </c:multiLvlStrCache>
            </c:multiLvlStrRef>
          </c:cat>
          <c:val>
            <c:numRef>
              <c:f>SPD_LR_FPY!$F$40:$F$49</c:f>
              <c:numCache>
                <c:formatCode>0</c:formatCode>
                <c:ptCount val="8"/>
                <c:pt idx="0">
                  <c:v>44</c:v>
                </c:pt>
                <c:pt idx="1">
                  <c:v>57</c:v>
                </c:pt>
                <c:pt idx="2">
                  <c:v>45</c:v>
                </c:pt>
                <c:pt idx="3">
                  <c:v>18</c:v>
                </c:pt>
                <c:pt idx="4">
                  <c:v>27</c:v>
                </c:pt>
                <c:pt idx="5">
                  <c:v>32</c:v>
                </c:pt>
                <c:pt idx="6">
                  <c:v>41</c:v>
                </c:pt>
                <c:pt idx="7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B6-4B24-A9C0-8F37A96F5F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42121840"/>
        <c:axId val="42121360"/>
      </c:barChart>
      <c:lineChart>
        <c:grouping val="standard"/>
        <c:varyColors val="0"/>
        <c:ser>
          <c:idx val="0"/>
          <c:order val="0"/>
          <c:tx>
            <c:strRef>
              <c:f>SPD_LR_FPY!$C$39</c:f>
              <c:strCache>
                <c:ptCount val="1"/>
                <c:pt idx="0">
                  <c:v>FPY</c:v>
                </c:pt>
              </c:strCache>
            </c:strRef>
          </c:tx>
          <c:spPr>
            <a:ln w="38100" cap="rnd">
              <a:solidFill>
                <a:schemeClr val="tx2">
                  <a:lumMod val="90000"/>
                  <a:lumOff val="10000"/>
                </a:schemeClr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chemeClr val="tx2">
                  <a:lumMod val="90000"/>
                  <a:lumOff val="10000"/>
                </a:schemeClr>
              </a:solidFill>
              <a:ln w="9525">
                <a:noFill/>
              </a:ln>
              <a:effectLst/>
            </c:spPr>
          </c:marker>
          <c:dLbls>
            <c:dLbl>
              <c:idx val="4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2F1A-4C92-BCE8-7FD42AB951E8}"/>
                </c:ext>
              </c:extLst>
            </c:dLbl>
            <c:dLbl>
              <c:idx val="5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2F1A-4C92-BCE8-7FD42AB951E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SPD_LR_FPY!$B$40:$B$49</c:f>
              <c:multiLvlStrCache>
                <c:ptCount val="8"/>
                <c:lvl>
                  <c:pt idx="0">
                    <c:v>18</c:v>
                  </c:pt>
                  <c:pt idx="1">
                    <c:v>19</c:v>
                  </c:pt>
                  <c:pt idx="2">
                    <c:v>20</c:v>
                  </c:pt>
                  <c:pt idx="3">
                    <c:v>21</c:v>
                  </c:pt>
                  <c:pt idx="4">
                    <c:v>22</c:v>
                  </c:pt>
                  <c:pt idx="5">
                    <c:v>23</c:v>
                  </c:pt>
                  <c:pt idx="6">
                    <c:v>24</c:v>
                  </c:pt>
                  <c:pt idx="7">
                    <c:v>25</c:v>
                  </c:pt>
                </c:lvl>
                <c:lvl>
                  <c:pt idx="0">
                    <c:v>2026</c:v>
                  </c:pt>
                </c:lvl>
              </c:multiLvlStrCache>
            </c:multiLvlStrRef>
          </c:cat>
          <c:val>
            <c:numRef>
              <c:f>SPD_LR_FPY!$C$40:$C$49</c:f>
              <c:numCache>
                <c:formatCode>0%</c:formatCode>
                <c:ptCount val="8"/>
                <c:pt idx="0">
                  <c:v>0.63636363636363635</c:v>
                </c:pt>
                <c:pt idx="1">
                  <c:v>0.70175438596491224</c:v>
                </c:pt>
                <c:pt idx="2">
                  <c:v>0.68888888888888888</c:v>
                </c:pt>
                <c:pt idx="3">
                  <c:v>0.88888888888888884</c:v>
                </c:pt>
                <c:pt idx="4">
                  <c:v>1</c:v>
                </c:pt>
                <c:pt idx="5">
                  <c:v>1</c:v>
                </c:pt>
                <c:pt idx="6">
                  <c:v>0.90243902439024393</c:v>
                </c:pt>
                <c:pt idx="7">
                  <c:v>0.96969696969696972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AB6-4B24-A9C0-8F37A96F5FA4}"/>
            </c:ext>
          </c:extLst>
        </c:ser>
        <c:ser>
          <c:idx val="1"/>
          <c:order val="1"/>
          <c:tx>
            <c:strRef>
              <c:f>SPD_LR_FPY!$D$39</c:f>
              <c:strCache>
                <c:ptCount val="1"/>
                <c:pt idx="0">
                  <c:v>Target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multiLvlStrRef>
              <c:f>SPD_LR_FPY!$B$40:$B$49</c:f>
              <c:multiLvlStrCache>
                <c:ptCount val="8"/>
                <c:lvl>
                  <c:pt idx="0">
                    <c:v>18</c:v>
                  </c:pt>
                  <c:pt idx="1">
                    <c:v>19</c:v>
                  </c:pt>
                  <c:pt idx="2">
                    <c:v>20</c:v>
                  </c:pt>
                  <c:pt idx="3">
                    <c:v>21</c:v>
                  </c:pt>
                  <c:pt idx="4">
                    <c:v>22</c:v>
                  </c:pt>
                  <c:pt idx="5">
                    <c:v>23</c:v>
                  </c:pt>
                  <c:pt idx="6">
                    <c:v>24</c:v>
                  </c:pt>
                  <c:pt idx="7">
                    <c:v>25</c:v>
                  </c:pt>
                </c:lvl>
                <c:lvl>
                  <c:pt idx="0">
                    <c:v>2026</c:v>
                  </c:pt>
                </c:lvl>
              </c:multiLvlStrCache>
            </c:multiLvlStrRef>
          </c:cat>
          <c:val>
            <c:numRef>
              <c:f>SPD_LR_FPY!$D$40:$D$49</c:f>
              <c:numCache>
                <c:formatCode>0%</c:formatCode>
                <c:ptCount val="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AB6-4B24-A9C0-8F37A96F5FA4}"/>
            </c:ext>
          </c:extLst>
        </c:ser>
        <c:ser>
          <c:idx val="2"/>
          <c:order val="2"/>
          <c:tx>
            <c:strRef>
              <c:f>SPD_LR_FPY!$E$39</c:f>
              <c:strCache>
                <c:ptCount val="1"/>
                <c:pt idx="0">
                  <c:v>Escalation</c:v>
                </c:pt>
              </c:strCache>
            </c:strRef>
          </c:tx>
          <c:spPr>
            <a:ln w="28575" cap="rnd">
              <a:solidFill>
                <a:srgbClr val="FF0000"/>
              </a:solidFill>
              <a:prstDash val="sysDash"/>
              <a:round/>
            </a:ln>
            <a:effectLst/>
          </c:spPr>
          <c:marker>
            <c:symbol val="none"/>
          </c:marker>
          <c:cat>
            <c:multiLvlStrRef>
              <c:f>SPD_LR_FPY!$B$40:$B$49</c:f>
              <c:multiLvlStrCache>
                <c:ptCount val="8"/>
                <c:lvl>
                  <c:pt idx="0">
                    <c:v>18</c:v>
                  </c:pt>
                  <c:pt idx="1">
                    <c:v>19</c:v>
                  </c:pt>
                  <c:pt idx="2">
                    <c:v>20</c:v>
                  </c:pt>
                  <c:pt idx="3">
                    <c:v>21</c:v>
                  </c:pt>
                  <c:pt idx="4">
                    <c:v>22</c:v>
                  </c:pt>
                  <c:pt idx="5">
                    <c:v>23</c:v>
                  </c:pt>
                  <c:pt idx="6">
                    <c:v>24</c:v>
                  </c:pt>
                  <c:pt idx="7">
                    <c:v>25</c:v>
                  </c:pt>
                </c:lvl>
                <c:lvl>
                  <c:pt idx="0">
                    <c:v>2026</c:v>
                  </c:pt>
                </c:lvl>
              </c:multiLvlStrCache>
            </c:multiLvlStrRef>
          </c:cat>
          <c:val>
            <c:numRef>
              <c:f>SPD_LR_FPY!$E$40:$E$49</c:f>
              <c:numCache>
                <c:formatCode>0%</c:formatCode>
                <c:ptCount val="8"/>
                <c:pt idx="0">
                  <c:v>0.97</c:v>
                </c:pt>
                <c:pt idx="1">
                  <c:v>0.97</c:v>
                </c:pt>
                <c:pt idx="2">
                  <c:v>0.97</c:v>
                </c:pt>
                <c:pt idx="3">
                  <c:v>0.97</c:v>
                </c:pt>
                <c:pt idx="4">
                  <c:v>0.97</c:v>
                </c:pt>
                <c:pt idx="5">
                  <c:v>0.97</c:v>
                </c:pt>
                <c:pt idx="6">
                  <c:v>0.97</c:v>
                </c:pt>
                <c:pt idx="7">
                  <c:v>0.97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AB6-4B24-A9C0-8F37A96F5F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1444800"/>
        <c:axId val="61445280"/>
      </c:lineChart>
      <c:catAx>
        <c:axId val="6144480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r>
                  <a:rPr lang="en-US"/>
                  <a:t>Work Week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pPr>
            <a:endParaRPr lang="en-US"/>
          </a:p>
        </c:txPr>
        <c:crossAx val="61445280"/>
        <c:crosses val="autoZero"/>
        <c:auto val="1"/>
        <c:lblAlgn val="ctr"/>
        <c:lblOffset val="100"/>
        <c:noMultiLvlLbl val="0"/>
      </c:catAx>
      <c:valAx>
        <c:axId val="61445280"/>
        <c:scaling>
          <c:orientation val="minMax"/>
          <c:max val="1.1000000000000001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r>
                  <a:rPr lang="en-US"/>
                  <a:t>First Pass Yield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</c:title>
        <c:numFmt formatCode="0%" sourceLinked="1"/>
        <c:majorTickMark val="cross"/>
        <c:minorTickMark val="none"/>
        <c:tickLblPos val="nextTo"/>
        <c:spPr>
          <a:noFill/>
          <a:ln>
            <a:solidFill>
              <a:schemeClr val="bg1">
                <a:lumMod val="8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pPr>
            <a:endParaRPr lang="en-US"/>
          </a:p>
        </c:txPr>
        <c:crossAx val="61444800"/>
        <c:crosses val="autoZero"/>
        <c:crossBetween val="between"/>
      </c:valAx>
      <c:valAx>
        <c:axId val="42121360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bg1">
                        <a:lumMod val="65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r>
                  <a:rPr lang="en-US"/>
                  <a:t>Volume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</c:title>
        <c:numFmt formatCode="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pPr>
            <a:endParaRPr lang="en-US"/>
          </a:p>
        </c:txPr>
        <c:crossAx val="42121840"/>
        <c:crosses val="max"/>
        <c:crossBetween val="between"/>
      </c:valAx>
      <c:catAx>
        <c:axId val="421218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2121360"/>
        <c:crosses val="autoZero"/>
        <c:auto val="1"/>
        <c:lblAlgn val="ctr"/>
        <c:lblOffset val="100"/>
        <c:noMultiLvlLbl val="0"/>
      </c:catAx>
      <c:spPr>
        <a:noFill/>
        <a:ln>
          <a:solidFill>
            <a:schemeClr val="bg1">
              <a:lumMod val="85000"/>
            </a:schemeClr>
          </a:solidFill>
        </a:ln>
        <a:effectLst/>
      </c:spPr>
    </c:plotArea>
    <c:plotVisOnly val="1"/>
    <c:dispBlanksAs val="span"/>
    <c:showDLblsOverMax val="0"/>
    <c:extLst/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 sz="1600" b="1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[Chart in Microsoft PowerPoint]SPD_LR_FPY!spd_m1_fpy</c:name>
    <c:fmtId val="25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1" i="0" u="none" strike="noStrike" kern="1200" spc="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pPr>
            <a:r>
              <a:rPr lang="en-US"/>
              <a:t>SPWR DIRECT FPY M1 SUBMISSION TO CORPORATE QA</a:t>
            </a:r>
          </a:p>
          <a:p>
            <a:pPr>
              <a:defRPr sz="2800"/>
            </a:pPr>
            <a:r>
              <a:rPr lang="en-US"/>
              <a:t>FPY TARGET = 100%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1" i="0" u="none" strike="noStrike" kern="1200" spc="0" baseline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8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8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3"/>
          <c:order val="3"/>
          <c:tx>
            <c:strRef>
              <c:f>SPD_LR_FPY!$F$39</c:f>
              <c:strCache>
                <c:ptCount val="1"/>
                <c:pt idx="0">
                  <c:v>N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bg1">
                        <a:lumMod val="65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SPD_LR_FPY!$B$40:$B$54</c:f>
              <c:multiLvlStrCache>
                <c:ptCount val="12"/>
                <c:lvl>
                  <c:pt idx="7">
                    <c:v>1</c:v>
                  </c:pt>
                  <c:pt idx="8">
                    <c:v>2</c:v>
                  </c:pt>
                  <c:pt idx="9">
                    <c:v>3</c:v>
                  </c:pt>
                  <c:pt idx="10">
                    <c:v>4</c:v>
                  </c:pt>
                  <c:pt idx="11">
                    <c:v>5</c:v>
                  </c:pt>
                </c:lvl>
                <c:lvl>
                  <c:pt idx="0">
                    <c:v>18</c:v>
                  </c:pt>
                  <c:pt idx="1">
                    <c:v>19</c:v>
                  </c:pt>
                  <c:pt idx="2">
                    <c:v>20</c:v>
                  </c:pt>
                  <c:pt idx="3">
                    <c:v>21</c:v>
                  </c:pt>
                  <c:pt idx="4">
                    <c:v>22</c:v>
                  </c:pt>
                  <c:pt idx="5">
                    <c:v>23</c:v>
                  </c:pt>
                  <c:pt idx="6">
                    <c:v>24</c:v>
                  </c:pt>
                  <c:pt idx="7">
                    <c:v>25</c:v>
                  </c:pt>
                </c:lvl>
                <c:lvl>
                  <c:pt idx="0">
                    <c:v>2026</c:v>
                  </c:pt>
                </c:lvl>
              </c:multiLvlStrCache>
            </c:multiLvlStrRef>
          </c:cat>
          <c:val>
            <c:numRef>
              <c:f>SPD_LR_FPY!$F$40:$F$54</c:f>
              <c:numCache>
                <c:formatCode>0</c:formatCode>
                <c:ptCount val="12"/>
                <c:pt idx="0">
                  <c:v>44</c:v>
                </c:pt>
                <c:pt idx="1">
                  <c:v>57</c:v>
                </c:pt>
                <c:pt idx="2">
                  <c:v>45</c:v>
                </c:pt>
                <c:pt idx="3">
                  <c:v>18</c:v>
                </c:pt>
                <c:pt idx="4">
                  <c:v>27</c:v>
                </c:pt>
                <c:pt idx="5">
                  <c:v>32</c:v>
                </c:pt>
                <c:pt idx="6">
                  <c:v>41</c:v>
                </c:pt>
                <c:pt idx="7">
                  <c:v>5</c:v>
                </c:pt>
                <c:pt idx="8">
                  <c:v>8</c:v>
                </c:pt>
                <c:pt idx="9">
                  <c:v>7</c:v>
                </c:pt>
                <c:pt idx="10">
                  <c:v>5</c:v>
                </c:pt>
                <c:pt idx="11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B6-4B24-A9C0-8F37A96F5F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42121840"/>
        <c:axId val="42121360"/>
      </c:barChart>
      <c:lineChart>
        <c:grouping val="standard"/>
        <c:varyColors val="0"/>
        <c:ser>
          <c:idx val="0"/>
          <c:order val="0"/>
          <c:tx>
            <c:strRef>
              <c:f>SPD_LR_FPY!$C$39</c:f>
              <c:strCache>
                <c:ptCount val="1"/>
                <c:pt idx="0">
                  <c:v>FPY</c:v>
                </c:pt>
              </c:strCache>
            </c:strRef>
          </c:tx>
          <c:spPr>
            <a:ln w="38100" cap="rnd">
              <a:solidFill>
                <a:schemeClr val="tx2">
                  <a:lumMod val="90000"/>
                  <a:lumOff val="10000"/>
                </a:schemeClr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chemeClr val="tx2">
                  <a:lumMod val="90000"/>
                  <a:lumOff val="10000"/>
                </a:schemeClr>
              </a:solidFill>
              <a:ln w="9525">
                <a:noFill/>
              </a:ln>
              <a:effectLst/>
            </c:spPr>
          </c:marker>
          <c:dLbls>
            <c:dLbl>
              <c:idx val="4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FF47-4BEA-B9F4-E3F463538A36}"/>
                </c:ext>
              </c:extLst>
            </c:dLbl>
            <c:dLbl>
              <c:idx val="5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FF47-4BEA-B9F4-E3F463538A36}"/>
                </c:ext>
              </c:extLst>
            </c:dLbl>
            <c:dLbl>
              <c:idx val="7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FF47-4BEA-B9F4-E3F463538A36}"/>
                </c:ext>
              </c:extLst>
            </c:dLbl>
            <c:dLbl>
              <c:idx val="9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FF47-4BEA-B9F4-E3F463538A36}"/>
                </c:ext>
              </c:extLst>
            </c:dLbl>
            <c:dLbl>
              <c:idx val="1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FF47-4BEA-B9F4-E3F463538A36}"/>
                </c:ext>
              </c:extLst>
            </c:dLbl>
            <c:dLbl>
              <c:idx val="11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FF47-4BEA-B9F4-E3F463538A3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SPD_LR_FPY!$B$40:$B$54</c:f>
              <c:multiLvlStrCache>
                <c:ptCount val="12"/>
                <c:lvl>
                  <c:pt idx="7">
                    <c:v>1</c:v>
                  </c:pt>
                  <c:pt idx="8">
                    <c:v>2</c:v>
                  </c:pt>
                  <c:pt idx="9">
                    <c:v>3</c:v>
                  </c:pt>
                  <c:pt idx="10">
                    <c:v>4</c:v>
                  </c:pt>
                  <c:pt idx="11">
                    <c:v>5</c:v>
                  </c:pt>
                </c:lvl>
                <c:lvl>
                  <c:pt idx="0">
                    <c:v>18</c:v>
                  </c:pt>
                  <c:pt idx="1">
                    <c:v>19</c:v>
                  </c:pt>
                  <c:pt idx="2">
                    <c:v>20</c:v>
                  </c:pt>
                  <c:pt idx="3">
                    <c:v>21</c:v>
                  </c:pt>
                  <c:pt idx="4">
                    <c:v>22</c:v>
                  </c:pt>
                  <c:pt idx="5">
                    <c:v>23</c:v>
                  </c:pt>
                  <c:pt idx="6">
                    <c:v>24</c:v>
                  </c:pt>
                  <c:pt idx="7">
                    <c:v>25</c:v>
                  </c:pt>
                </c:lvl>
                <c:lvl>
                  <c:pt idx="0">
                    <c:v>2026</c:v>
                  </c:pt>
                </c:lvl>
              </c:multiLvlStrCache>
            </c:multiLvlStrRef>
          </c:cat>
          <c:val>
            <c:numRef>
              <c:f>SPD_LR_FPY!$C$40:$C$54</c:f>
              <c:numCache>
                <c:formatCode>0%</c:formatCode>
                <c:ptCount val="12"/>
                <c:pt idx="0">
                  <c:v>0.63636363636363635</c:v>
                </c:pt>
                <c:pt idx="1">
                  <c:v>0.70175438596491224</c:v>
                </c:pt>
                <c:pt idx="2">
                  <c:v>0.68888888888888888</c:v>
                </c:pt>
                <c:pt idx="3">
                  <c:v>0.88888888888888884</c:v>
                </c:pt>
                <c:pt idx="4">
                  <c:v>1</c:v>
                </c:pt>
                <c:pt idx="5">
                  <c:v>1</c:v>
                </c:pt>
                <c:pt idx="6">
                  <c:v>0.90243902439024393</c:v>
                </c:pt>
                <c:pt idx="7">
                  <c:v>1</c:v>
                </c:pt>
                <c:pt idx="8">
                  <c:v>0.875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AB6-4B24-A9C0-8F37A96F5FA4}"/>
            </c:ext>
          </c:extLst>
        </c:ser>
        <c:ser>
          <c:idx val="1"/>
          <c:order val="1"/>
          <c:tx>
            <c:strRef>
              <c:f>SPD_LR_FPY!$D$39</c:f>
              <c:strCache>
                <c:ptCount val="1"/>
                <c:pt idx="0">
                  <c:v>Target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multiLvlStrRef>
              <c:f>SPD_LR_FPY!$B$40:$B$54</c:f>
              <c:multiLvlStrCache>
                <c:ptCount val="12"/>
                <c:lvl>
                  <c:pt idx="7">
                    <c:v>1</c:v>
                  </c:pt>
                  <c:pt idx="8">
                    <c:v>2</c:v>
                  </c:pt>
                  <c:pt idx="9">
                    <c:v>3</c:v>
                  </c:pt>
                  <c:pt idx="10">
                    <c:v>4</c:v>
                  </c:pt>
                  <c:pt idx="11">
                    <c:v>5</c:v>
                  </c:pt>
                </c:lvl>
                <c:lvl>
                  <c:pt idx="0">
                    <c:v>18</c:v>
                  </c:pt>
                  <c:pt idx="1">
                    <c:v>19</c:v>
                  </c:pt>
                  <c:pt idx="2">
                    <c:v>20</c:v>
                  </c:pt>
                  <c:pt idx="3">
                    <c:v>21</c:v>
                  </c:pt>
                  <c:pt idx="4">
                    <c:v>22</c:v>
                  </c:pt>
                  <c:pt idx="5">
                    <c:v>23</c:v>
                  </c:pt>
                  <c:pt idx="6">
                    <c:v>24</c:v>
                  </c:pt>
                  <c:pt idx="7">
                    <c:v>25</c:v>
                  </c:pt>
                </c:lvl>
                <c:lvl>
                  <c:pt idx="0">
                    <c:v>2026</c:v>
                  </c:pt>
                </c:lvl>
              </c:multiLvlStrCache>
            </c:multiLvlStrRef>
          </c:cat>
          <c:val>
            <c:numRef>
              <c:f>SPD_LR_FPY!$D$40:$D$54</c:f>
              <c:numCache>
                <c:formatCode>0%</c:formatCode>
                <c:ptCount val="12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AB6-4B24-A9C0-8F37A96F5FA4}"/>
            </c:ext>
          </c:extLst>
        </c:ser>
        <c:ser>
          <c:idx val="2"/>
          <c:order val="2"/>
          <c:tx>
            <c:strRef>
              <c:f>SPD_LR_FPY!$E$39</c:f>
              <c:strCache>
                <c:ptCount val="1"/>
                <c:pt idx="0">
                  <c:v>Escalation</c:v>
                </c:pt>
              </c:strCache>
            </c:strRef>
          </c:tx>
          <c:spPr>
            <a:ln w="28575" cap="rnd">
              <a:solidFill>
                <a:srgbClr val="FF0000"/>
              </a:solidFill>
              <a:prstDash val="sysDash"/>
              <a:round/>
            </a:ln>
            <a:effectLst/>
          </c:spPr>
          <c:marker>
            <c:symbol val="none"/>
          </c:marker>
          <c:cat>
            <c:multiLvlStrRef>
              <c:f>SPD_LR_FPY!$B$40:$B$54</c:f>
              <c:multiLvlStrCache>
                <c:ptCount val="12"/>
                <c:lvl>
                  <c:pt idx="7">
                    <c:v>1</c:v>
                  </c:pt>
                  <c:pt idx="8">
                    <c:v>2</c:v>
                  </c:pt>
                  <c:pt idx="9">
                    <c:v>3</c:v>
                  </c:pt>
                  <c:pt idx="10">
                    <c:v>4</c:v>
                  </c:pt>
                  <c:pt idx="11">
                    <c:v>5</c:v>
                  </c:pt>
                </c:lvl>
                <c:lvl>
                  <c:pt idx="0">
                    <c:v>18</c:v>
                  </c:pt>
                  <c:pt idx="1">
                    <c:v>19</c:v>
                  </c:pt>
                  <c:pt idx="2">
                    <c:v>20</c:v>
                  </c:pt>
                  <c:pt idx="3">
                    <c:v>21</c:v>
                  </c:pt>
                  <c:pt idx="4">
                    <c:v>22</c:v>
                  </c:pt>
                  <c:pt idx="5">
                    <c:v>23</c:v>
                  </c:pt>
                  <c:pt idx="6">
                    <c:v>24</c:v>
                  </c:pt>
                  <c:pt idx="7">
                    <c:v>25</c:v>
                  </c:pt>
                </c:lvl>
                <c:lvl>
                  <c:pt idx="0">
                    <c:v>2026</c:v>
                  </c:pt>
                </c:lvl>
              </c:multiLvlStrCache>
            </c:multiLvlStrRef>
          </c:cat>
          <c:val>
            <c:numRef>
              <c:f>SPD_LR_FPY!$E$40:$E$54</c:f>
              <c:numCache>
                <c:formatCode>0%</c:formatCode>
                <c:ptCount val="12"/>
                <c:pt idx="0">
                  <c:v>0.97</c:v>
                </c:pt>
                <c:pt idx="1">
                  <c:v>0.97</c:v>
                </c:pt>
                <c:pt idx="2">
                  <c:v>0.97</c:v>
                </c:pt>
                <c:pt idx="3">
                  <c:v>0.97</c:v>
                </c:pt>
                <c:pt idx="4">
                  <c:v>0.97</c:v>
                </c:pt>
                <c:pt idx="5">
                  <c:v>0.97</c:v>
                </c:pt>
                <c:pt idx="6">
                  <c:v>0.97</c:v>
                </c:pt>
                <c:pt idx="7">
                  <c:v>0.97</c:v>
                </c:pt>
                <c:pt idx="8">
                  <c:v>0.97</c:v>
                </c:pt>
                <c:pt idx="9">
                  <c:v>0.97</c:v>
                </c:pt>
                <c:pt idx="10">
                  <c:v>0.97</c:v>
                </c:pt>
                <c:pt idx="11">
                  <c:v>0.97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AB6-4B24-A9C0-8F37A96F5F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1444800"/>
        <c:axId val="61445280"/>
      </c:lineChart>
      <c:catAx>
        <c:axId val="6144480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r>
                  <a:rPr lang="en-US"/>
                  <a:t>Work Week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pPr>
            <a:endParaRPr lang="en-US"/>
          </a:p>
        </c:txPr>
        <c:crossAx val="61445280"/>
        <c:crosses val="autoZero"/>
        <c:auto val="1"/>
        <c:lblAlgn val="ctr"/>
        <c:lblOffset val="100"/>
        <c:noMultiLvlLbl val="0"/>
      </c:catAx>
      <c:valAx>
        <c:axId val="61445280"/>
        <c:scaling>
          <c:orientation val="minMax"/>
          <c:max val="1.1000000000000001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r>
                  <a:rPr lang="en-US"/>
                  <a:t>First Pass Yield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</c:title>
        <c:numFmt formatCode="0%" sourceLinked="1"/>
        <c:majorTickMark val="cross"/>
        <c:minorTickMark val="none"/>
        <c:tickLblPos val="nextTo"/>
        <c:spPr>
          <a:noFill/>
          <a:ln>
            <a:solidFill>
              <a:schemeClr val="bg1">
                <a:lumMod val="8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pPr>
            <a:endParaRPr lang="en-US"/>
          </a:p>
        </c:txPr>
        <c:crossAx val="61444800"/>
        <c:crosses val="autoZero"/>
        <c:crossBetween val="between"/>
      </c:valAx>
      <c:valAx>
        <c:axId val="42121360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bg1">
                        <a:lumMod val="65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r>
                  <a:rPr lang="en-US"/>
                  <a:t>Volume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</c:title>
        <c:numFmt formatCode="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pPr>
            <a:endParaRPr lang="en-US"/>
          </a:p>
        </c:txPr>
        <c:crossAx val="42121840"/>
        <c:crosses val="max"/>
        <c:crossBetween val="between"/>
      </c:valAx>
      <c:catAx>
        <c:axId val="421218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2121360"/>
        <c:crosses val="autoZero"/>
        <c:auto val="1"/>
        <c:lblAlgn val="ctr"/>
        <c:lblOffset val="100"/>
        <c:noMultiLvlLbl val="0"/>
      </c:catAx>
      <c:spPr>
        <a:noFill/>
        <a:ln>
          <a:solidFill>
            <a:schemeClr val="bg1">
              <a:lumMod val="85000"/>
            </a:schemeClr>
          </a:solidFill>
        </a:ln>
        <a:effectLst/>
      </c:spPr>
    </c:plotArea>
    <c:plotVisOnly val="1"/>
    <c:dispBlanksAs val="span"/>
    <c:showDLblsOverMax val="0"/>
    <c:extLst/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 sz="1600" b="1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[Chart in Microsoft PowerPoint]FPY_Pareto!FIV.Pareto</c:name>
    <c:fmtId val="4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1" i="0" u="none" strike="noStrike" kern="1200" spc="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pPr>
            <a:r>
              <a:rPr lang="en-US"/>
              <a:t>PARETO ANALYSIS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1" i="0" u="none" strike="noStrike" kern="1200" spc="0" baseline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5.4891471899345901E-2"/>
          <c:y val="0.10030110819480899"/>
          <c:w val="0.89201297754447362"/>
          <c:h val="0.8219665597355886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FPY_Pareto!$S$45</c:f>
              <c:strCache>
                <c:ptCount val="1"/>
                <c:pt idx="0">
                  <c:v>Distinct Count of Project Name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FPY_Pareto!$R$46:$R$60</c:f>
              <c:strCache>
                <c:ptCount val="14"/>
                <c:pt idx="0">
                  <c:v>Uncategorized*</c:v>
                </c:pt>
                <c:pt idx="1">
                  <c:v>AHJ</c:v>
                </c:pt>
                <c:pt idx="2">
                  <c:v>ET</c:v>
                </c:pt>
                <c:pt idx="3">
                  <c:v>Design</c:v>
                </c:pt>
                <c:pt idx="4">
                  <c:v>Inspections</c:v>
                </c:pt>
                <c:pt idx="5">
                  <c:v>Customer</c:v>
                </c:pt>
                <c:pt idx="6">
                  <c:v>Permitting</c:v>
                </c:pt>
                <c:pt idx="7">
                  <c:v>FOT</c:v>
                </c:pt>
                <c:pt idx="8">
                  <c:v>Crew</c:v>
                </c:pt>
                <c:pt idx="9">
                  <c:v>ST</c:v>
                </c:pt>
                <c:pt idx="10">
                  <c:v>IP</c:v>
                </c:pt>
                <c:pt idx="11">
                  <c:v>Installs</c:v>
                </c:pt>
                <c:pt idx="12">
                  <c:v>Supply Chain</c:v>
                </c:pt>
                <c:pt idx="13">
                  <c:v>Quality Control</c:v>
                </c:pt>
              </c:strCache>
            </c:strRef>
          </c:cat>
          <c:val>
            <c:numRef>
              <c:f>FPY_Pareto!$S$46:$S$60</c:f>
              <c:numCache>
                <c:formatCode>General</c:formatCode>
                <c:ptCount val="14"/>
                <c:pt idx="0">
                  <c:v>74</c:v>
                </c:pt>
                <c:pt idx="1">
                  <c:v>34</c:v>
                </c:pt>
                <c:pt idx="2">
                  <c:v>16</c:v>
                </c:pt>
                <c:pt idx="3">
                  <c:v>15</c:v>
                </c:pt>
                <c:pt idx="4">
                  <c:v>12</c:v>
                </c:pt>
                <c:pt idx="5">
                  <c:v>9</c:v>
                </c:pt>
                <c:pt idx="6">
                  <c:v>7</c:v>
                </c:pt>
                <c:pt idx="7">
                  <c:v>5</c:v>
                </c:pt>
                <c:pt idx="8">
                  <c:v>4</c:v>
                </c:pt>
                <c:pt idx="9">
                  <c:v>3</c:v>
                </c:pt>
                <c:pt idx="10">
                  <c:v>2</c:v>
                </c:pt>
                <c:pt idx="11">
                  <c:v>2</c:v>
                </c:pt>
                <c:pt idx="12">
                  <c:v>1</c:v>
                </c:pt>
                <c:pt idx="1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9A-4FB1-91DD-F0F6CFEE52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3213120"/>
        <c:axId val="113220320"/>
      </c:barChart>
      <c:lineChart>
        <c:grouping val="standard"/>
        <c:varyColors val="0"/>
        <c:ser>
          <c:idx val="1"/>
          <c:order val="1"/>
          <c:tx>
            <c:strRef>
              <c:f>FPY_Pareto!$T$45</c:f>
              <c:strCache>
                <c:ptCount val="1"/>
                <c:pt idx="0">
                  <c:v>%Cumulative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FPY_Pareto!$R$46:$R$60</c:f>
              <c:strCache>
                <c:ptCount val="14"/>
                <c:pt idx="0">
                  <c:v>Uncategorized*</c:v>
                </c:pt>
                <c:pt idx="1">
                  <c:v>AHJ</c:v>
                </c:pt>
                <c:pt idx="2">
                  <c:v>ET</c:v>
                </c:pt>
                <c:pt idx="3">
                  <c:v>Design</c:v>
                </c:pt>
                <c:pt idx="4">
                  <c:v>Inspections</c:v>
                </c:pt>
                <c:pt idx="5">
                  <c:v>Customer</c:v>
                </c:pt>
                <c:pt idx="6">
                  <c:v>Permitting</c:v>
                </c:pt>
                <c:pt idx="7">
                  <c:v>FOT</c:v>
                </c:pt>
                <c:pt idx="8">
                  <c:v>Crew</c:v>
                </c:pt>
                <c:pt idx="9">
                  <c:v>ST</c:v>
                </c:pt>
                <c:pt idx="10">
                  <c:v>IP</c:v>
                </c:pt>
                <c:pt idx="11">
                  <c:v>Installs</c:v>
                </c:pt>
                <c:pt idx="12">
                  <c:v>Supply Chain</c:v>
                </c:pt>
                <c:pt idx="13">
                  <c:v>Quality Control</c:v>
                </c:pt>
              </c:strCache>
            </c:strRef>
          </c:cat>
          <c:val>
            <c:numRef>
              <c:f>FPY_Pareto!$T$46:$T$60</c:f>
              <c:numCache>
                <c:formatCode>0.0%</c:formatCode>
                <c:ptCount val="14"/>
                <c:pt idx="0">
                  <c:v>0.1336206896551724</c:v>
                </c:pt>
                <c:pt idx="1">
                  <c:v>0.39655172413793105</c:v>
                </c:pt>
                <c:pt idx="2">
                  <c:v>0.48563218390804597</c:v>
                </c:pt>
                <c:pt idx="3">
                  <c:v>0.60775862068965514</c:v>
                </c:pt>
                <c:pt idx="4">
                  <c:v>0.71551724137931039</c:v>
                </c:pt>
                <c:pt idx="5">
                  <c:v>0.77011494252873558</c:v>
                </c:pt>
                <c:pt idx="6">
                  <c:v>0.83045977011494254</c:v>
                </c:pt>
                <c:pt idx="7">
                  <c:v>0.87356321839080464</c:v>
                </c:pt>
                <c:pt idx="8">
                  <c:v>0.91522988505747127</c:v>
                </c:pt>
                <c:pt idx="9">
                  <c:v>0.94683908045977017</c:v>
                </c:pt>
                <c:pt idx="10">
                  <c:v>0.9683908045977011</c:v>
                </c:pt>
                <c:pt idx="11">
                  <c:v>0.98419540229885061</c:v>
                </c:pt>
                <c:pt idx="12">
                  <c:v>0.99568965517241381</c:v>
                </c:pt>
                <c:pt idx="13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9A-4FB1-91DD-F0F6CFEE52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51161552"/>
        <c:axId val="451170672"/>
      </c:lineChart>
      <c:catAx>
        <c:axId val="1132131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pPr>
            <a:endParaRPr lang="en-US"/>
          </a:p>
        </c:txPr>
        <c:crossAx val="113220320"/>
        <c:crosses val="autoZero"/>
        <c:auto val="1"/>
        <c:lblAlgn val="ctr"/>
        <c:lblOffset val="100"/>
        <c:noMultiLvlLbl val="0"/>
      </c:catAx>
      <c:valAx>
        <c:axId val="113220320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+mn-cs"/>
                  </a:defRPr>
                </a:pPr>
                <a:r>
                  <a:rPr lang="en-US"/>
                  <a:t>Count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cross"/>
        <c:minorTickMark val="none"/>
        <c:tickLblPos val="nextTo"/>
        <c:spPr>
          <a:noFill/>
          <a:ln>
            <a:solidFill>
              <a:sysClr val="window" lastClr="FFFFFF">
                <a:lumMod val="85000"/>
              </a:sys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pPr>
            <a:endParaRPr lang="en-US"/>
          </a:p>
        </c:txPr>
        <c:crossAx val="113213120"/>
        <c:crosses val="autoZero"/>
        <c:crossBetween val="between"/>
        <c:minorUnit val="1"/>
      </c:valAx>
      <c:valAx>
        <c:axId val="451170672"/>
        <c:scaling>
          <c:orientation val="minMax"/>
          <c:max val="1"/>
          <c:min val="0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pPr>
            <a:endParaRPr lang="en-US"/>
          </a:p>
        </c:txPr>
        <c:crossAx val="451161552"/>
        <c:crosses val="max"/>
        <c:crossBetween val="between"/>
        <c:majorUnit val="0.2"/>
      </c:valAx>
      <c:catAx>
        <c:axId val="45116155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51170672"/>
        <c:crosses val="autoZero"/>
        <c:auto val="1"/>
        <c:lblAlgn val="ctr"/>
        <c:lblOffset val="100"/>
        <c:noMultiLvlLbl val="0"/>
      </c:catAx>
      <c:spPr>
        <a:noFill/>
        <a:ln>
          <a:solidFill>
            <a:sysClr val="window" lastClr="FFFFFF">
              <a:lumMod val="75000"/>
            </a:sysClr>
          </a:solidFill>
        </a:ln>
        <a:effectLst/>
      </c:spPr>
    </c:plotArea>
    <c:plotVisOnly val="1"/>
    <c:dispBlanksAs val="gap"/>
    <c:showDLblsOverMax val="0"/>
    <c:extLst/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 sz="1600" b="1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</a:defRPr>
      </a:pPr>
      <a:endParaRPr lang="en-US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1" i="0" u="none" strike="noStrike" kern="1200" spc="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pPr>
            <a:r>
              <a:rPr lang="en-US"/>
              <a:t>PARETO ANALYSIS BY FIELD CREW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1" i="0" u="none" strike="noStrike" kern="1200" spc="0" baseline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4.1663958671832688E-2"/>
          <c:y val="0.10030110819480899"/>
          <c:w val="0.90524049077198687"/>
          <c:h val="0.7802998930689218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FPY_Pareto!$AR$40</c:f>
              <c:strCache>
                <c:ptCount val="1"/>
                <c:pt idx="0">
                  <c:v>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FPY_Pareto!$AQ$41:$AQ$55</c:f>
              <c:strCache>
                <c:ptCount val="15"/>
                <c:pt idx="0">
                  <c:v>IL ET </c:v>
                </c:pt>
                <c:pt idx="1">
                  <c:v>MI ET </c:v>
                </c:pt>
                <c:pt idx="2">
                  <c:v>CA crew 2</c:v>
                </c:pt>
                <c:pt idx="3">
                  <c:v>OR ET </c:v>
                </c:pt>
                <c:pt idx="4">
                  <c:v>OH ET </c:v>
                </c:pt>
                <c:pt idx="5">
                  <c:v>MD ET </c:v>
                </c:pt>
                <c:pt idx="6">
                  <c:v>NV crew 3</c:v>
                </c:pt>
                <c:pt idx="7">
                  <c:v>CO crew 1</c:v>
                </c:pt>
                <c:pt idx="8">
                  <c:v>CO crew 2</c:v>
                </c:pt>
                <c:pt idx="9">
                  <c:v>OR crew 1</c:v>
                </c:pt>
                <c:pt idx="10">
                  <c:v>WA ET </c:v>
                </c:pt>
                <c:pt idx="11">
                  <c:v>WA crew </c:v>
                </c:pt>
                <c:pt idx="12">
                  <c:v>NV crew 3</c:v>
                </c:pt>
                <c:pt idx="13">
                  <c:v>NC ET </c:v>
                </c:pt>
                <c:pt idx="14">
                  <c:v>WI ET </c:v>
                </c:pt>
              </c:strCache>
            </c:strRef>
          </c:cat>
          <c:val>
            <c:numRef>
              <c:f>FPY_Pareto!$AR$41:$AR$55</c:f>
              <c:numCache>
                <c:formatCode>General</c:formatCode>
                <c:ptCount val="15"/>
                <c:pt idx="0">
                  <c:v>15</c:v>
                </c:pt>
                <c:pt idx="1">
                  <c:v>8</c:v>
                </c:pt>
                <c:pt idx="2">
                  <c:v>6</c:v>
                </c:pt>
                <c:pt idx="3">
                  <c:v>4</c:v>
                </c:pt>
                <c:pt idx="4">
                  <c:v>3</c:v>
                </c:pt>
                <c:pt idx="5">
                  <c:v>2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9A-4FB1-91DD-F0F6CFEE52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3213120"/>
        <c:axId val="113220320"/>
      </c:barChart>
      <c:lineChart>
        <c:grouping val="standard"/>
        <c:varyColors val="0"/>
        <c:ser>
          <c:idx val="1"/>
          <c:order val="1"/>
          <c:tx>
            <c:strRef>
              <c:f>FPY_Pareto!$AS$40</c:f>
              <c:strCache>
                <c:ptCount val="1"/>
                <c:pt idx="0">
                  <c:v>%Cumulative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FPY_Pareto!$AQ$41:$AQ$55</c:f>
              <c:strCache>
                <c:ptCount val="15"/>
                <c:pt idx="0">
                  <c:v>IL ET </c:v>
                </c:pt>
                <c:pt idx="1">
                  <c:v>MI ET </c:v>
                </c:pt>
                <c:pt idx="2">
                  <c:v>CA crew 2</c:v>
                </c:pt>
                <c:pt idx="3">
                  <c:v>OR ET </c:v>
                </c:pt>
                <c:pt idx="4">
                  <c:v>OH ET </c:v>
                </c:pt>
                <c:pt idx="5">
                  <c:v>MD ET </c:v>
                </c:pt>
                <c:pt idx="6">
                  <c:v>NV crew 3</c:v>
                </c:pt>
                <c:pt idx="7">
                  <c:v>CO crew 1</c:v>
                </c:pt>
                <c:pt idx="8">
                  <c:v>CO crew 2</c:v>
                </c:pt>
                <c:pt idx="9">
                  <c:v>OR crew 1</c:v>
                </c:pt>
                <c:pt idx="10">
                  <c:v>WA ET </c:v>
                </c:pt>
                <c:pt idx="11">
                  <c:v>WA crew </c:v>
                </c:pt>
                <c:pt idx="12">
                  <c:v>NV crew 3</c:v>
                </c:pt>
                <c:pt idx="13">
                  <c:v>NC ET </c:v>
                </c:pt>
                <c:pt idx="14">
                  <c:v>WI ET </c:v>
                </c:pt>
              </c:strCache>
            </c:strRef>
          </c:cat>
          <c:val>
            <c:numRef>
              <c:f>FPY_Pareto!$AS$41:$AS$55</c:f>
              <c:numCache>
                <c:formatCode>0.0%</c:formatCode>
                <c:ptCount val="15"/>
                <c:pt idx="0">
                  <c:v>0.31914893617021278</c:v>
                </c:pt>
                <c:pt idx="1">
                  <c:v>0.48936170212765956</c:v>
                </c:pt>
                <c:pt idx="2">
                  <c:v>0.61702127659574468</c:v>
                </c:pt>
                <c:pt idx="3">
                  <c:v>0.7021276595744681</c:v>
                </c:pt>
                <c:pt idx="4">
                  <c:v>0.76595744680851063</c:v>
                </c:pt>
                <c:pt idx="5">
                  <c:v>0.80851063829787229</c:v>
                </c:pt>
                <c:pt idx="6">
                  <c:v>0.82978723404255317</c:v>
                </c:pt>
                <c:pt idx="7">
                  <c:v>0.85106382978723405</c:v>
                </c:pt>
                <c:pt idx="8">
                  <c:v>0.87234042553191493</c:v>
                </c:pt>
                <c:pt idx="9">
                  <c:v>0.8936170212765957</c:v>
                </c:pt>
                <c:pt idx="10">
                  <c:v>0.91489361702127658</c:v>
                </c:pt>
                <c:pt idx="11">
                  <c:v>0.93617021276595747</c:v>
                </c:pt>
                <c:pt idx="12">
                  <c:v>0.95744680851063835</c:v>
                </c:pt>
                <c:pt idx="13">
                  <c:v>0.97872340425531912</c:v>
                </c:pt>
                <c:pt idx="14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9A-4FB1-91DD-F0F6CFEE52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51161552"/>
        <c:axId val="451170672"/>
      </c:lineChart>
      <c:catAx>
        <c:axId val="1132131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800" b="1" i="0" u="none" strike="noStrike" kern="120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pPr>
            <a:endParaRPr lang="en-US"/>
          </a:p>
        </c:txPr>
        <c:crossAx val="113220320"/>
        <c:crosses val="autoZero"/>
        <c:auto val="1"/>
        <c:lblAlgn val="ctr"/>
        <c:lblOffset val="100"/>
        <c:noMultiLvlLbl val="0"/>
      </c:catAx>
      <c:valAx>
        <c:axId val="113220320"/>
        <c:scaling>
          <c:orientation val="minMax"/>
          <c:max val="2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+mn-cs"/>
                  </a:defRPr>
                </a:pPr>
                <a:r>
                  <a:rPr lang="en-US"/>
                  <a:t>Count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cross"/>
        <c:minorTickMark val="none"/>
        <c:tickLblPos val="nextTo"/>
        <c:spPr>
          <a:noFill/>
          <a:ln>
            <a:solidFill>
              <a:sysClr val="window" lastClr="FFFFFF">
                <a:lumMod val="85000"/>
              </a:sys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pPr>
            <a:endParaRPr lang="en-US"/>
          </a:p>
        </c:txPr>
        <c:crossAx val="113213120"/>
        <c:crosses val="autoZero"/>
        <c:crossBetween val="between"/>
        <c:minorUnit val="1"/>
      </c:valAx>
      <c:valAx>
        <c:axId val="451170672"/>
        <c:scaling>
          <c:orientation val="minMax"/>
          <c:max val="1"/>
          <c:min val="0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pPr>
            <a:endParaRPr lang="en-US"/>
          </a:p>
        </c:txPr>
        <c:crossAx val="451161552"/>
        <c:crosses val="max"/>
        <c:crossBetween val="between"/>
        <c:majorUnit val="0.2"/>
      </c:valAx>
      <c:catAx>
        <c:axId val="45116155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51170672"/>
        <c:crosses val="autoZero"/>
        <c:auto val="1"/>
        <c:lblAlgn val="ctr"/>
        <c:lblOffset val="100"/>
        <c:noMultiLvlLbl val="0"/>
      </c:catAx>
      <c:spPr>
        <a:noFill/>
        <a:ln>
          <a:solidFill>
            <a:sysClr val="window" lastClr="FFFFFF">
              <a:lumMod val="75000"/>
            </a:sysClr>
          </a:solidFill>
        </a:ln>
        <a:effectLst/>
      </c:spPr>
    </c:plotArea>
    <c:plotVisOnly val="1"/>
    <c:dispBlanksAs val="gap"/>
    <c:showDLblsOverMax val="0"/>
    <c:extLst/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 sz="1600" b="1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</a:defRPr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D6A89E-7EA6-4427-A327-0EF9B6FA9C8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5C4C73-F2CB-4413-B3B0-2BA2AA496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368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507846" rtl="0" eaLnBrk="1" latinLnBrk="0" hangingPunct="1">
      <a:defRPr sz="1979" kern="1200">
        <a:solidFill>
          <a:schemeClr val="tx1"/>
        </a:solidFill>
        <a:latin typeface="+mn-lt"/>
        <a:ea typeface="+mn-ea"/>
        <a:cs typeface="+mn-cs"/>
      </a:defRPr>
    </a:lvl1pPr>
    <a:lvl2pPr marL="753923" algn="l" defTabSz="1507846" rtl="0" eaLnBrk="1" latinLnBrk="0" hangingPunct="1">
      <a:defRPr sz="1979" kern="1200">
        <a:solidFill>
          <a:schemeClr val="tx1"/>
        </a:solidFill>
        <a:latin typeface="+mn-lt"/>
        <a:ea typeface="+mn-ea"/>
        <a:cs typeface="+mn-cs"/>
      </a:defRPr>
    </a:lvl2pPr>
    <a:lvl3pPr marL="1507846" algn="l" defTabSz="1507846" rtl="0" eaLnBrk="1" latinLnBrk="0" hangingPunct="1">
      <a:defRPr sz="1979" kern="1200">
        <a:solidFill>
          <a:schemeClr val="tx1"/>
        </a:solidFill>
        <a:latin typeface="+mn-lt"/>
        <a:ea typeface="+mn-ea"/>
        <a:cs typeface="+mn-cs"/>
      </a:defRPr>
    </a:lvl3pPr>
    <a:lvl4pPr marL="2261768" algn="l" defTabSz="1507846" rtl="0" eaLnBrk="1" latinLnBrk="0" hangingPunct="1">
      <a:defRPr sz="1979" kern="1200">
        <a:solidFill>
          <a:schemeClr val="tx1"/>
        </a:solidFill>
        <a:latin typeface="+mn-lt"/>
        <a:ea typeface="+mn-ea"/>
        <a:cs typeface="+mn-cs"/>
      </a:defRPr>
    </a:lvl4pPr>
    <a:lvl5pPr marL="3015691" algn="l" defTabSz="1507846" rtl="0" eaLnBrk="1" latinLnBrk="0" hangingPunct="1">
      <a:defRPr sz="1979" kern="1200">
        <a:solidFill>
          <a:schemeClr val="tx1"/>
        </a:solidFill>
        <a:latin typeface="+mn-lt"/>
        <a:ea typeface="+mn-ea"/>
        <a:cs typeface="+mn-cs"/>
      </a:defRPr>
    </a:lvl5pPr>
    <a:lvl6pPr marL="3769614" algn="l" defTabSz="1507846" rtl="0" eaLnBrk="1" latinLnBrk="0" hangingPunct="1">
      <a:defRPr sz="1979" kern="1200">
        <a:solidFill>
          <a:schemeClr val="tx1"/>
        </a:solidFill>
        <a:latin typeface="+mn-lt"/>
        <a:ea typeface="+mn-ea"/>
        <a:cs typeface="+mn-cs"/>
      </a:defRPr>
    </a:lvl6pPr>
    <a:lvl7pPr marL="4523537" algn="l" defTabSz="1507846" rtl="0" eaLnBrk="1" latinLnBrk="0" hangingPunct="1">
      <a:defRPr sz="1979" kern="1200">
        <a:solidFill>
          <a:schemeClr val="tx1"/>
        </a:solidFill>
        <a:latin typeface="+mn-lt"/>
        <a:ea typeface="+mn-ea"/>
        <a:cs typeface="+mn-cs"/>
      </a:defRPr>
    </a:lvl7pPr>
    <a:lvl8pPr marL="5277460" algn="l" defTabSz="1507846" rtl="0" eaLnBrk="1" latinLnBrk="0" hangingPunct="1">
      <a:defRPr sz="1979" kern="1200">
        <a:solidFill>
          <a:schemeClr val="tx1"/>
        </a:solidFill>
        <a:latin typeface="+mn-lt"/>
        <a:ea typeface="+mn-ea"/>
        <a:cs typeface="+mn-cs"/>
      </a:defRPr>
    </a:lvl8pPr>
    <a:lvl9pPr marL="6031382" algn="l" defTabSz="1507846" rtl="0" eaLnBrk="1" latinLnBrk="0" hangingPunct="1">
      <a:defRPr sz="197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46160-B153-BF34-50D1-869602351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429964-D981-9F14-24D8-A1337FEC28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78FCB6-5492-F434-FDA2-49F5CA70AF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/>
              <a:t>Add links to the spec</a:t>
            </a:r>
          </a:p>
          <a:p>
            <a:pPr marL="171450" indent="-171450">
              <a:buFontTx/>
              <a:buChar char="-"/>
            </a:pPr>
            <a:r>
              <a:rPr lang="en-US"/>
              <a:t>Put RCCA stage (D1,D2,etc </a:t>
            </a:r>
            <a:r>
              <a:rPr lang="en-US" err="1"/>
              <a:t>etc</a:t>
            </a:r>
            <a:r>
              <a:rPr lang="en-US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BDD55C-1B7C-D89E-6FAE-661A1A06B7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8D1E01-5660-4F4C-8C97-FFE340BD1EC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64628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7B6151-C1A4-4908-8C54-519F3B82737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277853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F1E90-EA39-EC9C-07B4-F17056B27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006A1C-ADF6-4118-4AFD-6FC2E3BC89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AF6C48-AC84-FE51-D6BF-80D3D27B5A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D02CC2-E035-91C4-A54B-9C650301C2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7B6151-C1A4-4908-8C54-519F3B82737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852549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Update to 25.1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7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438523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Update to 25.1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8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921188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7B6151-C1A4-4908-8C54-519F3B82737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388866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7B6151-C1A4-4908-8C54-519F3B82737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562741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7B6151-C1A4-4908-8C54-519F3B82737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704070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7B6151-C1A4-4908-8C54-519F3B82737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055381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7B6151-C1A4-4908-8C54-519F3B82737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023228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8D1E01-5660-4F4C-8C97-FFE340BD1EC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80733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Relationship Id="rId5" Type="http://schemas.openxmlformats.org/officeDocument/2006/relationships/image" Target="../media/image3.png"/><Relationship Id="rId4" Type="http://schemas.microsoft.com/office/2007/relationships/hdphoto" Target="../media/hdphoto2.wdp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Relationship Id="rId5" Type="http://schemas.openxmlformats.org/officeDocument/2006/relationships/image" Target="../media/image3.png"/><Relationship Id="rId4" Type="http://schemas.microsoft.com/office/2007/relationships/hdphoto" Target="../media/hdphoto2.wdp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microsoft.com/office/2007/relationships/hdphoto" Target="../media/hdphoto2.wdp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4.xml"/><Relationship Id="rId5" Type="http://schemas.openxmlformats.org/officeDocument/2006/relationships/image" Target="../media/image3.png"/><Relationship Id="rId4" Type="http://schemas.microsoft.com/office/2007/relationships/hdphoto" Target="../media/hdphoto2.wdp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yellow circle with a white circle&#10;&#10;AI-generated content may be incorrect.">
            <a:extLst>
              <a:ext uri="{FF2B5EF4-FFF2-40B4-BE49-F238E27FC236}">
                <a16:creationId xmlns:a16="http://schemas.microsoft.com/office/drawing/2014/main" id="{40E9DCC0-E6BA-0896-1B1E-449703789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5584" y="8076781"/>
            <a:ext cx="3366746" cy="4183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A8E7A0-4245-CE95-07F0-EDE27DC4C83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20204621" cy="11365897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3AE9961-7995-01EB-9F51-177FDF9941BC}"/>
              </a:ext>
            </a:extLst>
          </p:cNvPr>
          <p:cNvSpPr txBox="1">
            <a:spLocks/>
          </p:cNvSpPr>
          <p:nvPr/>
        </p:nvSpPr>
        <p:spPr>
          <a:xfrm>
            <a:off x="15418319" y="10583757"/>
            <a:ext cx="4523423" cy="602118"/>
          </a:xfrm>
          <a:prstGeom prst="rect">
            <a:avLst/>
          </a:prstGeom>
        </p:spPr>
        <p:txBody>
          <a:bodyPr vert="horz" lIns="150781" tIns="75390" rIns="150781" bIns="7539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8A1FD3A-6AEB-0E42-877A-4FD8026E6CF2}" type="slidenum">
              <a:rPr lang="en-US" sz="1979" smtClean="0">
                <a:solidFill>
                  <a:schemeClr val="accent6"/>
                </a:solidFill>
              </a:rPr>
              <a:pPr/>
              <a:t>‹#›</a:t>
            </a:fld>
            <a:endParaRPr lang="en-US" sz="1979">
              <a:solidFill>
                <a:schemeClr val="accent6"/>
              </a:solidFill>
            </a:endParaRPr>
          </a:p>
        </p:txBody>
      </p:sp>
      <p:pic>
        <p:nvPicPr>
          <p:cNvPr id="12" name="Picture 11" descr="A yellow circle with black background&#10;&#10;AI-generated content may be incorrect.">
            <a:extLst>
              <a:ext uri="{FF2B5EF4-FFF2-40B4-BE49-F238E27FC236}">
                <a16:creationId xmlns:a16="http://schemas.microsoft.com/office/drawing/2014/main" id="{5AFB21AA-5283-8B28-EB30-4E545659003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52050" y="478253"/>
            <a:ext cx="8858468" cy="1100833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31B714A6-582E-70A6-082C-5FAB75A3B9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6766" y="7889241"/>
            <a:ext cx="9757619" cy="2186474"/>
          </a:xfrm>
        </p:spPr>
        <p:txBody>
          <a:bodyPr anchor="b">
            <a:normAutofit/>
          </a:bodyPr>
          <a:lstStyle>
            <a:lvl1pPr algn="ctr">
              <a:defRPr sz="7256" b="1" i="0" baseline="0">
                <a:solidFill>
                  <a:schemeClr val="accent5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1F7FD28-25C6-3603-8084-580A9F8EFD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98505" y="10279447"/>
            <a:ext cx="7894141" cy="906420"/>
          </a:xfrm>
        </p:spPr>
        <p:txBody>
          <a:bodyPr>
            <a:normAutofit/>
          </a:bodyPr>
          <a:lstStyle>
            <a:lvl1pPr marL="0" indent="0" algn="ctr">
              <a:buNone/>
              <a:defRPr sz="2968" b="0" i="0">
                <a:solidFill>
                  <a:schemeClr val="bg2"/>
                </a:solidFill>
                <a:latin typeface="Segoe UI" panose="020B0502040204020203" pitchFamily="34" charset="0"/>
                <a:ea typeface="Open Sans Light" pitchFamily="2" charset="0"/>
                <a:cs typeface="Segoe UI" panose="020B0502040204020203" pitchFamily="34" charset="0"/>
              </a:defRPr>
            </a:lvl1pPr>
            <a:lvl2pPr marL="753888" indent="0">
              <a:buNone/>
              <a:defRPr sz="3298">
                <a:solidFill>
                  <a:schemeClr val="tx1">
                    <a:tint val="82000"/>
                  </a:schemeClr>
                </a:solidFill>
              </a:defRPr>
            </a:lvl2pPr>
            <a:lvl3pPr marL="1507776" indent="0">
              <a:buNone/>
              <a:defRPr sz="2968">
                <a:solidFill>
                  <a:schemeClr val="tx1">
                    <a:tint val="82000"/>
                  </a:schemeClr>
                </a:solidFill>
              </a:defRPr>
            </a:lvl3pPr>
            <a:lvl4pPr marL="2261663" indent="0">
              <a:buNone/>
              <a:defRPr sz="2638">
                <a:solidFill>
                  <a:schemeClr val="tx1">
                    <a:tint val="82000"/>
                  </a:schemeClr>
                </a:solidFill>
              </a:defRPr>
            </a:lvl4pPr>
            <a:lvl5pPr marL="3015551" indent="0">
              <a:buNone/>
              <a:defRPr sz="2638">
                <a:solidFill>
                  <a:schemeClr val="tx1">
                    <a:tint val="82000"/>
                  </a:schemeClr>
                </a:solidFill>
              </a:defRPr>
            </a:lvl5pPr>
            <a:lvl6pPr marL="3769439" indent="0">
              <a:buNone/>
              <a:defRPr sz="2638">
                <a:solidFill>
                  <a:schemeClr val="tx1">
                    <a:tint val="82000"/>
                  </a:schemeClr>
                </a:solidFill>
              </a:defRPr>
            </a:lvl6pPr>
            <a:lvl7pPr marL="4523327" indent="0">
              <a:buNone/>
              <a:defRPr sz="2638">
                <a:solidFill>
                  <a:schemeClr val="tx1">
                    <a:tint val="82000"/>
                  </a:schemeClr>
                </a:solidFill>
              </a:defRPr>
            </a:lvl7pPr>
            <a:lvl8pPr marL="5277216" indent="0">
              <a:buNone/>
              <a:defRPr sz="2638">
                <a:solidFill>
                  <a:schemeClr val="tx1">
                    <a:tint val="82000"/>
                  </a:schemeClr>
                </a:solidFill>
              </a:defRPr>
            </a:lvl8pPr>
            <a:lvl9pPr marL="6031102" indent="0">
              <a:buNone/>
              <a:defRPr sz="263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50110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0D3C10F-713C-25A3-022A-D6DB8072F3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0204621" cy="1136589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95FCBE8-2340-04A3-3CEF-E0C65C179FE1}"/>
              </a:ext>
            </a:extLst>
          </p:cNvPr>
          <p:cNvSpPr/>
          <p:nvPr/>
        </p:nvSpPr>
        <p:spPr>
          <a:xfrm>
            <a:off x="2767757" y="-174828"/>
            <a:ext cx="17533014" cy="11677047"/>
          </a:xfrm>
          <a:prstGeom prst="rect">
            <a:avLst/>
          </a:prstGeom>
          <a:gradFill>
            <a:gsLst>
              <a:gs pos="0">
                <a:schemeClr val="accent1">
                  <a:lumMod val="0"/>
                  <a:lumOff val="100000"/>
                  <a:alpha val="0"/>
                </a:schemeClr>
              </a:gs>
              <a:gs pos="49000">
                <a:schemeClr val="tx1">
                  <a:alpha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68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D04EBEF-3DBF-BE6B-A6B1-BBC926081F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52637" y="5654675"/>
            <a:ext cx="7559692" cy="1533735"/>
          </a:xfrm>
        </p:spPr>
        <p:txBody>
          <a:bodyPr/>
          <a:lstStyle>
            <a:lvl1pPr marL="0" indent="0" algn="r">
              <a:buNone/>
              <a:defRPr sz="3958" b="0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753888" indent="0" algn="ctr">
              <a:buNone/>
              <a:defRPr sz="3298"/>
            </a:lvl2pPr>
            <a:lvl3pPr marL="1507776" indent="0" algn="ctr">
              <a:buNone/>
              <a:defRPr sz="2968"/>
            </a:lvl3pPr>
            <a:lvl4pPr marL="2261663" indent="0" algn="ctr">
              <a:buNone/>
              <a:defRPr sz="2638"/>
            </a:lvl4pPr>
            <a:lvl5pPr marL="3015551" indent="0" algn="ctr">
              <a:buNone/>
              <a:defRPr sz="2638"/>
            </a:lvl5pPr>
            <a:lvl6pPr marL="3769439" indent="0" algn="ctr">
              <a:buNone/>
              <a:defRPr sz="2638"/>
            </a:lvl6pPr>
            <a:lvl7pPr marL="4523327" indent="0" algn="ctr">
              <a:buNone/>
              <a:defRPr sz="2638"/>
            </a:lvl7pPr>
            <a:lvl8pPr marL="5277216" indent="0" algn="ctr">
              <a:buNone/>
              <a:defRPr sz="2638"/>
            </a:lvl8pPr>
            <a:lvl9pPr marL="6031102" indent="0" algn="ctr">
              <a:buNone/>
              <a:defRPr sz="2638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3" name="Picture 12" descr="A yellow circle with a white circle&#10;&#10;AI-generated content may be incorrect.">
            <a:extLst>
              <a:ext uri="{FF2B5EF4-FFF2-40B4-BE49-F238E27FC236}">
                <a16:creationId xmlns:a16="http://schemas.microsoft.com/office/drawing/2014/main" id="{8A8BEE67-FFA7-CEC6-3E3C-254687D60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45584" y="8076781"/>
            <a:ext cx="3366746" cy="418383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7EE9454-ECDD-6F81-959E-25AF96CA61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1783" y="486930"/>
            <a:ext cx="10740546" cy="3937329"/>
          </a:xfrm>
        </p:spPr>
        <p:txBody>
          <a:bodyPr anchor="b"/>
          <a:lstStyle>
            <a:lvl1pPr algn="r">
              <a:defRPr sz="9894" b="1" i="0" baseline="0">
                <a:solidFill>
                  <a:schemeClr val="accent5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21881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Title Only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7AF1351-6FEB-42E9-2FD4-682B353ACA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3687" y="507498"/>
            <a:ext cx="18656732" cy="1380953"/>
          </a:xfrm>
        </p:spPr>
        <p:txBody>
          <a:bodyPr anchor="ctr" anchorCtr="0">
            <a:normAutofit/>
          </a:bodyPr>
          <a:lstStyle>
            <a:lvl1pPr algn="ctr">
              <a:defRPr sz="8575" b="1" i="0">
                <a:solidFill>
                  <a:schemeClr val="accent2"/>
                </a:solidFill>
                <a:latin typeface="Segoe UI Semibold" panose="020B0502040204020203" pitchFamily="34" charset="0"/>
                <a:ea typeface="Open Sans Light" pitchFamily="2" charset="0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heavy content style</a:t>
            </a:r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191D99C6-42BE-C19B-1B04-D643C89B874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23685" y="2100267"/>
            <a:ext cx="18656733" cy="8107765"/>
          </a:xfrm>
        </p:spPr>
        <p:txBody>
          <a:bodyPr>
            <a:noAutofit/>
          </a:bodyPr>
          <a:lstStyle>
            <a:lvl1pPr marL="0" indent="0" algn="l">
              <a:buNone/>
              <a:defRPr sz="2638" b="0" i="0">
                <a:solidFill>
                  <a:schemeClr val="accent4"/>
                </a:solidFill>
                <a:latin typeface="Segoe UI" panose="020B0502040204020203" pitchFamily="34" charset="0"/>
                <a:ea typeface="Open Sans Light" pitchFamily="2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Edit content.</a:t>
            </a:r>
          </a:p>
        </p:txBody>
      </p:sp>
      <p:pic>
        <p:nvPicPr>
          <p:cNvPr id="3" name="Picture 2" descr="A black and white drawing of a solar panel&#10;&#10;AI-generated content may be incorrect.">
            <a:extLst>
              <a:ext uri="{FF2B5EF4-FFF2-40B4-BE49-F238E27FC236}">
                <a16:creationId xmlns:a16="http://schemas.microsoft.com/office/drawing/2014/main" id="{073DBE75-93FC-752F-DA71-5E0E748FDA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641889" y="10456722"/>
            <a:ext cx="1148173" cy="747586"/>
          </a:xfrm>
          <a:prstGeom prst="rect">
            <a:avLst/>
          </a:prstGeom>
          <a:noFill/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9F7413-DFCB-DFC0-7D27-B45D4BCCC0D1}"/>
              </a:ext>
            </a:extLst>
          </p:cNvPr>
          <p:cNvSpPr txBox="1">
            <a:spLocks/>
          </p:cNvSpPr>
          <p:nvPr userDrawn="1"/>
        </p:nvSpPr>
        <p:spPr>
          <a:xfrm>
            <a:off x="9515985" y="10602190"/>
            <a:ext cx="1072133" cy="602118"/>
          </a:xfrm>
          <a:prstGeom prst="rect">
            <a:avLst/>
          </a:prstGeom>
        </p:spPr>
        <p:txBody>
          <a:bodyPr vert="horz" lIns="150781" tIns="75390" rIns="150781" bIns="7539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C8A1FD3A-6AEB-0E42-877A-4FD8026E6CF2}" type="slidenum">
              <a:rPr lang="en-US" sz="1979" b="0" i="0" smtClean="0">
                <a:solidFill>
                  <a:schemeClr val="accent6"/>
                </a:solidFill>
                <a:latin typeface="Segoe UI Semilight" panose="020B0502040204020203" pitchFamily="34" charset="0"/>
                <a:cs typeface="Segoe UI Semilight" panose="020B0502040204020203" pitchFamily="34" charset="0"/>
              </a:rPr>
              <a:pPr algn="ctr"/>
              <a:t>‹#›</a:t>
            </a:fld>
            <a:endParaRPr lang="en-US" sz="1979" b="0" i="0">
              <a:solidFill>
                <a:schemeClr val="accent6"/>
              </a:solidFill>
              <a:latin typeface="Segoe UI Semilight" panose="020B0502040204020203" pitchFamily="34" charset="0"/>
              <a:cs typeface="Segoe UI Semilight" panose="020B0502040204020203" pitchFamily="34" charset="0"/>
            </a:endParaRPr>
          </a:p>
        </p:txBody>
      </p:sp>
      <p:pic>
        <p:nvPicPr>
          <p:cNvPr id="9" name="Picture 8" descr="A yellow circle with black background&#10;&#10;AI-generated content may be incorrect.">
            <a:extLst>
              <a:ext uri="{FF2B5EF4-FFF2-40B4-BE49-F238E27FC236}">
                <a16:creationId xmlns:a16="http://schemas.microsoft.com/office/drawing/2014/main" id="{2A0E9080-BBDF-CAE6-5A62-13CEF3F1B64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13946" y="10752405"/>
            <a:ext cx="2427570" cy="301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217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B5FDB5C-A31D-BF32-0C0F-3EC582BA7E02}"/>
              </a:ext>
            </a:extLst>
          </p:cNvPr>
          <p:cNvSpPr txBox="1"/>
          <p:nvPr/>
        </p:nvSpPr>
        <p:spPr>
          <a:xfrm>
            <a:off x="998683" y="4170329"/>
            <a:ext cx="18113271" cy="1005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5936" b="1" i="0">
                <a:solidFill>
                  <a:schemeClr val="bg1"/>
                </a:solidFill>
                <a:latin typeface="Segoe UI Semibold" panose="020B0502040204020203" pitchFamily="34" charset="0"/>
                <a:ea typeface="Open Sans Light" pitchFamily="2" charset="0"/>
                <a:cs typeface="Segoe UI Semibold" panose="020B0502040204020203" pitchFamily="34" charset="0"/>
              </a:rPr>
              <a:t>Powering a Brighter Future.</a:t>
            </a:r>
            <a:endParaRPr lang="zh-CN" altLang="en-US" sz="5936" b="1" i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2" name="Picture 1" descr="A yellow circle with a white circle&#10;&#10;AI-generated content may be incorrect.">
            <a:extLst>
              <a:ext uri="{FF2B5EF4-FFF2-40B4-BE49-F238E27FC236}">
                <a16:creationId xmlns:a16="http://schemas.microsoft.com/office/drawing/2014/main" id="{9985F9DA-3DA9-A774-0F81-EF127AF2A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680" y="6097644"/>
            <a:ext cx="3366746" cy="418383"/>
          </a:xfrm>
          <a:prstGeom prst="rect">
            <a:avLst/>
          </a:prstGeom>
        </p:spPr>
      </p:pic>
      <p:pic>
        <p:nvPicPr>
          <p:cNvPr id="3" name="Picture 2" descr="A drawing of a flying airplane&#10;&#10;AI-generated content may be incorrect.">
            <a:extLst>
              <a:ext uri="{FF2B5EF4-FFF2-40B4-BE49-F238E27FC236}">
                <a16:creationId xmlns:a16="http://schemas.microsoft.com/office/drawing/2014/main" id="{CAC49E0C-8768-4128-01DB-FD84A08DB0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9410225" y="10274480"/>
            <a:ext cx="1283646" cy="835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5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3D41E-AA35-2A07-32AC-3E38D86ED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1D96D-D050-5566-8EEA-A7BB2AECB1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C6AE0CA-0997-3583-ED4A-5C959D531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2B970-8A85-4374-8FCE-9C17402800B0}" type="datetime1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79C7677-25B9-4467-9CAF-15DD28402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Author: JYH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CF6E64-F095-9E64-9B97-BFCF0A22A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A7B61-EF3F-45A1-A87E-B7B2FE770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384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Title onl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 not remove" hidden="1">
            <a:extLst>
              <a:ext uri="{FF2B5EF4-FFF2-40B4-BE49-F238E27FC236}">
                <a16:creationId xmlns:a16="http://schemas.microsoft.com/office/drawing/2014/main" id="{8DD95F3A-5BBC-3BA0-F622-8444B330D25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6" y="0"/>
            <a:ext cx="20943" cy="20943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339">
              <a:latin typeface="Roboto" pitchFamily="2" charset="0"/>
            </a:endParaRPr>
          </a:p>
        </p:txBody>
      </p:sp>
      <p:sp>
        <p:nvSpPr>
          <p:cNvPr id="23" name="Google Shape;23;p39"/>
          <p:cNvSpPr txBox="1">
            <a:spLocks noGrp="1"/>
          </p:cNvSpPr>
          <p:nvPr>
            <p:ph type="title"/>
          </p:nvPr>
        </p:nvSpPr>
        <p:spPr>
          <a:xfrm>
            <a:off x="674977" y="319708"/>
            <a:ext cx="18733323" cy="1133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339" b="1" i="0" u="none" strike="noStrike" cap="none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39"/>
          <p:cNvSpPr txBox="1">
            <a:spLocks noGrp="1"/>
          </p:cNvSpPr>
          <p:nvPr>
            <p:ph type="body" idx="1"/>
          </p:nvPr>
        </p:nvSpPr>
        <p:spPr>
          <a:xfrm>
            <a:off x="674977" y="1526566"/>
            <a:ext cx="18733323" cy="808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91425" bIns="91425" anchor="t" anchorCtr="0">
            <a:noAutofit/>
          </a:bodyPr>
          <a:lstStyle>
            <a:lvl1pPr marL="636108" lvl="0" indent="-3180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3298" b="1">
                <a:solidFill>
                  <a:srgbClr val="4682B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1272220" lvl="1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908330" lvl="2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544442" lvl="3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180552" lvl="4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816662" lvl="5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452772" lvl="6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088882" lvl="7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724990" lvl="8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39"/>
          <p:cNvSpPr txBox="1">
            <a:spLocks noGrp="1"/>
          </p:cNvSpPr>
          <p:nvPr>
            <p:ph type="body" idx="2"/>
          </p:nvPr>
        </p:nvSpPr>
        <p:spPr>
          <a:xfrm>
            <a:off x="685478" y="2545919"/>
            <a:ext cx="18733323" cy="771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36108" lvl="0" indent="-47708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682B4"/>
              </a:buClr>
              <a:buSzPts val="1800"/>
              <a:buChar char="●"/>
              <a:defRPr>
                <a:solidFill>
                  <a:srgbClr val="4682B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1272220" lvl="1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908330" lvl="2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2544442" lvl="3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3180552" lvl="4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3816662" lvl="5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452772" lvl="6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088882" lvl="7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724990" lvl="8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" name="Google Shape;27;p39">
            <a:extLst>
              <a:ext uri="{FF2B5EF4-FFF2-40B4-BE49-F238E27FC236}">
                <a16:creationId xmlns:a16="http://schemas.microsoft.com/office/drawing/2014/main" id="{44F387EA-F625-C582-A33D-83F09832E0F2}"/>
              </a:ext>
            </a:extLst>
          </p:cNvPr>
          <p:cNvSpPr txBox="1"/>
          <p:nvPr userDrawn="1"/>
        </p:nvSpPr>
        <p:spPr>
          <a:xfrm>
            <a:off x="9728766" y="10939602"/>
            <a:ext cx="703441" cy="386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sz="1814" b="1" i="0" u="none" strike="noStrike" cap="none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t>‹#›</a:t>
            </a:fld>
            <a:endParaRPr sz="1814" b="1" i="0" u="none" strike="noStrike" cap="none">
              <a:solidFill>
                <a:schemeClr val="bg1">
                  <a:lumMod val="6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A black and white drawing of a solar powered airplane&#10;&#10;AI-generated content may be incorrect.">
            <a:extLst>
              <a:ext uri="{FF2B5EF4-FFF2-40B4-BE49-F238E27FC236}">
                <a16:creationId xmlns:a16="http://schemas.microsoft.com/office/drawing/2014/main" id="{EC6DE54B-5814-6016-8C3B-C61474AA11D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60" t="20606" r="4141" b="23333"/>
          <a:stretch/>
        </p:blipFill>
        <p:spPr>
          <a:xfrm>
            <a:off x="17812042" y="10162586"/>
            <a:ext cx="2265083" cy="1130282"/>
          </a:xfrm>
          <a:prstGeom prst="rect">
            <a:avLst/>
          </a:prstGeom>
        </p:spPr>
      </p:pic>
      <p:pic>
        <p:nvPicPr>
          <p:cNvPr id="4" name="Picture 3" descr="A yellow circle with black background&#10;&#10;AI-generated content may be incorrect.">
            <a:extLst>
              <a:ext uri="{FF2B5EF4-FFF2-40B4-BE49-F238E27FC236}">
                <a16:creationId xmlns:a16="http://schemas.microsoft.com/office/drawing/2014/main" id="{C12B16E3-10C8-7041-FCA3-AE0CD133B7E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4103" y="10823443"/>
            <a:ext cx="3313992" cy="34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343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874" userDrawn="1">
          <p15:clr>
            <a:srgbClr val="FBAE40"/>
          </p15:clr>
        </p15:guide>
        <p15:guide id="2" pos="12375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3D41E-AA35-2A07-32AC-3E38D86ED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284" y="1458037"/>
            <a:ext cx="4471035" cy="458587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1D96D-D050-5566-8EEA-A7BB2AECB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2570" y="3969385"/>
            <a:ext cx="11010899" cy="13849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C6AE0CA-0997-3583-ED4A-5C959D531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8C5C3-F851-43F1-9254-F8F2A8FBFA54}" type="datetime1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79C7677-25B9-4467-9CAF-15DD28402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Team: DAS, EVV, JYH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CF6E64-F095-9E64-9B97-BFCF0A22A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A7B61-EF3F-45A1-A87E-B7B2FE770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63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1_Title onl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 not remove" hidden="1">
            <a:extLst>
              <a:ext uri="{FF2B5EF4-FFF2-40B4-BE49-F238E27FC236}">
                <a16:creationId xmlns:a16="http://schemas.microsoft.com/office/drawing/2014/main" id="{8DD95F3A-5BBC-3BA0-F622-8444B330D25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6" y="0"/>
            <a:ext cx="20943" cy="20943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339">
              <a:latin typeface="Roboto" pitchFamily="2" charset="0"/>
            </a:endParaRPr>
          </a:p>
        </p:txBody>
      </p:sp>
      <p:sp>
        <p:nvSpPr>
          <p:cNvPr id="23" name="Google Shape;23;p39"/>
          <p:cNvSpPr txBox="1">
            <a:spLocks noGrp="1"/>
          </p:cNvSpPr>
          <p:nvPr>
            <p:ph type="title"/>
          </p:nvPr>
        </p:nvSpPr>
        <p:spPr>
          <a:xfrm>
            <a:off x="674977" y="319708"/>
            <a:ext cx="18733323" cy="1133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339" b="1" i="0" u="none" strike="noStrike" cap="none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39"/>
          <p:cNvSpPr txBox="1">
            <a:spLocks noGrp="1"/>
          </p:cNvSpPr>
          <p:nvPr>
            <p:ph type="body" idx="1"/>
          </p:nvPr>
        </p:nvSpPr>
        <p:spPr>
          <a:xfrm>
            <a:off x="674977" y="1526566"/>
            <a:ext cx="18733323" cy="808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91425" bIns="91425" anchor="t" anchorCtr="0">
            <a:noAutofit/>
          </a:bodyPr>
          <a:lstStyle>
            <a:lvl1pPr marL="636108" lvl="0" indent="-3180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3298" b="1">
                <a:solidFill>
                  <a:srgbClr val="4682B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1272220" lvl="1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908330" lvl="2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544442" lvl="3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180552" lvl="4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816662" lvl="5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452772" lvl="6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088882" lvl="7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724990" lvl="8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39"/>
          <p:cNvSpPr txBox="1">
            <a:spLocks noGrp="1"/>
          </p:cNvSpPr>
          <p:nvPr>
            <p:ph type="body" idx="2"/>
          </p:nvPr>
        </p:nvSpPr>
        <p:spPr>
          <a:xfrm>
            <a:off x="685478" y="2545919"/>
            <a:ext cx="18733323" cy="771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36108" lvl="0" indent="-47708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682B4"/>
              </a:buClr>
              <a:buSzPts val="1800"/>
              <a:buChar char="●"/>
              <a:defRPr>
                <a:solidFill>
                  <a:srgbClr val="4682B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1272220" lvl="1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908330" lvl="2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2544442" lvl="3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3180552" lvl="4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3816662" lvl="5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452772" lvl="6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088882" lvl="7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724990" lvl="8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" name="Google Shape;27;p39">
            <a:extLst>
              <a:ext uri="{FF2B5EF4-FFF2-40B4-BE49-F238E27FC236}">
                <a16:creationId xmlns:a16="http://schemas.microsoft.com/office/drawing/2014/main" id="{44F387EA-F625-C582-A33D-83F09832E0F2}"/>
              </a:ext>
            </a:extLst>
          </p:cNvPr>
          <p:cNvSpPr txBox="1"/>
          <p:nvPr userDrawn="1"/>
        </p:nvSpPr>
        <p:spPr>
          <a:xfrm>
            <a:off x="9728766" y="10939602"/>
            <a:ext cx="703441" cy="386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sz="1814" b="1" i="0" u="none" strike="noStrike" cap="none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t>‹#›</a:t>
            </a:fld>
            <a:endParaRPr sz="1814" b="1" i="0" u="none" strike="noStrike" cap="none">
              <a:solidFill>
                <a:schemeClr val="bg1">
                  <a:lumMod val="6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A black and white drawing of a solar powered airplane&#10;&#10;AI-generated content may be incorrect.">
            <a:extLst>
              <a:ext uri="{FF2B5EF4-FFF2-40B4-BE49-F238E27FC236}">
                <a16:creationId xmlns:a16="http://schemas.microsoft.com/office/drawing/2014/main" id="{EC6DE54B-5814-6016-8C3B-C61474AA11D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60" t="20606" r="4141" b="23333"/>
          <a:stretch/>
        </p:blipFill>
        <p:spPr>
          <a:xfrm>
            <a:off x="17812042" y="10162586"/>
            <a:ext cx="2265083" cy="1130282"/>
          </a:xfrm>
          <a:prstGeom prst="rect">
            <a:avLst/>
          </a:prstGeom>
        </p:spPr>
      </p:pic>
      <p:pic>
        <p:nvPicPr>
          <p:cNvPr id="4" name="Picture 3" descr="A yellow circle with black background&#10;&#10;AI-generated content may be incorrect.">
            <a:extLst>
              <a:ext uri="{FF2B5EF4-FFF2-40B4-BE49-F238E27FC236}">
                <a16:creationId xmlns:a16="http://schemas.microsoft.com/office/drawing/2014/main" id="{C12B16E3-10C8-7041-FCA3-AE0CD133B7E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4103" y="10823443"/>
            <a:ext cx="3313992" cy="34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6664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874" userDrawn="1">
          <p15:clr>
            <a:srgbClr val="FBAE40"/>
          </p15:clr>
        </p15:guide>
        <p15:guide id="2" pos="12375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2_Title onl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 not remove" hidden="1">
            <a:extLst>
              <a:ext uri="{FF2B5EF4-FFF2-40B4-BE49-F238E27FC236}">
                <a16:creationId xmlns:a16="http://schemas.microsoft.com/office/drawing/2014/main" id="{8DD95F3A-5BBC-3BA0-F622-8444B330D25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6" y="0"/>
            <a:ext cx="20943" cy="20943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339">
              <a:latin typeface="Roboto" pitchFamily="2" charset="0"/>
            </a:endParaRPr>
          </a:p>
        </p:txBody>
      </p:sp>
      <p:sp>
        <p:nvSpPr>
          <p:cNvPr id="23" name="Google Shape;23;p39"/>
          <p:cNvSpPr txBox="1">
            <a:spLocks noGrp="1"/>
          </p:cNvSpPr>
          <p:nvPr>
            <p:ph type="title"/>
          </p:nvPr>
        </p:nvSpPr>
        <p:spPr>
          <a:xfrm>
            <a:off x="674977" y="319708"/>
            <a:ext cx="18733323" cy="1133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339" b="1" i="0" u="none" strike="noStrike" cap="none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39"/>
          <p:cNvSpPr txBox="1">
            <a:spLocks noGrp="1"/>
          </p:cNvSpPr>
          <p:nvPr>
            <p:ph type="body" idx="1"/>
          </p:nvPr>
        </p:nvSpPr>
        <p:spPr>
          <a:xfrm>
            <a:off x="674977" y="1526566"/>
            <a:ext cx="18733323" cy="808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91425" bIns="91425" anchor="t" anchorCtr="0">
            <a:noAutofit/>
          </a:bodyPr>
          <a:lstStyle>
            <a:lvl1pPr marL="636108" lvl="0" indent="-3180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3298" b="1">
                <a:solidFill>
                  <a:srgbClr val="4682B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1272220" lvl="1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908330" lvl="2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544442" lvl="3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180552" lvl="4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816662" lvl="5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452772" lvl="6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088882" lvl="7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724990" lvl="8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39"/>
          <p:cNvSpPr txBox="1">
            <a:spLocks noGrp="1"/>
          </p:cNvSpPr>
          <p:nvPr>
            <p:ph type="body" idx="2"/>
          </p:nvPr>
        </p:nvSpPr>
        <p:spPr>
          <a:xfrm>
            <a:off x="685478" y="2545919"/>
            <a:ext cx="18733323" cy="771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36108" lvl="0" indent="-47708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682B4"/>
              </a:buClr>
              <a:buSzPts val="1800"/>
              <a:buChar char="●"/>
              <a:defRPr>
                <a:solidFill>
                  <a:srgbClr val="4682B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1272220" lvl="1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908330" lvl="2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2544442" lvl="3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3180552" lvl="4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3816662" lvl="5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452772" lvl="6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088882" lvl="7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724990" lvl="8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" name="Google Shape;27;p39">
            <a:extLst>
              <a:ext uri="{FF2B5EF4-FFF2-40B4-BE49-F238E27FC236}">
                <a16:creationId xmlns:a16="http://schemas.microsoft.com/office/drawing/2014/main" id="{44F387EA-F625-C582-A33D-83F09832E0F2}"/>
              </a:ext>
            </a:extLst>
          </p:cNvPr>
          <p:cNvSpPr txBox="1"/>
          <p:nvPr userDrawn="1"/>
        </p:nvSpPr>
        <p:spPr>
          <a:xfrm>
            <a:off x="9728766" y="10939602"/>
            <a:ext cx="703441" cy="386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sz="1814" b="1" i="0" u="none" strike="noStrike" cap="none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t>‹#›</a:t>
            </a:fld>
            <a:endParaRPr sz="1814" b="1" i="0" u="none" strike="noStrike" cap="none">
              <a:solidFill>
                <a:schemeClr val="bg1">
                  <a:lumMod val="6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A black and white drawing of a solar powered airplane&#10;&#10;AI-generated content may be incorrect.">
            <a:extLst>
              <a:ext uri="{FF2B5EF4-FFF2-40B4-BE49-F238E27FC236}">
                <a16:creationId xmlns:a16="http://schemas.microsoft.com/office/drawing/2014/main" id="{EC6DE54B-5814-6016-8C3B-C61474AA11D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60" t="20606" r="4141" b="23333"/>
          <a:stretch/>
        </p:blipFill>
        <p:spPr>
          <a:xfrm>
            <a:off x="17812042" y="10162586"/>
            <a:ext cx="2265083" cy="1130282"/>
          </a:xfrm>
          <a:prstGeom prst="rect">
            <a:avLst/>
          </a:prstGeom>
        </p:spPr>
      </p:pic>
      <p:pic>
        <p:nvPicPr>
          <p:cNvPr id="4" name="Picture 3" descr="A yellow circle with black background&#10;&#10;AI-generated content may be incorrect.">
            <a:extLst>
              <a:ext uri="{FF2B5EF4-FFF2-40B4-BE49-F238E27FC236}">
                <a16:creationId xmlns:a16="http://schemas.microsoft.com/office/drawing/2014/main" id="{C12B16E3-10C8-7041-FCA3-AE0CD133B7E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4103" y="10823443"/>
            <a:ext cx="3313992" cy="34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077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874" userDrawn="1">
          <p15:clr>
            <a:srgbClr val="FBAE40"/>
          </p15:clr>
        </p15:guide>
        <p15:guide id="2" pos="12375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Title onl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 not remove" hidden="1">
            <a:extLst>
              <a:ext uri="{FF2B5EF4-FFF2-40B4-BE49-F238E27FC236}">
                <a16:creationId xmlns:a16="http://schemas.microsoft.com/office/drawing/2014/main" id="{8DD95F3A-5BBC-3BA0-F622-8444B330D25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1" y="0"/>
            <a:ext cx="20943" cy="20943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339">
              <a:latin typeface="Roboto" pitchFamily="2" charset="0"/>
            </a:endParaRPr>
          </a:p>
        </p:txBody>
      </p:sp>
      <p:sp>
        <p:nvSpPr>
          <p:cNvPr id="23" name="Google Shape;23;p39"/>
          <p:cNvSpPr txBox="1">
            <a:spLocks noGrp="1"/>
          </p:cNvSpPr>
          <p:nvPr>
            <p:ph type="title"/>
          </p:nvPr>
        </p:nvSpPr>
        <p:spPr>
          <a:xfrm>
            <a:off x="674972" y="319708"/>
            <a:ext cx="18733323" cy="1133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339" b="1" i="0" u="none" strike="noStrike" cap="none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39"/>
          <p:cNvSpPr txBox="1">
            <a:spLocks noGrp="1"/>
          </p:cNvSpPr>
          <p:nvPr>
            <p:ph type="body" idx="1"/>
          </p:nvPr>
        </p:nvSpPr>
        <p:spPr>
          <a:xfrm>
            <a:off x="674972" y="1526566"/>
            <a:ext cx="18733323" cy="808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91425" bIns="91425" anchor="t" anchorCtr="0">
            <a:noAutofit/>
          </a:bodyPr>
          <a:lstStyle>
            <a:lvl1pPr marL="636168" lvl="0" indent="-31808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3298" b="1">
                <a:solidFill>
                  <a:srgbClr val="4682B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1272339" lvl="1" indent="-44178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908508" lvl="2" indent="-44178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544676" lvl="3" indent="-44178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180847" lvl="4" indent="-44178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817015" lvl="5" indent="-44178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453184" lvl="6" indent="-44178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089353" lvl="7" indent="-44178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725521" lvl="8" indent="-44178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39"/>
          <p:cNvSpPr txBox="1">
            <a:spLocks noGrp="1"/>
          </p:cNvSpPr>
          <p:nvPr>
            <p:ph type="body" idx="2"/>
          </p:nvPr>
        </p:nvSpPr>
        <p:spPr>
          <a:xfrm>
            <a:off x="685473" y="2545912"/>
            <a:ext cx="18733323" cy="771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36168" lvl="0" indent="-47712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682B4"/>
              </a:buClr>
              <a:buSzPts val="1800"/>
              <a:buChar char="●"/>
              <a:defRPr>
                <a:solidFill>
                  <a:srgbClr val="4682B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1272339" lvl="1" indent="-44178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908508" lvl="2" indent="-44178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2544676" lvl="3" indent="-44178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3180847" lvl="4" indent="-44178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3817015" lvl="5" indent="-44178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453184" lvl="6" indent="-44178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089353" lvl="7" indent="-44178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725521" lvl="8" indent="-44178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" name="Google Shape;27;p39">
            <a:extLst>
              <a:ext uri="{FF2B5EF4-FFF2-40B4-BE49-F238E27FC236}">
                <a16:creationId xmlns:a16="http://schemas.microsoft.com/office/drawing/2014/main" id="{44F387EA-F625-C582-A33D-83F09832E0F2}"/>
              </a:ext>
            </a:extLst>
          </p:cNvPr>
          <p:cNvSpPr txBox="1"/>
          <p:nvPr userDrawn="1"/>
        </p:nvSpPr>
        <p:spPr>
          <a:xfrm>
            <a:off x="9728761" y="10939595"/>
            <a:ext cx="703441" cy="386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sz="1814" b="1" i="0" u="none" strike="noStrike" cap="none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t>‹#›</a:t>
            </a:fld>
            <a:endParaRPr sz="1814" b="1" i="0" u="none" strike="noStrike" cap="none">
              <a:solidFill>
                <a:schemeClr val="bg1">
                  <a:lumMod val="6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A black and white drawing of a solar powered airplane&#10;&#10;AI-generated content may be incorrect.">
            <a:extLst>
              <a:ext uri="{FF2B5EF4-FFF2-40B4-BE49-F238E27FC236}">
                <a16:creationId xmlns:a16="http://schemas.microsoft.com/office/drawing/2014/main" id="{EC6DE54B-5814-6016-8C3B-C61474AA11D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60" t="20606" r="4141" b="23333"/>
          <a:stretch/>
        </p:blipFill>
        <p:spPr>
          <a:xfrm>
            <a:off x="17812037" y="10162586"/>
            <a:ext cx="2265083" cy="1130282"/>
          </a:xfrm>
          <a:prstGeom prst="rect">
            <a:avLst/>
          </a:prstGeom>
        </p:spPr>
      </p:pic>
      <p:pic>
        <p:nvPicPr>
          <p:cNvPr id="4" name="Picture 3" descr="A yellow circle with black background&#10;&#10;AI-generated content may be incorrect.">
            <a:extLst>
              <a:ext uri="{FF2B5EF4-FFF2-40B4-BE49-F238E27FC236}">
                <a16:creationId xmlns:a16="http://schemas.microsoft.com/office/drawing/2014/main" id="{C12B16E3-10C8-7041-FCA3-AE0CD133B7E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4102" y="10823436"/>
            <a:ext cx="3313992" cy="34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5644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2">
          <p15:clr>
            <a:srgbClr val="FBAE40"/>
          </p15:clr>
        </p15:guide>
        <p15:guide id="2" pos="7505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3D41E-AA35-2A07-32AC-3E38D86ED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284" y="1458033"/>
            <a:ext cx="4471035" cy="4585871"/>
          </a:xfrm>
        </p:spPr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1D96D-D050-5566-8EEA-A7BB2AECB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2570" y="3969377"/>
            <a:ext cx="11010900" cy="1384995"/>
          </a:xfrm>
        </p:spPr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C6AE0CA-0997-3583-ED4A-5C959D531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8C5C3-F851-43F1-9254-F8F2A8FBFA54}" type="datetime1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79C7677-25B9-4467-9CAF-15DD28402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Team: DAS, EVV, JYH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CF6E64-F095-9E64-9B97-BFCF0A22A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A7B61-EF3F-45A1-A87E-B7B2FE770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779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471215-5710-DFD3-1634-170A94C14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157" y="602125"/>
            <a:ext cx="17339786" cy="21859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75286F-ECA1-FBDC-26C5-AE31828E8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2157" y="3010591"/>
            <a:ext cx="17339786" cy="7175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73F12-B128-0232-8455-5B510F931A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418319" y="10583757"/>
            <a:ext cx="4523423" cy="6021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7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F3D368-438A-044B-8141-471639BA7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761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l" defTabSz="1507776" rtl="0" eaLnBrk="1" latinLnBrk="0" hangingPunct="1">
        <a:lnSpc>
          <a:spcPct val="90000"/>
        </a:lnSpc>
        <a:spcBef>
          <a:spcPct val="0"/>
        </a:spcBef>
        <a:buNone/>
        <a:defRPr sz="7256" b="0" i="0" kern="1200">
          <a:solidFill>
            <a:schemeClr val="tx1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1pPr>
    </p:titleStyle>
    <p:bodyStyle>
      <a:lvl1pPr marL="376943" indent="-376943" algn="l" defTabSz="1507776" rtl="0" eaLnBrk="1" latinLnBrk="0" hangingPunct="1">
        <a:lnSpc>
          <a:spcPct val="90000"/>
        </a:lnSpc>
        <a:spcBef>
          <a:spcPts val="1649"/>
        </a:spcBef>
        <a:buFont typeface="Arial" panose="020B0604020202020204" pitchFamily="34" charset="0"/>
        <a:buChar char="•"/>
        <a:defRPr sz="4617" b="0" i="0" kern="1200">
          <a:solidFill>
            <a:schemeClr val="tx1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1pPr>
      <a:lvl2pPr marL="1130831" indent="-376943" algn="l" defTabSz="150777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3958" b="0" i="0" kern="1200">
          <a:solidFill>
            <a:schemeClr val="tx1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2pPr>
      <a:lvl3pPr marL="1884720" indent="-376943" algn="l" defTabSz="150777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3298" b="0" i="0" kern="1200">
          <a:solidFill>
            <a:schemeClr val="tx1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3pPr>
      <a:lvl4pPr marL="2638608" indent="-376943" algn="l" defTabSz="150777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b="0" i="0" kern="1200">
          <a:solidFill>
            <a:schemeClr val="tx1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4pPr>
      <a:lvl5pPr marL="3392496" indent="-376943" algn="l" defTabSz="150777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b="0" i="0" kern="1200">
          <a:solidFill>
            <a:schemeClr val="tx1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5pPr>
      <a:lvl6pPr marL="4146382" indent="-376943" algn="l" defTabSz="150777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6pPr>
      <a:lvl7pPr marL="4900271" indent="-376943" algn="l" defTabSz="150777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7pPr>
      <a:lvl8pPr marL="5654159" indent="-376943" algn="l" defTabSz="150777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8pPr>
      <a:lvl9pPr marL="6408047" indent="-376943" algn="l" defTabSz="150777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0777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1pPr>
      <a:lvl2pPr marL="753888" algn="l" defTabSz="150777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2pPr>
      <a:lvl3pPr marL="1507776" algn="l" defTabSz="150777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3pPr>
      <a:lvl4pPr marL="2261663" algn="l" defTabSz="150777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4pPr>
      <a:lvl5pPr marL="3015551" algn="l" defTabSz="150777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5pPr>
      <a:lvl6pPr marL="3769439" algn="l" defTabSz="150777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6pPr>
      <a:lvl7pPr marL="4523327" algn="l" defTabSz="150777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7pPr>
      <a:lvl8pPr marL="5277216" algn="l" defTabSz="150777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8pPr>
      <a:lvl9pPr marL="6031102" algn="l" defTabSz="150777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1555284" y="1458034"/>
            <a:ext cx="4471035" cy="1146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450" b="0" i="0" u="none" strike="noStrike" cap="none">
                <a:solidFill>
                  <a:srgbClr val="839FFE"/>
                </a:solidFill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7442570" y="3969385"/>
            <a:ext cx="1101089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ftr" idx="11"/>
          </p:nvPr>
        </p:nvSpPr>
        <p:spPr>
          <a:xfrm>
            <a:off x="14929254" y="10502954"/>
            <a:ext cx="3871594" cy="138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Figtre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1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1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1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1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1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1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1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1"/>
            </a:lvl9pPr>
          </a:lstStyle>
          <a:p>
            <a:endParaRPr lang="en-US"/>
          </a:p>
        </p:txBody>
      </p:sp>
      <p:sp>
        <p:nvSpPr>
          <p:cNvPr id="13" name="Google Shape;13;p11"/>
          <p:cNvSpPr txBox="1">
            <a:spLocks noGrp="1"/>
          </p:cNvSpPr>
          <p:nvPr>
            <p:ph type="dt" idx="10"/>
          </p:nvPr>
        </p:nvSpPr>
        <p:spPr>
          <a:xfrm>
            <a:off x="1005205" y="10517703"/>
            <a:ext cx="4623943" cy="27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1">
                <a:solidFill>
                  <a:srgbClr val="888888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1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1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1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1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1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1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1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1"/>
            </a:lvl9pPr>
          </a:lstStyle>
          <a:p>
            <a:endParaRPr lang="en-US"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19250545" y="10493790"/>
            <a:ext cx="187960" cy="138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699" lv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Figtree Medium"/>
              </a:defRPr>
            </a:lvl1pPr>
            <a:lvl2pPr marL="12699" lvl="1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2pPr>
            <a:lvl3pPr marL="12699" lvl="2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3pPr>
            <a:lvl4pPr marL="12699" lvl="3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4pPr>
            <a:lvl5pPr marL="12699" lvl="4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5pPr>
            <a:lvl6pPr marL="12699" lvl="5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6pPr>
            <a:lvl7pPr marL="12699" lvl="6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7pPr>
            <a:lvl8pPr marL="12699" lvl="7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8pPr>
            <a:lvl9pPr marL="12699" lvl="8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39919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Roboto" panose="02000000000000000000" pitchFamily="2" charset="0"/>
          <a:ea typeface="Roboto" panose="02000000000000000000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Roboto" panose="02000000000000000000" pitchFamily="2" charset="0"/>
          <a:ea typeface="Roboto" panose="02000000000000000000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1555284" y="1458033"/>
            <a:ext cx="4471035" cy="1146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450" b="0" i="0" u="none" strike="noStrike" cap="none">
                <a:solidFill>
                  <a:srgbClr val="839FFE"/>
                </a:solidFill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7442570" y="3969377"/>
            <a:ext cx="110109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ftr" idx="11"/>
          </p:nvPr>
        </p:nvSpPr>
        <p:spPr>
          <a:xfrm>
            <a:off x="14929253" y="10502948"/>
            <a:ext cx="387159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Figtre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lang="en-US"/>
          </a:p>
        </p:txBody>
      </p:sp>
      <p:sp>
        <p:nvSpPr>
          <p:cNvPr id="13" name="Google Shape;13;p11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lang="en-US"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19250544" y="10493783"/>
            <a:ext cx="18795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700" lv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Figtree Medium"/>
              </a:defRPr>
            </a:lvl1pPr>
            <a:lvl2pPr marL="12700" lvl="1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2pPr>
            <a:lvl3pPr marL="12700" lvl="2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3pPr>
            <a:lvl4pPr marL="12700" lvl="3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4pPr>
            <a:lvl5pPr marL="12700" lvl="4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5pPr>
            <a:lvl6pPr marL="12700" lvl="5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6pPr>
            <a:lvl7pPr marL="12700" lvl="6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7pPr>
            <a:lvl8pPr marL="12700" lvl="7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8pPr>
            <a:lvl9pPr marL="12700" lvl="8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32948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https://blueravensolar.sharepoint.com/sites/QualityOMandCustomerSuccess/Shared%20Documents/Quality%20Data%20Repository/SPWR%20Direct%20FPY/FPY_SPD_8_rev00.xlsb!FPY_Summary!%5bFPY_SPD_8_rev00.xlsb%5dFPY_Summary%20Chart%205" TargetMode="Externa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https://blueravensolar.sharepoint.com/sites/QualityOMandCustomerSuccess/Shared%20Documents/BRS%20SCV/BRS%20SCV_Corp_Audit_rev01.xlsx!QA-BRS_FPY_Pareto!%5bBRS%20SCV_Corp_Audit_rev01.xlsx%5dQA-BRS_FPY_Pareto%20Chart%201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9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https://blueravensolar.sharepoint.com/sites/QualityOMandCustomerSuccess/Shared%20Documents/NH%20JCO%20First%20Pass%20Yield%20Data/NH%20M2%20FPY%20for%20CorpQA_rev00.xlsx!SPD_LR_JF_Pareto!%5bNH%20M2%20FPY%20for%20CorpQA_rev00.xlsx%5dSPD_LR_JF_Pareto%20Pareto_M1QA" TargetMode="Externa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oleObject" Target="https://blueravensolar.sharepoint.com/sites/QualityOMandCustomerSuccess/Shared%20Documents/NH%20JCO%20First%20Pass%20Yield%20Data/NH%20M2%20FPY%20for%20CorpQA_rev00.xlsx!SPD_LR_JF_Pareto!%5bNH%20M2%20FPY%20for%20CorpQA_rev00.xlsx%5dSPD_LR_JF_Pareto%20Pareto_M1QA" TargetMode="Externa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https://blueravensolar.sharepoint.com/sites/QualityOMandCustomerSuccess/Shared%20Documents/NH%20JCO%20First%20Pass%20Yield%20Data/NH%20M2%20FPY%20for%20CorpQA_rev00.xlsx!SPD_LR_JF_Pareto!%5bNH%20M2%20FPY%20for%20CorpQA_rev00.xlsx%5dSPD_LR_JF_Pareto%20Chart%2016" TargetMode="Externa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https://blueravensolar.sharepoint.com/sites/QualityOMandCustomerSuccess/Shared%20Documents/Quality%20Data%20Repository/SPWR%20Direct%20FPY/14%20Final%20Inspection%20Verified/S14_FIV_FPY_rev00.xlsb!FPY_Pareto!%5bS14_FIV_FPY_rev00.xlsb%5dFPY_Pareto%20Chart%205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memosystem.sunpower.com/file/memo/ZJW/30/A/0b67af00-0956-41fa-9d64-ebf2d2eaab7d" TargetMode="External"/><Relationship Id="rId5" Type="http://schemas.openxmlformats.org/officeDocument/2006/relationships/hyperlink" Target="https://ambia.lightning.force.com/lightning/r/Dashboard/01ZUS00000Iajtu2AB/view?queryScope=userFolders" TargetMode="External"/><Relationship Id="rId4" Type="http://schemas.openxmlformats.org/officeDocument/2006/relationships/image" Target="../media/image14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ambia.lightning.force.com/lightning/r/Dashboard/01ZUS00000Iajtu2AB/view?queryScope=userFolders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ambia.lightning.force.com/lightning/r/Dashboard/01ZUS00000Iajtu2AB/view?queryScope=userFolders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6.emf"/><Relationship Id="rId5" Type="http://schemas.openxmlformats.org/officeDocument/2006/relationships/oleObject" Target="https://blueravensolar.sharepoint.com/sites/QualityOMandCustomerSuccess/Shared%20Documents/Quality%20Data%20Repository/SPWR%20Direct%20FPY/14%20Final%20Inspection%20Verified/S14_FIV_FPY_rev00.xlsb!FPY_Pareto!%5bS14_FIV_FPY_rev00.xlsb%5dFPY_Pareto%20Chart%204" TargetMode="External"/><Relationship Id="rId4" Type="http://schemas.openxmlformats.org/officeDocument/2006/relationships/image" Target="../media/image15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ambia.lightning.force.com/lightning/r/Dashboard/01ZUS00000Iajtu2AB/view?queryScope=userFolders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chart" Target="../charts/chart6.xml"/><Relationship Id="rId4" Type="http://schemas.openxmlformats.org/officeDocument/2006/relationships/hyperlink" Target="https://memosystem.sunpower.com/file/memo/ZJW/30/A/0b67af00-0956-41fa-9d64-ebf2d2eaab7d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oleObject" Target="https://blueravensolar.sharepoint.com/sites/QualityOMandCustomerSuccess/Shared%20Documents/NH%20JCO%20First%20Pass%20Yield%20Data/NH%20M2%20FPY%20for%20CorpQA_rev00.xlsx!SPD_LR_FPY!%5bNH%20M2%20FPY%20for%20CorpQA_rev00.xlsx%5dSPD_LR_FPY%20Chart%205" TargetMode="Externa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oleObject" Target="https://blueravensolar.sharepoint.com/sites/QualityOMandCustomerSuccess/Shared%20Documents/NH%20JCO%20First%20Pass%20Yield%20Data/NH%20M2%20FPY%20for%20CorpQA_rev00.xlsx!SPD_LR_FPY!%5bNH%20M2%20FPY%20for%20CorpQA_rev00.xlsx%5dSPD_LR_FPY%20Chart%205" TargetMode="Externa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oleObject" Target="https://blueravensolar.sharepoint.com/sites/QualityOMandCustomerSuccess/Shared%20Documents/NH%20JCO%20First%20Pass%20Yield%20Data/NH%20M2%20FPY%20for%20CorpQA_rev00.xlsx!SPD_LR_JF_Pareto!%5bNH%20M2%20FPY%20for%20CorpQA_rev00.xlsx%5dSPD_LR_JF_Pareto%20Chart%206" TargetMode="Externa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oleObject" Target="https://blueravensolar.sharepoint.com/sites/QualityOMandCustomerSuccess/Shared%20Documents/NH%20JCO%20First%20Pass%20Yield%20Data/NH%20M2%20FPY%20for%20CorpQA_rev00.xlsx!SPD_LR_JF_Pareto!%5bNH%20M2%20FPY%20for%20CorpQA_rev00.xlsx%5dSPD_LR_JF_Pareto%20Chart%208" TargetMode="Externa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oleObject" Target="https://blueravensolar.sharepoint.com/sites/QualityOMandCustomerSuccess/Shared%20Documents/NH%20JCO%20First%20Pass%20Yield%20Data/NH%20M2%20FPY%20for%20CorpQA_rev00.xlsx!SPD_LR_JF_Pareto!%5bNH%20M2%20FPY%20for%20CorpQA_rev00.xlsx%5dSPD_LR_JF_Pareto%20Chart%206" TargetMode="Externa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oleObject" Target="https://blueravensolar.sharepoint.com/sites/QualityOMandCustomerSuccess/Shared%20Documents/NH%20JCO%20First%20Pass%20Yield%20Data/NH%20M2%20FPY%20for%20CorpQA_rev00.xlsx!SPD_LR_JF_Pareto!%5bNH%20M2%20FPY%20for%20CorpQA_rev00.xlsx%5dSPD_LR_JF_Pareto%20Chart%208" TargetMode="Externa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124BB-A96C-2FCF-8C07-7A67FEB0F5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Cignetti Turnaround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F053FD-7943-A32F-26FB-3F71980E17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WW25 2026</a:t>
            </a:r>
          </a:p>
        </p:txBody>
      </p:sp>
    </p:spTree>
    <p:extLst>
      <p:ext uri="{BB962C8B-B14F-4D97-AF65-F5344CB8AC3E}">
        <p14:creationId xmlns:p14="http://schemas.microsoft.com/office/powerpoint/2010/main" val="1140965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1C497-3B0F-555A-7796-64E714BC6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4BC08-393C-3D09-3FD7-2FE12CCE9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104" y="393740"/>
            <a:ext cx="19045896" cy="881700"/>
          </a:xfrm>
        </p:spPr>
        <p:txBody>
          <a:bodyPr>
            <a:noAutofit/>
          </a:bodyPr>
          <a:lstStyle/>
          <a:p>
            <a:pPr algn="l"/>
            <a:r>
              <a:rPr lang="en-US" sz="4617" b="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SUNPOWER DIRECT PROCESSES: TARGET TO FPY=100%</a:t>
            </a:r>
            <a:endParaRPr lang="en-US" sz="4617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3AF66A-69D4-3B32-FD51-7D864A10A87A}"/>
              </a:ext>
            </a:extLst>
          </p:cNvPr>
          <p:cNvSpPr/>
          <p:nvPr/>
        </p:nvSpPr>
        <p:spPr>
          <a:xfrm>
            <a:off x="529099" y="10198363"/>
            <a:ext cx="3439058" cy="378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2486207">
              <a:defRPr/>
            </a:pPr>
            <a:r>
              <a:rPr lang="en-US" sz="1649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Author: JYH/EVV/ERF, 6/16/2026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C988A7-6B20-6C9B-603E-FAF78BF6095E}"/>
              </a:ext>
            </a:extLst>
          </p:cNvPr>
          <p:cNvSpPr/>
          <p:nvPr/>
        </p:nvSpPr>
        <p:spPr>
          <a:xfrm>
            <a:off x="4181485" y="10206893"/>
            <a:ext cx="2261711" cy="378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2486207">
              <a:defRPr/>
            </a:pPr>
            <a:r>
              <a:rPr lang="en-US" sz="1649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Owner: ERF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16DB11-486A-5E74-23A0-52576D3559E4}"/>
              </a:ext>
            </a:extLst>
          </p:cNvPr>
          <p:cNvSpPr/>
          <p:nvPr/>
        </p:nvSpPr>
        <p:spPr>
          <a:xfrm>
            <a:off x="6418989" y="10198363"/>
            <a:ext cx="2261711" cy="378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2486207">
              <a:defRPr/>
            </a:pPr>
            <a:r>
              <a:rPr lang="en-US" sz="1649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Spec: 10009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E3C76017-6858-6DD4-A741-03249E17E754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962577105"/>
              </p:ext>
            </p:extLst>
          </p:nvPr>
        </p:nvGraphicFramePr>
        <p:xfrm>
          <a:off x="529104" y="1283966"/>
          <a:ext cx="19045896" cy="882067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055465">
                  <a:extLst>
                    <a:ext uri="{9D8B030D-6E8A-4147-A177-3AD203B41FA5}">
                      <a16:colId xmlns:a16="http://schemas.microsoft.com/office/drawing/2014/main" val="1518125497"/>
                    </a:ext>
                  </a:extLst>
                </a:gridCol>
                <a:gridCol w="1056814">
                  <a:extLst>
                    <a:ext uri="{9D8B030D-6E8A-4147-A177-3AD203B41FA5}">
                      <a16:colId xmlns:a16="http://schemas.microsoft.com/office/drawing/2014/main" val="3675496511"/>
                    </a:ext>
                  </a:extLst>
                </a:gridCol>
                <a:gridCol w="2110931">
                  <a:extLst>
                    <a:ext uri="{9D8B030D-6E8A-4147-A177-3AD203B41FA5}">
                      <a16:colId xmlns:a16="http://schemas.microsoft.com/office/drawing/2014/main" val="1210708615"/>
                    </a:ext>
                  </a:extLst>
                </a:gridCol>
                <a:gridCol w="3707284">
                  <a:extLst>
                    <a:ext uri="{9D8B030D-6E8A-4147-A177-3AD203B41FA5}">
                      <a16:colId xmlns:a16="http://schemas.microsoft.com/office/drawing/2014/main" val="2171911438"/>
                    </a:ext>
                  </a:extLst>
                </a:gridCol>
                <a:gridCol w="666610">
                  <a:extLst>
                    <a:ext uri="{9D8B030D-6E8A-4147-A177-3AD203B41FA5}">
                      <a16:colId xmlns:a16="http://schemas.microsoft.com/office/drawing/2014/main" val="1930453277"/>
                    </a:ext>
                  </a:extLst>
                </a:gridCol>
                <a:gridCol w="3888557">
                  <a:extLst>
                    <a:ext uri="{9D8B030D-6E8A-4147-A177-3AD203B41FA5}">
                      <a16:colId xmlns:a16="http://schemas.microsoft.com/office/drawing/2014/main" val="2252815029"/>
                    </a:ext>
                  </a:extLst>
                </a:gridCol>
                <a:gridCol w="1349090">
                  <a:extLst>
                    <a:ext uri="{9D8B030D-6E8A-4147-A177-3AD203B41FA5}">
                      <a16:colId xmlns:a16="http://schemas.microsoft.com/office/drawing/2014/main" val="969082246"/>
                    </a:ext>
                  </a:extLst>
                </a:gridCol>
                <a:gridCol w="1743188">
                  <a:extLst>
                    <a:ext uri="{9D8B030D-6E8A-4147-A177-3AD203B41FA5}">
                      <a16:colId xmlns:a16="http://schemas.microsoft.com/office/drawing/2014/main" val="1043205116"/>
                    </a:ext>
                  </a:extLst>
                </a:gridCol>
                <a:gridCol w="1206246">
                  <a:extLst>
                    <a:ext uri="{9D8B030D-6E8A-4147-A177-3AD203B41FA5}">
                      <a16:colId xmlns:a16="http://schemas.microsoft.com/office/drawing/2014/main" val="1893318163"/>
                    </a:ext>
                  </a:extLst>
                </a:gridCol>
                <a:gridCol w="2261711">
                  <a:extLst>
                    <a:ext uri="{9D8B030D-6E8A-4147-A177-3AD203B41FA5}">
                      <a16:colId xmlns:a16="http://schemas.microsoft.com/office/drawing/2014/main" val="2761053476"/>
                    </a:ext>
                  </a:extLst>
                </a:gridCol>
              </a:tblGrid>
              <a:tr h="70364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 Level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Stage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Process Owner/</a:t>
                      </a:r>
                    </a:p>
                    <a:p>
                      <a:pPr algn="ctr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Quality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Milesone1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Milestone2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Level 2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Level 3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RCCA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Latest FPY</a:t>
                      </a:r>
                      <a:endParaRPr lang="en-US" sz="1800" b="0" i="0" u="none" strike="noStrike" baseline="30000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313161"/>
                  </a:ext>
                </a:extLst>
              </a:tr>
              <a:tr h="42721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T0</a:t>
                      </a:r>
                      <a:endParaRPr lang="en-US" sz="180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ea typeface="Arial" panose="020B06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S1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KXW/DJF</a:t>
                      </a:r>
                      <a:endParaRPr lang="en-US" sz="1800" b="0" i="0" u="none" strike="noStrike" kern="12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Booking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Project Received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12885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10848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147, D8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656348"/>
                  </a:ext>
                </a:extLst>
              </a:tr>
              <a:tr h="42721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T0</a:t>
                      </a:r>
                      <a:endParaRPr lang="en-US" sz="180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ea typeface="Arial" panose="020B06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S2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SGS/DJF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Project Received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Layout and Upgrade Review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12777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12304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147, D8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9422312"/>
                  </a:ext>
                </a:extLst>
              </a:tr>
              <a:tr h="42721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T0</a:t>
                      </a:r>
                      <a:endParaRPr lang="en-US" sz="180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ea typeface="Arial" panose="020B06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S3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u="none" strike="noStrike" kern="1200" noProof="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SGS</a:t>
                      </a: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/DJF</a:t>
                      </a:r>
                      <a:endParaRPr lang="en-US" sz="1800" b="0" u="none" strike="noStrike" kern="1200" noProof="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Layout and Upgrade Review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Project Huddle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12777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12304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6922580"/>
                  </a:ext>
                </a:extLst>
              </a:tr>
              <a:tr h="42721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T0</a:t>
                      </a:r>
                      <a:endParaRPr lang="en-US" sz="180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ea typeface="Arial" panose="020B06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S4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u="none" strike="noStrike" kern="1200" noProof="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SGS</a:t>
                      </a: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/DJF</a:t>
                      </a:r>
                      <a:endParaRPr lang="en-US" sz="1800" b="0" u="none" strike="noStrike" kern="1200" noProof="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Project Huddle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FDC (Project Acceptance)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12777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10470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137, D8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63%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3814576"/>
                  </a:ext>
                </a:extLst>
              </a:tr>
              <a:tr h="42721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T1</a:t>
                      </a:r>
                      <a:endParaRPr lang="en-US" sz="180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ea typeface="Arial" panose="020B06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S5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SGS/DJF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Final Design Complete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Permit Pack Completed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12777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12385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138, D6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8488054"/>
                  </a:ext>
                </a:extLst>
              </a:tr>
              <a:tr h="427212"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T1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S6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PXA/DJF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Permit Pack Completed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Request Permit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12759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10823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100%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3040417"/>
                  </a:ext>
                </a:extLst>
              </a:tr>
              <a:tr h="42721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PKN/EZD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IXP1 Submission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12649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12460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3994253"/>
                  </a:ext>
                </a:extLst>
              </a:tr>
              <a:tr h="427212"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T1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S7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PXA/DJF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Request Permit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Permit Approved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12649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12556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100%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9950506"/>
                  </a:ext>
                </a:extLst>
              </a:tr>
              <a:tr h="42721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PKN/EZD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IXP1 Submission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IXP1 Approval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12649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12556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222, D1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100%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4229415"/>
                  </a:ext>
                </a:extLst>
              </a:tr>
              <a:tr h="42721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T1</a:t>
                      </a:r>
                      <a:endParaRPr lang="en-US" sz="180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ea typeface="Arial" panose="020B06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S8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u="none" strike="noStrike" kern="120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SAH/DJF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Permit Approved/IXP1 Approval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Ready To Schedule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12783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10961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7954875"/>
                  </a:ext>
                </a:extLst>
              </a:tr>
              <a:tr h="42721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T1</a:t>
                      </a:r>
                      <a:endParaRPr lang="en-US" sz="180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ea typeface="Arial" panose="020B06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S9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SAH/ZJW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Ready To Schedule</a:t>
                      </a:r>
                      <a:endParaRPr lang="en-U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Install Scheduled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12783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11819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6302325"/>
                  </a:ext>
                </a:extLst>
              </a:tr>
              <a:tr h="42721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T1</a:t>
                      </a:r>
                      <a:endParaRPr lang="en-US" sz="180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ea typeface="Arial" panose="020B06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S10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IPG/ZJW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Install Scheduled</a:t>
                      </a:r>
                      <a:endParaRPr lang="en-U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Substantial Completion Verified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12022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10496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188, D6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70%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6585576"/>
                  </a:ext>
                </a:extLst>
              </a:tr>
              <a:tr h="42721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T2</a:t>
                      </a:r>
                      <a:endParaRPr lang="en-US" sz="180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ea typeface="Arial" panose="020B06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S11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KMM/RJG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Substantial Completion Verified</a:t>
                      </a:r>
                      <a:endParaRPr lang="en-U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M2 Install Submission</a:t>
                      </a:r>
                      <a:r>
                        <a:rPr lang="en-US" sz="1800" b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(Parallel)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bg1"/>
                          </a:solidFill>
                          <a:effectLst/>
                          <a:highlight>
                            <a:srgbClr val="FFFF00"/>
                          </a:highligh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No Spec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12285/12430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228, D4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97%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5777781"/>
                  </a:ext>
                </a:extLst>
              </a:tr>
              <a:tr h="42721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T2</a:t>
                      </a:r>
                      <a:endParaRPr lang="en-US" sz="180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ea typeface="Arial" panose="020B06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S12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KMM/RJG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M2 Submission</a:t>
                      </a:r>
                      <a:endParaRPr lang="en-U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M2 Install Approved</a:t>
                      </a:r>
                      <a:r>
                        <a:rPr lang="en-US" sz="1800" b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(Parallel)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dirty="0">
                          <a:solidFill>
                            <a:schemeClr val="bg1"/>
                          </a:solidFill>
                          <a:effectLst/>
                          <a:highlight>
                            <a:srgbClr val="FFFF00"/>
                          </a:highligh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No Spec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12285/12430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228, D4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98%</a:t>
                      </a:r>
                      <a:endParaRPr lang="en-US" sz="13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6622670"/>
                  </a:ext>
                </a:extLst>
              </a:tr>
              <a:tr h="42721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T2</a:t>
                      </a:r>
                      <a:endParaRPr lang="en-US" sz="1800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ea typeface="Arial" panose="020B06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S13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RLJ/ZJW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Substantial Complete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Final Inspection Scheduled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12807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11001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187, D3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5778971"/>
                  </a:ext>
                </a:extLst>
              </a:tr>
              <a:tr h="42721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T2</a:t>
                      </a:r>
                      <a:endParaRPr lang="en-US" sz="180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ea typeface="Arial" panose="020B06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S14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RLJ/ZJW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Final Inspection Scheduled</a:t>
                      </a:r>
                      <a:endParaRPr lang="en-U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Final Inspection Verified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12807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10899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187, D3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68%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1793290"/>
                  </a:ext>
                </a:extLst>
              </a:tr>
              <a:tr h="427212"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T3</a:t>
                      </a:r>
                      <a:endParaRPr lang="en-US" sz="1800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ea typeface="Arial" panose="020B06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S15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PKN/EZD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Final Inspection Verified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Permission To Operate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12834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11143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740790"/>
                  </a:ext>
                </a:extLst>
              </a:tr>
              <a:tr h="427212">
                <a:tc vMerge="1"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1100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ea typeface="Arial" panose="020B0604020202020204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KMM/RJG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Permission To Operate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M3 Activation Approved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highlight>
                            <a:srgbClr val="FFFF00"/>
                          </a:highlight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No Spec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12445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234, D3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100%</a:t>
                      </a:r>
                      <a:endParaRPr 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8766708"/>
                  </a:ext>
                </a:extLst>
              </a:tr>
              <a:tr h="42721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T3</a:t>
                      </a:r>
                      <a:endParaRPr lang="en-US" sz="180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ea typeface="Arial" panose="020B06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S16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MBC/TGM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Permission To Operate</a:t>
                      </a:r>
                      <a:endParaRPr lang="en-U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Grant PTO To Customer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13050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13049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987758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0EBE36D-DEBA-5FC4-4D5F-C896A9A6D8CE}"/>
              </a:ext>
            </a:extLst>
          </p:cNvPr>
          <p:cNvSpPr txBox="1"/>
          <p:nvPr/>
        </p:nvSpPr>
        <p:spPr>
          <a:xfrm>
            <a:off x="8538886" y="10206894"/>
            <a:ext cx="4475011" cy="316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49" rIns="0" bIns="0" rtlCol="0" anchor="t" anchorCtr="0">
            <a:spAutoFit/>
          </a:bodyPr>
          <a:lstStyle/>
          <a:p>
            <a:pPr marR="5081" defTabSz="2486207">
              <a:lnSpc>
                <a:spcPct val="119500"/>
              </a:lnSpc>
              <a:defRPr/>
            </a:pPr>
            <a:r>
              <a:rPr lang="en-US" sz="1649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  <a:sym typeface="Figtree"/>
              </a:rPr>
              <a:t>Source: 10009/N  Section 5, page 14 (table)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021029-FC5F-940A-D1C5-0987D0FF394B}"/>
              </a:ext>
            </a:extLst>
          </p:cNvPr>
          <p:cNvSpPr/>
          <p:nvPr/>
        </p:nvSpPr>
        <p:spPr>
          <a:xfrm>
            <a:off x="16719332" y="10104640"/>
            <a:ext cx="2855668" cy="3540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defTabSz="2486207">
              <a:defRPr/>
            </a:pPr>
            <a:r>
              <a:rPr lang="en-US" sz="1319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* Salesforce Data gathering</a:t>
            </a:r>
          </a:p>
        </p:txBody>
      </p:sp>
    </p:spTree>
    <p:extLst>
      <p:ext uri="{BB962C8B-B14F-4D97-AF65-F5344CB8AC3E}">
        <p14:creationId xmlns:p14="http://schemas.microsoft.com/office/powerpoint/2010/main" val="3474651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129EF-908C-D620-50E4-5524C4B0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9F243B01-BB11-3365-B317-208735951001}"/>
              </a:ext>
            </a:extLst>
          </p:cNvPr>
          <p:cNvGraphicFramePr>
            <a:graphicFrameLocks/>
          </p:cNvGraphicFramePr>
          <p:nvPr/>
        </p:nvGraphicFramePr>
        <p:xfrm>
          <a:off x="450850" y="1539875"/>
          <a:ext cx="19202400" cy="822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5">
            <a:extLst>
              <a:ext uri="{FF2B5EF4-FFF2-40B4-BE49-F238E27FC236}">
                <a16:creationId xmlns:a16="http://schemas.microsoft.com/office/drawing/2014/main" id="{F2C79927-9D48-006C-2DEA-F5C3D4022B36}"/>
              </a:ext>
            </a:extLst>
          </p:cNvPr>
          <p:cNvSpPr txBox="1"/>
          <p:nvPr/>
        </p:nvSpPr>
        <p:spPr>
          <a:xfrm>
            <a:off x="222250" y="598653"/>
            <a:ext cx="1965960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1005280" rtl="0" eaLnBrk="1" fontAlgn="auto" latinLnBrk="0" hangingPunct="1">
              <a:lnSpc>
                <a:spcPts val="49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SunPower Direct Final Design Complete FPY, WW25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B76AD7-C6E0-41B3-9690-D2924BB9CE24}"/>
              </a:ext>
            </a:extLst>
          </p:cNvPr>
          <p:cNvSpPr txBox="1"/>
          <p:nvPr/>
        </p:nvSpPr>
        <p:spPr>
          <a:xfrm>
            <a:off x="450850" y="9769475"/>
            <a:ext cx="9601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Author: EVV, 6/22/2026		Owner: SGS / BCB	QA: DJF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042C97BD-EB5E-484F-2D70-61A1B9149A2C}"/>
              </a:ext>
            </a:extLst>
          </p:cNvPr>
          <p:cNvSpPr txBox="1"/>
          <p:nvPr/>
        </p:nvSpPr>
        <p:spPr>
          <a:xfrm>
            <a:off x="959224" y="3187863"/>
            <a:ext cx="1365232" cy="69532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97%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Escalate to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SSB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771F6A7-EF7C-4450-E68F-388602CC2EC8}"/>
              </a:ext>
            </a:extLst>
          </p:cNvPr>
          <p:cNvGrpSpPr/>
          <p:nvPr/>
        </p:nvGrpSpPr>
        <p:grpSpPr>
          <a:xfrm>
            <a:off x="16038081" y="3227109"/>
            <a:ext cx="2252737" cy="5389949"/>
            <a:chOff x="14317252" y="3227109"/>
            <a:chExt cx="2252737" cy="5389949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23FC25E-2F47-91F6-AFB1-C7496019A831}"/>
                </a:ext>
              </a:extLst>
            </p:cNvPr>
            <p:cNvCxnSpPr>
              <a:cxnSpLocks/>
            </p:cNvCxnSpPr>
            <p:nvPr/>
          </p:nvCxnSpPr>
          <p:spPr>
            <a:xfrm>
              <a:off x="16569989" y="3227109"/>
              <a:ext cx="0" cy="5389949"/>
            </a:xfrm>
            <a:prstGeom prst="line">
              <a:avLst/>
            </a:prstGeom>
            <a:ln w="38100">
              <a:solidFill>
                <a:srgbClr val="FF0000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744F8F2-B3B5-A915-36EE-C48085DCF7FC}"/>
                </a:ext>
              </a:extLst>
            </p:cNvPr>
            <p:cNvSpPr txBox="1"/>
            <p:nvPr/>
          </p:nvSpPr>
          <p:spPr>
            <a:xfrm>
              <a:off x="14317252" y="3780372"/>
              <a:ext cx="2206243" cy="867745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  <a:sym typeface="Arial"/>
                </a:rPr>
                <a:t>SPEC 10470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  <a:sym typeface="Arial"/>
                </a:rPr>
                <a:t>RCCA 235, D1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  <a:sym typeface="Arial"/>
                </a:rPr>
                <a:t>(OPEN)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endParaRP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D4979042-799A-4C8B-D9D4-46F71B56FE4E}"/>
              </a:ext>
            </a:extLst>
          </p:cNvPr>
          <p:cNvSpPr/>
          <p:nvPr/>
        </p:nvSpPr>
        <p:spPr>
          <a:xfrm>
            <a:off x="17067447" y="1937300"/>
            <a:ext cx="18288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Spec 10470</a:t>
            </a:r>
          </a:p>
        </p:txBody>
      </p:sp>
    </p:spTree>
    <p:extLst>
      <p:ext uri="{BB962C8B-B14F-4D97-AF65-F5344CB8AC3E}">
        <p14:creationId xmlns:p14="http://schemas.microsoft.com/office/powerpoint/2010/main" val="1293953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129EF-908C-D620-50E4-5524C4B0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7AEED44A-BB3D-9625-9021-5675A636F1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82528" y="1539875"/>
          <a:ext cx="16539044" cy="822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nary Worksheet" r:id="rId2" imgW="9208135" imgH="4581439" progId="Excel.SheetBinaryMacroEnabled.12">
                  <p:link updateAutomatic="1"/>
                </p:oleObj>
              </mc:Choice>
              <mc:Fallback>
                <p:oleObj name="Binary Worksheet" r:id="rId2" imgW="9208135" imgH="4581439" progId="Excel.SheetBinaryMacroEnabled.12">
                  <p:link updateAutomatic="1"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7AEED44A-BB3D-9625-9021-5675A636F1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82528" y="1539875"/>
                        <a:ext cx="16539044" cy="822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5">
            <a:extLst>
              <a:ext uri="{FF2B5EF4-FFF2-40B4-BE49-F238E27FC236}">
                <a16:creationId xmlns:a16="http://schemas.microsoft.com/office/drawing/2014/main" id="{F2C79927-9D48-006C-2DEA-F5C3D4022B36}"/>
              </a:ext>
            </a:extLst>
          </p:cNvPr>
          <p:cNvSpPr txBox="1"/>
          <p:nvPr/>
        </p:nvSpPr>
        <p:spPr>
          <a:xfrm>
            <a:off x="222250" y="598653"/>
            <a:ext cx="1965960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1005280" rtl="0" eaLnBrk="1" fontAlgn="auto" latinLnBrk="0" hangingPunct="1">
              <a:lnSpc>
                <a:spcPts val="49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SunPower Direct Final Design Complete FPY, WW25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53EEE7-34D3-F06E-402F-556E1456EAE9}"/>
              </a:ext>
            </a:extLst>
          </p:cNvPr>
          <p:cNvSpPr/>
          <p:nvPr/>
        </p:nvSpPr>
        <p:spPr>
          <a:xfrm>
            <a:off x="16327858" y="1937300"/>
            <a:ext cx="18288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Spec 10470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96EE32-EB37-033B-DE68-293A6BFE5608}"/>
              </a:ext>
            </a:extLst>
          </p:cNvPr>
          <p:cNvSpPr/>
          <p:nvPr/>
        </p:nvSpPr>
        <p:spPr>
          <a:xfrm>
            <a:off x="2526824" y="1662980"/>
            <a:ext cx="1371600" cy="5486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RCCA 235. D1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(OPEN)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EB555A-8A4E-8509-F517-DCE27C786851}"/>
              </a:ext>
            </a:extLst>
          </p:cNvPr>
          <p:cNvSpPr txBox="1"/>
          <p:nvPr/>
        </p:nvSpPr>
        <p:spPr>
          <a:xfrm>
            <a:off x="1729854" y="9769475"/>
            <a:ext cx="9601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Author: EVV, 6/22/2026		Owner: SGS / BCB 		QA: DJF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0C8E21-1435-5468-BC66-9DB4377AF648}"/>
              </a:ext>
            </a:extLst>
          </p:cNvPr>
          <p:cNvSpPr txBox="1"/>
          <p:nvPr/>
        </p:nvSpPr>
        <p:spPr>
          <a:xfrm>
            <a:off x="11331054" y="9769475"/>
            <a:ext cx="6825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Specs L2: 12777	Specs L3: 10470</a:t>
            </a:r>
          </a:p>
        </p:txBody>
      </p:sp>
    </p:spTree>
    <p:extLst>
      <p:ext uri="{BB962C8B-B14F-4D97-AF65-F5344CB8AC3E}">
        <p14:creationId xmlns:p14="http://schemas.microsoft.com/office/powerpoint/2010/main" val="1566188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CAE74-E204-8FFF-CD38-2B856BE2A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1BB18117-E770-7287-A845-1E5C065719E0}"/>
              </a:ext>
            </a:extLst>
          </p:cNvPr>
          <p:cNvGraphicFramePr>
            <a:graphicFrameLocks/>
          </p:cNvGraphicFramePr>
          <p:nvPr/>
        </p:nvGraphicFramePr>
        <p:xfrm>
          <a:off x="450850" y="1777583"/>
          <a:ext cx="19202400" cy="822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Box 5">
            <a:extLst>
              <a:ext uri="{FF2B5EF4-FFF2-40B4-BE49-F238E27FC236}">
                <a16:creationId xmlns:a16="http://schemas.microsoft.com/office/drawing/2014/main" id="{59695686-DD0A-E3E4-4917-FAA848BA98FD}"/>
              </a:ext>
            </a:extLst>
          </p:cNvPr>
          <p:cNvSpPr txBox="1"/>
          <p:nvPr/>
        </p:nvSpPr>
        <p:spPr>
          <a:xfrm>
            <a:off x="222250" y="599962"/>
            <a:ext cx="1965960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1005280" rtl="0" eaLnBrk="1" fontAlgn="auto" latinLnBrk="0" hangingPunct="1">
              <a:lnSpc>
                <a:spcPts val="49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S10: SPWR Direct SCV Corporate QA Inspection, WW25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2BB82FC-8E19-F6BB-AE56-DD1F0179AF59}"/>
              </a:ext>
            </a:extLst>
          </p:cNvPr>
          <p:cNvSpPr/>
          <p:nvPr/>
        </p:nvSpPr>
        <p:spPr>
          <a:xfrm>
            <a:off x="450850" y="10073562"/>
            <a:ext cx="4600245" cy="4070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Data Source: TGM/ZJW/EVV, 6/22/2026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3A3838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  <a:sym typeface="Arial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B8AE9F-9FD7-4FDC-568F-4766406AB9A2}"/>
              </a:ext>
            </a:extLst>
          </p:cNvPr>
          <p:cNvSpPr/>
          <p:nvPr/>
        </p:nvSpPr>
        <p:spPr>
          <a:xfrm>
            <a:off x="5051094" y="10073562"/>
            <a:ext cx="11546961" cy="4070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SPEC: 10496, RCCA: 188, D6         	* WW17, WW23: Revised the FPY Data to 100% for spec alignment.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3A3838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  <a:sym typeface="Arial"/>
            </a:endParaRPr>
          </a:p>
        </p:txBody>
      </p:sp>
      <p:sp>
        <p:nvSpPr>
          <p:cNvPr id="5" name="TextBox 23">
            <a:extLst>
              <a:ext uri="{FF2B5EF4-FFF2-40B4-BE49-F238E27FC236}">
                <a16:creationId xmlns:a16="http://schemas.microsoft.com/office/drawing/2014/main" id="{0D19B146-82D4-259E-3816-9B54641F5074}"/>
              </a:ext>
            </a:extLst>
          </p:cNvPr>
          <p:cNvSpPr txBox="1"/>
          <p:nvPr/>
        </p:nvSpPr>
        <p:spPr>
          <a:xfrm>
            <a:off x="7030335" y="5951630"/>
            <a:ext cx="6131963" cy="45402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ROOT CAUSE CORRECTIVE ACTION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688D6A8-7F66-D85B-2D50-3CDF98742A03}"/>
              </a:ext>
            </a:extLst>
          </p:cNvPr>
          <p:cNvCxnSpPr>
            <a:cxnSpLocks/>
          </p:cNvCxnSpPr>
          <p:nvPr/>
        </p:nvCxnSpPr>
        <p:spPr>
          <a:xfrm flipV="1">
            <a:off x="5925559" y="3906118"/>
            <a:ext cx="0" cy="50196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7F12F38-4B0F-D921-C021-ABA4C8B107BE}"/>
              </a:ext>
            </a:extLst>
          </p:cNvPr>
          <p:cNvCxnSpPr>
            <a:cxnSpLocks/>
          </p:cNvCxnSpPr>
          <p:nvPr/>
        </p:nvCxnSpPr>
        <p:spPr>
          <a:xfrm flipV="1">
            <a:off x="6611730" y="3906118"/>
            <a:ext cx="0" cy="48697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03B82EE-4D2A-A096-C6EC-B5D3D640713D}"/>
              </a:ext>
            </a:extLst>
          </p:cNvPr>
          <p:cNvCxnSpPr>
            <a:cxnSpLocks/>
          </p:cNvCxnSpPr>
          <p:nvPr/>
        </p:nvCxnSpPr>
        <p:spPr>
          <a:xfrm flipV="1">
            <a:off x="8767125" y="3802819"/>
            <a:ext cx="0" cy="48697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0958456-4704-5258-146F-9A55519330FE}"/>
              </a:ext>
            </a:extLst>
          </p:cNvPr>
          <p:cNvGrpSpPr/>
          <p:nvPr/>
        </p:nvGrpSpPr>
        <p:grpSpPr>
          <a:xfrm>
            <a:off x="752590" y="3493963"/>
            <a:ext cx="17734778" cy="5245845"/>
            <a:chOff x="2767918" y="3011416"/>
            <a:chExt cx="17734778" cy="5245845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BA7C2342-1B17-4323-AEB2-DD73DBE07C76}"/>
                </a:ext>
              </a:extLst>
            </p:cNvPr>
            <p:cNvGrpSpPr/>
            <p:nvPr/>
          </p:nvGrpSpPr>
          <p:grpSpPr>
            <a:xfrm>
              <a:off x="2767918" y="3011416"/>
              <a:ext cx="17734778" cy="5245845"/>
              <a:chOff x="2767918" y="3011416"/>
              <a:chExt cx="17734778" cy="5245845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5954250D-B290-10A2-8B99-74AC04D75348}"/>
                  </a:ext>
                </a:extLst>
              </p:cNvPr>
              <p:cNvGrpSpPr/>
              <p:nvPr/>
            </p:nvGrpSpPr>
            <p:grpSpPr>
              <a:xfrm>
                <a:off x="2767918" y="3011416"/>
                <a:ext cx="17734778" cy="5245845"/>
                <a:chOff x="2767918" y="3011416"/>
                <a:chExt cx="17734778" cy="5245845"/>
              </a:xfrm>
            </p:grpSpPr>
            <p:grpSp>
              <p:nvGrpSpPr>
                <p:cNvPr id="4" name="Group 3">
                  <a:extLst>
                    <a:ext uri="{FF2B5EF4-FFF2-40B4-BE49-F238E27FC236}">
                      <a16:creationId xmlns:a16="http://schemas.microsoft.com/office/drawing/2014/main" id="{6DA15BEE-5A15-4890-BB9C-8A3E34783184}"/>
                    </a:ext>
                  </a:extLst>
                </p:cNvPr>
                <p:cNvGrpSpPr/>
                <p:nvPr/>
              </p:nvGrpSpPr>
              <p:grpSpPr>
                <a:xfrm>
                  <a:off x="2767918" y="3011416"/>
                  <a:ext cx="3582264" cy="5245845"/>
                  <a:chOff x="2767918" y="3011416"/>
                  <a:chExt cx="3582264" cy="5245845"/>
                </a:xfrm>
              </p:grpSpPr>
              <p:grpSp>
                <p:nvGrpSpPr>
                  <p:cNvPr id="15" name="Group 14">
                    <a:extLst>
                      <a:ext uri="{FF2B5EF4-FFF2-40B4-BE49-F238E27FC236}">
                        <a16:creationId xmlns:a16="http://schemas.microsoft.com/office/drawing/2014/main" id="{251CCFB3-4444-7AE8-251D-EFD54820211D}"/>
                      </a:ext>
                    </a:extLst>
                  </p:cNvPr>
                  <p:cNvGrpSpPr/>
                  <p:nvPr/>
                </p:nvGrpSpPr>
                <p:grpSpPr>
                  <a:xfrm>
                    <a:off x="3376890" y="3026405"/>
                    <a:ext cx="2973292" cy="5230856"/>
                    <a:chOff x="1614639" y="684244"/>
                    <a:chExt cx="2973292" cy="2721555"/>
                  </a:xfrm>
                </p:grpSpPr>
                <p:cxnSp>
                  <p:nvCxnSpPr>
                    <p:cNvPr id="16" name="Straight Connector 15">
                      <a:extLst>
                        <a:ext uri="{FF2B5EF4-FFF2-40B4-BE49-F238E27FC236}">
                          <a16:creationId xmlns:a16="http://schemas.microsoft.com/office/drawing/2014/main" id="{7CB5645D-2325-AA5C-7233-62A8107CA35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4587931" y="684244"/>
                      <a:ext cx="0" cy="2721555"/>
                    </a:xfrm>
                    <a:prstGeom prst="line">
                      <a:avLst/>
                    </a:prstGeom>
                    <a:ln w="38100">
                      <a:solidFill>
                        <a:srgbClr val="FF0000"/>
                      </a:solidFill>
                      <a:prstDash val="dash"/>
                    </a:ln>
                    <a:effectLst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7" name="TextBox 8">
                      <a:extLst>
                        <a:ext uri="{FF2B5EF4-FFF2-40B4-BE49-F238E27FC236}">
                          <a16:creationId xmlns:a16="http://schemas.microsoft.com/office/drawing/2014/main" id="{0D6F13EC-3C19-6473-109B-D2ABA153459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14639" y="2542275"/>
                      <a:ext cx="2973292" cy="510529"/>
                    </a:xfrm>
                    <a:prstGeom prst="rect">
                      <a:avLst/>
                    </a:prstGeom>
                    <a:noFill/>
                    <a:ln w="9525" cmpd="sng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dk1"/>
                    </a:fontRef>
                  </p:style>
                  <p:txBody>
                    <a:bodyPr wrap="square" rtlCol="0" anchor="t"/>
                    <a:lstStyle>
                      <a:lvl1pPr marL="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ANDON CORD ACTIVATED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1/27/2026, 3PM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SSB-164A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RCCA188, D6 (OPEN)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SPEC 10496</a:t>
                      </a:r>
                    </a:p>
                  </p:txBody>
                </p:sp>
              </p:grpSp>
              <p:sp>
                <p:nvSpPr>
                  <p:cNvPr id="21" name="TextBox 6">
                    <a:extLst>
                      <a:ext uri="{FF2B5EF4-FFF2-40B4-BE49-F238E27FC236}">
                        <a16:creationId xmlns:a16="http://schemas.microsoft.com/office/drawing/2014/main" id="{4B0D651F-118D-75CA-AFC4-C4C1A3802747}"/>
                      </a:ext>
                    </a:extLst>
                  </p:cNvPr>
                  <p:cNvSpPr txBox="1"/>
                  <p:nvPr/>
                </p:nvSpPr>
                <p:spPr>
                  <a:xfrm>
                    <a:off x="2767918" y="3011416"/>
                    <a:ext cx="1217941" cy="546325"/>
                  </a:xfrm>
                  <a:prstGeom prst="rect">
                    <a:avLst/>
                  </a:prstGeom>
                  <a:noFill/>
                  <a:ln w="9525" cmpd="sng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/>
                  </a:fontRef>
                </p:style>
                <p:txBody>
                  <a:bodyPr wrap="square" rtlCol="0" anchor="t"/>
                  <a:lstStyle>
                    <a:lvl1pPr marL="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r>
                      <a:rPr kumimoji="0" lang="en-US" sz="14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Roboto" panose="02000000000000000000" pitchFamily="2" charset="0"/>
                        <a:ea typeface="Roboto" panose="02000000000000000000" pitchFamily="2" charset="0"/>
                        <a:cs typeface="+mn-cs"/>
                        <a:sym typeface="Arial"/>
                      </a:rPr>
                      <a:t>97%</a:t>
                    </a:r>
                  </a:p>
                  <a:p>
                    <a:pPr marL="0" marR="0" lvl="0" indent="0" algn="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r>
                      <a:rPr kumimoji="0" lang="en-US" sz="14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Roboto" panose="02000000000000000000" pitchFamily="2" charset="0"/>
                        <a:ea typeface="Roboto" panose="02000000000000000000" pitchFamily="2" charset="0"/>
                        <a:cs typeface="+mn-cs"/>
                        <a:sym typeface="Arial"/>
                      </a:rPr>
                      <a:t>Escalate to</a:t>
                    </a:r>
                  </a:p>
                  <a:p>
                    <a:pPr marL="0" marR="0" lvl="0" indent="0" algn="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r>
                      <a:rPr kumimoji="0" lang="en-US" sz="14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Roboto" panose="02000000000000000000" pitchFamily="2" charset="0"/>
                        <a:ea typeface="Roboto" panose="02000000000000000000" pitchFamily="2" charset="0"/>
                        <a:cs typeface="+mn-cs"/>
                        <a:sym typeface="Arial"/>
                      </a:rPr>
                      <a:t>SSB</a:t>
                    </a:r>
                  </a:p>
                </p:txBody>
              </p:sp>
            </p:grpSp>
            <p:sp>
              <p:nvSpPr>
                <p:cNvPr id="26" name="TextBox 30">
                  <a:extLst>
                    <a:ext uri="{FF2B5EF4-FFF2-40B4-BE49-F238E27FC236}">
                      <a16:creationId xmlns:a16="http://schemas.microsoft.com/office/drawing/2014/main" id="{64002656-ACE5-F93D-61E3-98F79CE3CD47}"/>
                    </a:ext>
                  </a:extLst>
                </p:cNvPr>
                <p:cNvSpPr txBox="1"/>
                <p:nvPr/>
              </p:nvSpPr>
              <p:spPr>
                <a:xfrm>
                  <a:off x="6366582" y="5928466"/>
                  <a:ext cx="1448856" cy="540586"/>
                </a:xfrm>
                <a:prstGeom prst="rect">
                  <a:avLst/>
                </a:prstGeom>
                <a:noFill/>
                <a:ln w="9525" cmpd="sng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wrap="square" rtlCol="0" anchor="t"/>
                <a:lstStyle>
                  <a:lvl1pPr marL="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TRAINING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TGM-74A</a:t>
                  </a:r>
                </a:p>
              </p:txBody>
            </p:sp>
            <p:sp>
              <p:nvSpPr>
                <p:cNvPr id="20" name="TextBox 30">
                  <a:extLst>
                    <a:ext uri="{FF2B5EF4-FFF2-40B4-BE49-F238E27FC236}">
                      <a16:creationId xmlns:a16="http://schemas.microsoft.com/office/drawing/2014/main" id="{DB3BF857-7ED1-DDCC-7490-349BEC8037A3}"/>
                    </a:ext>
                  </a:extLst>
                </p:cNvPr>
                <p:cNvSpPr txBox="1"/>
                <p:nvPr/>
              </p:nvSpPr>
              <p:spPr>
                <a:xfrm>
                  <a:off x="6645692" y="4206348"/>
                  <a:ext cx="2167210" cy="739015"/>
                </a:xfrm>
                <a:prstGeom prst="accentCallout1">
                  <a:avLst>
                    <a:gd name="adj1" fmla="val 826"/>
                    <a:gd name="adj2" fmla="val 391"/>
                    <a:gd name="adj3" fmla="val -84144"/>
                    <a:gd name="adj4" fmla="val 41516"/>
                  </a:avLst>
                </a:prstGeom>
                <a:noFill/>
                <a:ln w="1270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wrap="square" rtlCol="0" anchor="t"/>
                <a:lstStyle>
                  <a:lvl1pPr marL="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Missing Photos,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1 Submission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RCCA188, D6 (CLOSED)</a:t>
                  </a:r>
                </a:p>
              </p:txBody>
            </p:sp>
            <p:sp>
              <p:nvSpPr>
                <p:cNvPr id="23" name="TextBox 30">
                  <a:extLst>
                    <a:ext uri="{FF2B5EF4-FFF2-40B4-BE49-F238E27FC236}">
                      <a16:creationId xmlns:a16="http://schemas.microsoft.com/office/drawing/2014/main" id="{AA70BFD0-0812-7179-5425-17033AB0EA0B}"/>
                    </a:ext>
                  </a:extLst>
                </p:cNvPr>
                <p:cNvSpPr txBox="1"/>
                <p:nvPr/>
              </p:nvSpPr>
              <p:spPr>
                <a:xfrm>
                  <a:off x="8627058" y="4134535"/>
                  <a:ext cx="2383995" cy="850435"/>
                </a:xfrm>
                <a:prstGeom prst="accentCallout1">
                  <a:avLst>
                    <a:gd name="adj1" fmla="val -2384"/>
                    <a:gd name="adj2" fmla="val 391"/>
                    <a:gd name="adj3" fmla="val -36015"/>
                    <a:gd name="adj4" fmla="val -11250"/>
                  </a:avLst>
                </a:prstGeom>
                <a:noFill/>
                <a:ln w="1270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wrap="square" rtlCol="0" anchor="t"/>
                <a:lstStyle>
                  <a:lvl1pPr marL="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Permit Set Mismatch,</a:t>
                  </a:r>
                  <a:b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</a:b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1 Submission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RCCA188, D6 (CLOSED)</a:t>
                  </a:r>
                </a:p>
              </p:txBody>
            </p:sp>
            <p:sp>
              <p:nvSpPr>
                <p:cNvPr id="11" name="TextBox 30">
                  <a:extLst>
                    <a:ext uri="{FF2B5EF4-FFF2-40B4-BE49-F238E27FC236}">
                      <a16:creationId xmlns:a16="http://schemas.microsoft.com/office/drawing/2014/main" id="{70E16B09-1DAD-4CFE-6FE0-0DBFFB2EBB07}"/>
                    </a:ext>
                  </a:extLst>
                </p:cNvPr>
                <p:cNvSpPr txBox="1"/>
                <p:nvPr/>
              </p:nvSpPr>
              <p:spPr>
                <a:xfrm>
                  <a:off x="11011053" y="4251117"/>
                  <a:ext cx="2383995" cy="955817"/>
                </a:xfrm>
                <a:prstGeom prst="accentCallout1">
                  <a:avLst>
                    <a:gd name="adj1" fmla="val -1366"/>
                    <a:gd name="adj2" fmla="val 1020"/>
                    <a:gd name="adj3" fmla="val -66361"/>
                    <a:gd name="adj4" fmla="val -19864"/>
                  </a:avLst>
                </a:prstGeom>
                <a:noFill/>
                <a:ln w="1270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wrap="square" lIns="91440" tIns="45720" rIns="91440" bIns="45720" rtlCol="0" anchor="t"/>
                <a:lstStyle>
                  <a:lvl1pPr marL="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Electrical Defect,</a:t>
                  </a:r>
                  <a:b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</a:b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1 Submission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/>
                      <a:ea typeface="Roboto"/>
                      <a:cs typeface="Roboto"/>
                      <a:sym typeface="Arial"/>
                    </a:rPr>
                    <a:t>RCCA188, D6 (CLOSED)</a:t>
                  </a:r>
                  <a:b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/>
                      <a:ea typeface="Roboto"/>
                      <a:cs typeface="Roboto"/>
                      <a:sym typeface="Arial"/>
                    </a:rPr>
                  </a:b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/>
                      <a:ea typeface="Roboto"/>
                      <a:cs typeface="Roboto"/>
                      <a:sym typeface="Arial"/>
                    </a:rPr>
                    <a:t>TRAINING – CMM-50A</a:t>
                  </a:r>
                  <a:endParaRPr kumimoji="0" lang="en-US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/>
                    <a:sym typeface="Arial"/>
                  </a:endParaRPr>
                </a:p>
              </p:txBody>
            </p:sp>
            <p:sp>
              <p:nvSpPr>
                <p:cNvPr id="9" name="TextBox 30">
                  <a:extLst>
                    <a:ext uri="{FF2B5EF4-FFF2-40B4-BE49-F238E27FC236}">
                      <a16:creationId xmlns:a16="http://schemas.microsoft.com/office/drawing/2014/main" id="{2904D007-0EDE-FAB5-D786-4C2CA4FC524F}"/>
                    </a:ext>
                  </a:extLst>
                </p:cNvPr>
                <p:cNvSpPr txBox="1"/>
                <p:nvPr/>
              </p:nvSpPr>
              <p:spPr>
                <a:xfrm>
                  <a:off x="15779043" y="3949394"/>
                  <a:ext cx="2167210" cy="1037536"/>
                </a:xfrm>
                <a:prstGeom prst="accentCallout1">
                  <a:avLst>
                    <a:gd name="adj1" fmla="val 826"/>
                    <a:gd name="adj2" fmla="val 391"/>
                    <a:gd name="adj3" fmla="val -42033"/>
                    <a:gd name="adj4" fmla="val 40043"/>
                  </a:avLst>
                </a:prstGeom>
                <a:noFill/>
                <a:ln w="1270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wrap="square" rtlCol="0" anchor="t"/>
                <a:lstStyle>
                  <a:lvl1pPr marL="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Tilt Photo,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1 Submission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RCCA188, D6 (CLOSED)</a:t>
                  </a:r>
                </a:p>
              </p:txBody>
            </p:sp>
            <p:sp>
              <p:nvSpPr>
                <p:cNvPr id="10" name="TextBox 30">
                  <a:extLst>
                    <a:ext uri="{FF2B5EF4-FFF2-40B4-BE49-F238E27FC236}">
                      <a16:creationId xmlns:a16="http://schemas.microsoft.com/office/drawing/2014/main" id="{81F121EB-3981-8964-92E9-74FC52FE31EC}"/>
                    </a:ext>
                  </a:extLst>
                </p:cNvPr>
                <p:cNvSpPr txBox="1"/>
                <p:nvPr/>
              </p:nvSpPr>
              <p:spPr>
                <a:xfrm flipH="1">
                  <a:off x="17489064" y="4615286"/>
                  <a:ext cx="2167210" cy="1484082"/>
                </a:xfrm>
                <a:prstGeom prst="accentCallout1">
                  <a:avLst>
                    <a:gd name="adj1" fmla="val 826"/>
                    <a:gd name="adj2" fmla="val 391"/>
                    <a:gd name="adj3" fmla="val -36892"/>
                    <a:gd name="adj4" fmla="val 312"/>
                  </a:avLst>
                </a:prstGeom>
                <a:noFill/>
                <a:ln w="1270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wrap="square" rtlCol="0" anchor="t"/>
                <a:lstStyle>
                  <a:lvl1pPr marL="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Blurry Photo, Permit Set Mismatch, Electrical Defect</a:t>
                  </a:r>
                </a:p>
                <a:p>
                  <a:pPr marL="0" marR="0" lvl="0" indent="0" algn="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3 Submission</a:t>
                  </a:r>
                </a:p>
                <a:p>
                  <a:pPr marL="0" marR="0" lvl="0" indent="0" algn="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RCCA188, D6 (CLOSED)</a:t>
                  </a:r>
                </a:p>
              </p:txBody>
            </p:sp>
            <p:sp>
              <p:nvSpPr>
                <p:cNvPr id="7" name="TextBox 30">
                  <a:extLst>
                    <a:ext uri="{FF2B5EF4-FFF2-40B4-BE49-F238E27FC236}">
                      <a16:creationId xmlns:a16="http://schemas.microsoft.com/office/drawing/2014/main" id="{4FE0D686-92D5-01F1-1CCC-3301FEE428B3}"/>
                    </a:ext>
                  </a:extLst>
                </p:cNvPr>
                <p:cNvSpPr txBox="1"/>
                <p:nvPr/>
              </p:nvSpPr>
              <p:spPr>
                <a:xfrm flipH="1">
                  <a:off x="18335486" y="6378319"/>
                  <a:ext cx="2167210" cy="540586"/>
                </a:xfrm>
                <a:prstGeom prst="accentCallout1">
                  <a:avLst>
                    <a:gd name="adj1" fmla="val 826"/>
                    <a:gd name="adj2" fmla="val 391"/>
                    <a:gd name="adj3" fmla="val -261859"/>
                    <a:gd name="adj4" fmla="val 312"/>
                  </a:avLst>
                </a:prstGeom>
                <a:noFill/>
                <a:ln w="1270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wrap="square" rtlCol="0" anchor="t"/>
                <a:lstStyle>
                  <a:lvl1pPr marL="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Electrical Defect</a:t>
                  </a:r>
                </a:p>
                <a:p>
                  <a:pPr marL="0" marR="0" lvl="0" indent="0" algn="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6 Submission</a:t>
                  </a:r>
                </a:p>
              </p:txBody>
            </p:sp>
          </p:grpSp>
          <p:sp>
            <p:nvSpPr>
              <p:cNvPr id="28" name="TextBox 23">
                <a:extLst>
                  <a:ext uri="{FF2B5EF4-FFF2-40B4-BE49-F238E27FC236}">
                    <a16:creationId xmlns:a16="http://schemas.microsoft.com/office/drawing/2014/main" id="{ED7913EE-C7A5-46CF-9480-84C00AE98465}"/>
                  </a:ext>
                </a:extLst>
              </p:cNvPr>
              <p:cNvSpPr txBox="1"/>
              <p:nvPr/>
            </p:nvSpPr>
            <p:spPr>
              <a:xfrm>
                <a:off x="3376889" y="5181889"/>
                <a:ext cx="3215531" cy="454025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+mn-cs"/>
                    <a:sym typeface="Arial"/>
                  </a:rPr>
                  <a:t>DON'T PUT RAW SEWAGE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+mn-cs"/>
                    <a:sym typeface="Arial"/>
                  </a:rPr>
                  <a:t>IN THEIR COMPUTER</a:t>
                </a:r>
              </a:p>
            </p:txBody>
          </p:sp>
          <p:sp>
            <p:nvSpPr>
              <p:cNvPr id="29" name="TextBox 23">
                <a:extLst>
                  <a:ext uri="{FF2B5EF4-FFF2-40B4-BE49-F238E27FC236}">
                    <a16:creationId xmlns:a16="http://schemas.microsoft.com/office/drawing/2014/main" id="{E0C88997-2DE0-4C12-B8D1-9D7F7832749B}"/>
                  </a:ext>
                </a:extLst>
              </p:cNvPr>
              <p:cNvSpPr txBox="1"/>
              <p:nvPr/>
            </p:nvSpPr>
            <p:spPr>
              <a:xfrm>
                <a:off x="6350182" y="5474441"/>
                <a:ext cx="3069717" cy="454025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+mn-cs"/>
                    <a:sym typeface="Arial"/>
                  </a:rPr>
                  <a:t>CONTAINMENT</a:t>
                </a:r>
              </a:p>
            </p:txBody>
          </p:sp>
        </p:grpSp>
        <p:sp>
          <p:nvSpPr>
            <p:cNvPr id="32" name="TextBox 23">
              <a:extLst>
                <a:ext uri="{FF2B5EF4-FFF2-40B4-BE49-F238E27FC236}">
                  <a16:creationId xmlns:a16="http://schemas.microsoft.com/office/drawing/2014/main" id="{4763855E-E43A-43D4-BACE-33F125E61987}"/>
                </a:ext>
                <a:ext uri="{147F2762-F138-4A5C-976F-8EAC2B608ADB}">
                  <a16:predDERef xmlns:a16="http://schemas.microsoft.com/office/drawing/2014/main" pred="{ED7913EE-C7A5-46CF-9480-84C00AE98465}"/>
                </a:ext>
              </a:extLst>
            </p:cNvPr>
            <p:cNvSpPr txBox="1"/>
            <p:nvPr/>
          </p:nvSpPr>
          <p:spPr>
            <a:xfrm>
              <a:off x="6350182" y="6597559"/>
              <a:ext cx="2850707" cy="1050800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  <a:sym typeface="Arial"/>
                </a:rPr>
                <a:t>ANDON CORD LIFTED 2/01/2026. 11:15AM Sunday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  <a:sym typeface="Arial"/>
                </a:rPr>
                <a:t>SSB-164B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1811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7D33A-4FFC-70E7-6094-3A18AED3D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AA5242E2-A27D-667B-79CA-348417EFB6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5463" y="1350963"/>
          <a:ext cx="16511587" cy="821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9191315" imgH="4572000" progId="Excel.Sheet.12">
                  <p:link updateAutomatic="1"/>
                </p:oleObj>
              </mc:Choice>
              <mc:Fallback>
                <p:oleObj name="Worksheet" r:id="rId3" imgW="9191315" imgH="4572000" progId="Excel.Sheet.12">
                  <p:link updateAutomatic="1"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AA5242E2-A27D-667B-79CA-348417EFB6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95463" y="1350963"/>
                        <a:ext cx="16511587" cy="8212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5">
            <a:extLst>
              <a:ext uri="{FF2B5EF4-FFF2-40B4-BE49-F238E27FC236}">
                <a16:creationId xmlns:a16="http://schemas.microsoft.com/office/drawing/2014/main" id="{50258CE9-09B8-3714-F8D8-BE3C35EA418C}"/>
              </a:ext>
            </a:extLst>
          </p:cNvPr>
          <p:cNvSpPr txBox="1"/>
          <p:nvPr/>
        </p:nvSpPr>
        <p:spPr>
          <a:xfrm>
            <a:off x="222250" y="582623"/>
            <a:ext cx="1965960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1005280" rtl="0" eaLnBrk="1" fontAlgn="auto" latinLnBrk="0" hangingPunct="1">
              <a:lnSpc>
                <a:spcPts val="49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Arial"/>
                <a:sym typeface="Open Sans"/>
              </a:rPr>
              <a:t>SPWR Direct </a:t>
            </a: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Figtree Light"/>
              </a:rPr>
              <a:t>S10 SCV Corporate QA WW52-WW25’2026 </a:t>
            </a:r>
            <a:endParaRPr kumimoji="0" lang="en-US" sz="4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  <a:sym typeface="Open San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3E7554-362B-A611-7B3D-FEAD9073DBCC}"/>
              </a:ext>
            </a:extLst>
          </p:cNvPr>
          <p:cNvSpPr/>
          <p:nvPr/>
        </p:nvSpPr>
        <p:spPr>
          <a:xfrm>
            <a:off x="9587927" y="9572647"/>
            <a:ext cx="7986015" cy="660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l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3000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1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Funding Defect: AVL LightReach eligibility, PV Panel mismatch, Missing Cell kit</a:t>
            </a:r>
          </a:p>
          <a:p>
            <a:pPr marL="0" marR="0" lvl="0" indent="0" algn="l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3000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2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Electrical Defect: Main breaker/sub-panel issues, Point of interconnection issues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3A3838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  <a:sym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13B738-B477-A3CF-9C72-79219E00096D}"/>
              </a:ext>
            </a:extLst>
          </p:cNvPr>
          <p:cNvSpPr/>
          <p:nvPr/>
        </p:nvSpPr>
        <p:spPr>
          <a:xfrm>
            <a:off x="7271614" y="8795139"/>
            <a:ext cx="410511" cy="4687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1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3A3838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  <a:sym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CD56F3-77A2-75A9-3B96-687DB655A65C}"/>
              </a:ext>
            </a:extLst>
          </p:cNvPr>
          <p:cNvSpPr/>
          <p:nvPr/>
        </p:nvSpPr>
        <p:spPr>
          <a:xfrm>
            <a:off x="5082192" y="8780148"/>
            <a:ext cx="410511" cy="4687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2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3A3838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E1FA06-3F85-C6DE-3ED6-FBA613C4E459}"/>
              </a:ext>
            </a:extLst>
          </p:cNvPr>
          <p:cNvSpPr/>
          <p:nvPr/>
        </p:nvSpPr>
        <p:spPr>
          <a:xfrm>
            <a:off x="1791083" y="9572647"/>
            <a:ext cx="4600245" cy="4070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Data Source: TGM/EVV, 6/22/2026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3A3838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  <a:sym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8BE43E-D90C-C2A2-F63B-7C8AE5DE5E94}"/>
              </a:ext>
            </a:extLst>
          </p:cNvPr>
          <p:cNvSpPr/>
          <p:nvPr/>
        </p:nvSpPr>
        <p:spPr>
          <a:xfrm>
            <a:off x="16339321" y="1537765"/>
            <a:ext cx="18288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Spec 10496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6E043C9-E475-C57C-02ED-2D3B53EAD72F}"/>
              </a:ext>
            </a:extLst>
          </p:cNvPr>
          <p:cNvGrpSpPr/>
          <p:nvPr/>
        </p:nvGrpSpPr>
        <p:grpSpPr>
          <a:xfrm>
            <a:off x="3313965" y="3190472"/>
            <a:ext cx="12630889" cy="1948525"/>
            <a:chOff x="3313965" y="2589986"/>
            <a:chExt cx="12630889" cy="1948525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62FB7EA-9FCD-6B38-C0CB-88156025A17A}"/>
                </a:ext>
              </a:extLst>
            </p:cNvPr>
            <p:cNvSpPr/>
            <p:nvPr/>
          </p:nvSpPr>
          <p:spPr>
            <a:xfrm>
              <a:off x="5721664" y="3288779"/>
              <a:ext cx="1554480" cy="5486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RCCA 195. D6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(OPEN)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8B943DF-2424-4C48-230B-43D6E0BDD155}"/>
                </a:ext>
              </a:extLst>
            </p:cNvPr>
            <p:cNvSpPr/>
            <p:nvPr/>
          </p:nvSpPr>
          <p:spPr>
            <a:xfrm>
              <a:off x="11572206" y="3248892"/>
              <a:ext cx="1554480" cy="5486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RCCA 188. D6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(CLOSED)</a:t>
              </a:r>
            </a:p>
          </p:txBody>
        </p:sp>
        <p:sp>
          <p:nvSpPr>
            <p:cNvPr id="8" name="Right Brace 7">
              <a:extLst>
                <a:ext uri="{FF2B5EF4-FFF2-40B4-BE49-F238E27FC236}">
                  <a16:creationId xmlns:a16="http://schemas.microsoft.com/office/drawing/2014/main" id="{AEECE89E-F69A-1A02-F83C-8A07B937EC4A}"/>
                </a:ext>
              </a:extLst>
            </p:cNvPr>
            <p:cNvSpPr/>
            <p:nvPr/>
          </p:nvSpPr>
          <p:spPr>
            <a:xfrm rot="16200000">
              <a:off x="12059886" y="653543"/>
              <a:ext cx="579120" cy="7190816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177230D-0225-A94D-79EF-E9C7CF6E0904}"/>
                </a:ext>
              </a:extLst>
            </p:cNvPr>
            <p:cNvSpPr/>
            <p:nvPr/>
          </p:nvSpPr>
          <p:spPr>
            <a:xfrm>
              <a:off x="3313965" y="2589986"/>
              <a:ext cx="1554480" cy="5486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RCCA 188. D6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(CLOSED)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44098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129EF-908C-D620-50E4-5524C4B0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D38D88C4-F867-9F51-8460-BACB51989AB4}"/>
              </a:ext>
            </a:extLst>
          </p:cNvPr>
          <p:cNvGraphicFramePr>
            <a:graphicFrameLocks/>
          </p:cNvGraphicFramePr>
          <p:nvPr/>
        </p:nvGraphicFramePr>
        <p:xfrm>
          <a:off x="450850" y="1476793"/>
          <a:ext cx="19202400" cy="822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extBox 5">
            <a:extLst>
              <a:ext uri="{FF2B5EF4-FFF2-40B4-BE49-F238E27FC236}">
                <a16:creationId xmlns:a16="http://schemas.microsoft.com/office/drawing/2014/main" id="{F2C79927-9D48-006C-2DEA-F5C3D4022B36}"/>
              </a:ext>
            </a:extLst>
          </p:cNvPr>
          <p:cNvSpPr txBox="1"/>
          <p:nvPr/>
        </p:nvSpPr>
        <p:spPr>
          <a:xfrm>
            <a:off x="222250" y="598653"/>
            <a:ext cx="1965960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1005280" rtl="0" eaLnBrk="1" fontAlgn="auto" latinLnBrk="0" hangingPunct="1">
              <a:lnSpc>
                <a:spcPts val="49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SunPower Direct M1 Corporate QA Inspection, WW25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B76AD7-C6E0-41B3-9690-D2924BB9CE24}"/>
              </a:ext>
            </a:extLst>
          </p:cNvPr>
          <p:cNvSpPr txBox="1"/>
          <p:nvPr/>
        </p:nvSpPr>
        <p:spPr>
          <a:xfrm>
            <a:off x="1963322" y="9772782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Author: RJG/EVV, 6/20/2026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A486AD-9F63-E958-F90F-52B3091B1C6C}"/>
              </a:ext>
            </a:extLst>
          </p:cNvPr>
          <p:cNvSpPr txBox="1"/>
          <p:nvPr/>
        </p:nvSpPr>
        <p:spPr>
          <a:xfrm>
            <a:off x="5834916" y="9772782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Owner: KMM/AEP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26453AA-6E55-C838-060B-58AA69E883F0}"/>
              </a:ext>
            </a:extLst>
          </p:cNvPr>
          <p:cNvGrpSpPr/>
          <p:nvPr/>
        </p:nvGrpSpPr>
        <p:grpSpPr>
          <a:xfrm>
            <a:off x="1282287" y="3089152"/>
            <a:ext cx="8488789" cy="5419417"/>
            <a:chOff x="-705910" y="2981578"/>
            <a:chExt cx="8488789" cy="5419417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DCBC5C-2F49-BC61-999F-75A9926ED9A3}"/>
                </a:ext>
              </a:extLst>
            </p:cNvPr>
            <p:cNvSpPr txBox="1"/>
            <p:nvPr/>
          </p:nvSpPr>
          <p:spPr>
            <a:xfrm>
              <a:off x="5763878" y="5541262"/>
              <a:ext cx="2019001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Arial"/>
                  <a:sym typeface="Arial"/>
                </a:rPr>
                <a:t>SPEC 12285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Arial"/>
                  <a:sym typeface="Arial"/>
                </a:rPr>
                <a:t>ANDON CORD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Arial"/>
                  <a:sym typeface="Arial"/>
                </a:rPr>
                <a:t>RCCA 228, D6 (OPEN)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Arial"/>
                  <a:sym typeface="Arial"/>
                </a:rPr>
                <a:t>TRAINING 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89A7B3A6-C4BE-7778-C67D-0C33E94F651D}"/>
                </a:ext>
              </a:extLst>
            </p:cNvPr>
            <p:cNvGrpSpPr/>
            <p:nvPr/>
          </p:nvGrpSpPr>
          <p:grpSpPr>
            <a:xfrm>
              <a:off x="-705910" y="2981578"/>
              <a:ext cx="8095381" cy="5419417"/>
              <a:chOff x="-705910" y="2981578"/>
              <a:chExt cx="8095381" cy="5419417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6754023B-5C11-08DE-F692-D0CC68E0AB01}"/>
                  </a:ext>
                </a:extLst>
              </p:cNvPr>
              <p:cNvGrpSpPr/>
              <p:nvPr/>
            </p:nvGrpSpPr>
            <p:grpSpPr>
              <a:xfrm>
                <a:off x="2390904" y="2981578"/>
                <a:ext cx="4998567" cy="5419417"/>
                <a:chOff x="2390904" y="2947774"/>
                <a:chExt cx="4998567" cy="5419417"/>
              </a:xfrm>
            </p:grpSpPr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DD55854B-92F1-90B2-142D-BFEC77EBEEE5}"/>
                    </a:ext>
                  </a:extLst>
                </p:cNvPr>
                <p:cNvGrpSpPr/>
                <p:nvPr/>
              </p:nvGrpSpPr>
              <p:grpSpPr>
                <a:xfrm>
                  <a:off x="4002690" y="3116669"/>
                  <a:ext cx="1719624" cy="5250522"/>
                  <a:chOff x="-6628475" y="-3086646"/>
                  <a:chExt cx="1719624" cy="5250522"/>
                </a:xfrm>
              </p:grpSpPr>
              <p:cxnSp>
                <p:nvCxnSpPr>
                  <p:cNvPr id="8" name="Straight Connector 7">
                    <a:extLst>
                      <a:ext uri="{FF2B5EF4-FFF2-40B4-BE49-F238E27FC236}">
                        <a16:creationId xmlns:a16="http://schemas.microsoft.com/office/drawing/2014/main" id="{09E3721F-F540-3848-7FE5-BC96CB53B26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-6628475" y="-3086646"/>
                    <a:ext cx="0" cy="5250522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  <a:prstDash val="dash"/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Straight Connector 24">
                    <a:extLst>
                      <a:ext uri="{FF2B5EF4-FFF2-40B4-BE49-F238E27FC236}">
                        <a16:creationId xmlns:a16="http://schemas.microsoft.com/office/drawing/2014/main" id="{6A6AD635-2239-BD09-D3A3-1F4AF9CC37F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-4908851" y="-3086646"/>
                    <a:ext cx="0" cy="5250522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  <a:prstDash val="dash"/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6449F028-E89F-C44A-383A-89C0E2187F26}"/>
                    </a:ext>
                  </a:extLst>
                </p:cNvPr>
                <p:cNvGrpSpPr/>
                <p:nvPr/>
              </p:nvGrpSpPr>
              <p:grpSpPr>
                <a:xfrm>
                  <a:off x="2390904" y="2947774"/>
                  <a:ext cx="4998567" cy="2189059"/>
                  <a:chOff x="4999799" y="3036364"/>
                  <a:chExt cx="4998567" cy="2189059"/>
                </a:xfrm>
              </p:grpSpPr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5D644FF9-BF91-567B-0409-46C1AB3831BD}"/>
                      </a:ext>
                    </a:extLst>
                  </p:cNvPr>
                  <p:cNvSpPr txBox="1"/>
                  <p:nvPr/>
                </p:nvSpPr>
                <p:spPr>
                  <a:xfrm>
                    <a:off x="6611585" y="3421617"/>
                    <a:ext cx="2206243" cy="867745"/>
                  </a:xfrm>
                  <a:prstGeom prst="rect">
                    <a:avLst/>
                  </a:prstGeom>
                  <a:noFill/>
                  <a:ln w="9525" cmpd="sng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/>
                  </a:fontRef>
                </p:style>
                <p:txBody>
                  <a:bodyPr wrap="square" rtlCol="0" anchor="t"/>
                  <a:lstStyle>
                    <a:lvl1pPr marL="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r>
                      <a:rPr kumimoji="0" lang="en-US" sz="16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Roboto" panose="02000000000000000000" pitchFamily="2" charset="0"/>
                        <a:ea typeface="Roboto" panose="02000000000000000000" pitchFamily="2" charset="0"/>
                        <a:cs typeface="+mn-cs"/>
                        <a:sym typeface="Arial"/>
                      </a:rPr>
                      <a:t>SPEC 12285</a:t>
                    </a:r>
                  </a:p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r>
                      <a:rPr kumimoji="0" lang="en-US" sz="16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Roboto" panose="02000000000000000000" pitchFamily="2" charset="0"/>
                        <a:ea typeface="Roboto" panose="02000000000000000000" pitchFamily="2" charset="0"/>
                        <a:cs typeface="+mn-cs"/>
                        <a:sym typeface="Arial"/>
                      </a:rPr>
                      <a:t>ANDON CORD 1 </a:t>
                    </a:r>
                  </a:p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r>
                      <a:rPr kumimoji="0" lang="en-US" sz="16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Roboto" panose="02000000000000000000" pitchFamily="2" charset="0"/>
                        <a:ea typeface="Roboto" panose="02000000000000000000" pitchFamily="2" charset="0"/>
                        <a:cs typeface="+mn-cs"/>
                        <a:sym typeface="Arial"/>
                      </a:rPr>
                      <a:t>RCCA 228</a:t>
                    </a:r>
                  </a:p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endPara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endParaRPr>
                  </a:p>
                </p:txBody>
              </p:sp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65C98F92-02C2-7A23-1360-C766FD506971}"/>
                      </a:ext>
                    </a:extLst>
                  </p:cNvPr>
                  <p:cNvSpPr txBox="1"/>
                  <p:nvPr/>
                </p:nvSpPr>
                <p:spPr>
                  <a:xfrm>
                    <a:off x="7792123" y="3036364"/>
                    <a:ext cx="2206243" cy="337791"/>
                  </a:xfrm>
                  <a:prstGeom prst="rect">
                    <a:avLst/>
                  </a:prstGeom>
                  <a:noFill/>
                  <a:ln w="9525" cmpd="sng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/>
                  </a:fontRef>
                </p:style>
                <p:txBody>
                  <a:bodyPr wrap="square" rtlCol="0" anchor="t"/>
                  <a:lstStyle>
                    <a:lvl1pPr marL="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endPara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endParaRPr>
                  </a:p>
                </p:txBody>
              </p:sp>
              <p:sp>
                <p:nvSpPr>
                  <p:cNvPr id="22" name="Oval 21">
                    <a:extLst>
                      <a:ext uri="{FF2B5EF4-FFF2-40B4-BE49-F238E27FC236}">
                        <a16:creationId xmlns:a16="http://schemas.microsoft.com/office/drawing/2014/main" id="{1CF81034-E14F-AAF0-489B-AF202406DE89}"/>
                      </a:ext>
                    </a:extLst>
                  </p:cNvPr>
                  <p:cNvSpPr/>
                  <p:nvPr/>
                </p:nvSpPr>
                <p:spPr>
                  <a:xfrm>
                    <a:off x="4999799" y="4376954"/>
                    <a:ext cx="848469" cy="848469"/>
                  </a:xfrm>
                  <a:prstGeom prst="ellipse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endParaRPr kumimoji="0" lang="en-US" sz="1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  <a:sym typeface="Arial"/>
                    </a:endParaRPr>
                  </a:p>
                </p:txBody>
              </p:sp>
            </p:grpSp>
          </p:grpSp>
          <p:sp>
            <p:nvSpPr>
              <p:cNvPr id="6" name="TextBox 10">
                <a:extLst>
                  <a:ext uri="{FF2B5EF4-FFF2-40B4-BE49-F238E27FC236}">
                    <a16:creationId xmlns:a16="http://schemas.microsoft.com/office/drawing/2014/main" id="{50B5293D-928B-43D5-DBCA-42CE8F92112E}"/>
                  </a:ext>
                </a:extLst>
              </p:cNvPr>
              <p:cNvSpPr txBox="1"/>
              <p:nvPr/>
            </p:nvSpPr>
            <p:spPr>
              <a:xfrm>
                <a:off x="-705910" y="3088481"/>
                <a:ext cx="1365232" cy="695325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+mn-cs"/>
                    <a:sym typeface="Arial"/>
                  </a:rPr>
                  <a:t>97%</a:t>
                </a:r>
              </a:p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+mn-cs"/>
                    <a:sym typeface="Arial"/>
                  </a:rPr>
                  <a:t>Escalate to</a:t>
                </a:r>
              </a:p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+mn-cs"/>
                    <a:sym typeface="Arial"/>
                  </a:rPr>
                  <a:t>SSB</a:t>
                </a:r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91F36ED-03CC-7069-9C68-3F3ABAC0B233}"/>
              </a:ext>
            </a:extLst>
          </p:cNvPr>
          <p:cNvSpPr txBox="1"/>
          <p:nvPr/>
        </p:nvSpPr>
        <p:spPr>
          <a:xfrm>
            <a:off x="9767736" y="9772782"/>
            <a:ext cx="7960756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* Additional Quality Staff Deployed and checked before submission to Corporate QA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1A3FC96-75E8-C3C6-6D9D-4FF8E9B1DAF0}"/>
              </a:ext>
            </a:extLst>
          </p:cNvPr>
          <p:cNvSpPr txBox="1"/>
          <p:nvPr/>
        </p:nvSpPr>
        <p:spPr>
          <a:xfrm>
            <a:off x="9301749" y="4606746"/>
            <a:ext cx="17395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CONTAINMENT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2483B49-300A-B509-1EFD-5A72ADF3F05B}"/>
              </a:ext>
            </a:extLst>
          </p:cNvPr>
          <p:cNvSpPr txBox="1"/>
          <p:nvPr/>
        </p:nvSpPr>
        <p:spPr>
          <a:xfrm>
            <a:off x="11311030" y="2689638"/>
            <a:ext cx="4485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*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84B63C6-DC0E-E38C-E615-69BF4BEEAF37}"/>
              </a:ext>
            </a:extLst>
          </p:cNvPr>
          <p:cNvSpPr txBox="1"/>
          <p:nvPr/>
        </p:nvSpPr>
        <p:spPr>
          <a:xfrm>
            <a:off x="13492986" y="2689638"/>
            <a:ext cx="4485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*</a:t>
            </a:r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FD2EB152-2A8C-42AE-9CE2-2C935EF622F1}"/>
              </a:ext>
            </a:extLst>
          </p:cNvPr>
          <p:cNvSpPr txBox="1"/>
          <p:nvPr/>
        </p:nvSpPr>
        <p:spPr>
          <a:xfrm flipH="1">
            <a:off x="8211731" y="10106192"/>
            <a:ext cx="9516761" cy="60450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WW24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: FIELD, PCS Bundling, CT Issue, FUNDING CSLB Disclosure, Production Modelling. Decoder 2 KMM and 2 RYW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WW25: 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DESIGN: Electrical Issue. Decoder 1 RYW</a:t>
            </a:r>
            <a:endParaRPr kumimoji="0" lang="en-US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  <a:sym typeface="Arial"/>
            </a:endParaRPr>
          </a:p>
        </p:txBody>
      </p:sp>
      <p:sp>
        <p:nvSpPr>
          <p:cNvPr id="19" name="TextBox 2">
            <a:extLst>
              <a:ext uri="{FF2B5EF4-FFF2-40B4-BE49-F238E27FC236}">
                <a16:creationId xmlns:a16="http://schemas.microsoft.com/office/drawing/2014/main" id="{77AD139F-1050-CCB0-3B10-190D5EA04EFE}"/>
              </a:ext>
            </a:extLst>
          </p:cNvPr>
          <p:cNvSpPr txBox="1"/>
          <p:nvPr/>
        </p:nvSpPr>
        <p:spPr>
          <a:xfrm flipH="1">
            <a:off x="12799316" y="4816290"/>
            <a:ext cx="3026806" cy="1397135"/>
          </a:xfrm>
          <a:prstGeom prst="accentCallout1">
            <a:avLst>
              <a:gd name="adj1" fmla="val 956"/>
              <a:gd name="adj2" fmla="val -554"/>
              <a:gd name="adj3" fmla="val -48073"/>
              <a:gd name="adj4" fmla="val 6775"/>
            </a:avLst>
          </a:prstGeom>
          <a:noFill/>
          <a:ln w="9525" cmpd="sng">
            <a:solidFill>
              <a:schemeClr val="bg1">
                <a:lumMod val="6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4 REJECTS. RCCA 228, D6 (OPEN)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ADDITIONAL TRAINING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SPEC 12285, REV N UPDATE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  <a:sym typeface="Arial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INSPECTION UPSTREAM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REQUIRED FOR DESIGN AND FIELD 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14C5EAD-86EA-B328-2F29-E51192B624E6}"/>
              </a:ext>
            </a:extLst>
          </p:cNvPr>
          <p:cNvSpPr txBox="1"/>
          <p:nvPr/>
        </p:nvSpPr>
        <p:spPr>
          <a:xfrm>
            <a:off x="11797558" y="4089683"/>
            <a:ext cx="385585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ROOT CAUSE CORRECTIVE ACTION 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448EF3-4C99-1194-6FAC-50CBEF44642F}"/>
              </a:ext>
            </a:extLst>
          </p:cNvPr>
          <p:cNvSpPr txBox="1"/>
          <p:nvPr/>
        </p:nvSpPr>
        <p:spPr>
          <a:xfrm>
            <a:off x="9092966" y="3739001"/>
            <a:ext cx="4485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*</a:t>
            </a: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34FC36D8-1195-C09A-46E8-F4DBFEF26D4F}"/>
              </a:ext>
            </a:extLst>
          </p:cNvPr>
          <p:cNvSpPr txBox="1"/>
          <p:nvPr/>
        </p:nvSpPr>
        <p:spPr>
          <a:xfrm flipH="1">
            <a:off x="16071745" y="4172494"/>
            <a:ext cx="1881658" cy="727679"/>
          </a:xfrm>
          <a:prstGeom prst="accentCallout1">
            <a:avLst>
              <a:gd name="adj1" fmla="val 956"/>
              <a:gd name="adj2" fmla="val -554"/>
              <a:gd name="adj3" fmla="val -48073"/>
              <a:gd name="adj4" fmla="val 6775"/>
            </a:avLst>
          </a:prstGeom>
          <a:noFill/>
          <a:ln w="9525" cmpd="sng">
            <a:solidFill>
              <a:schemeClr val="bg1">
                <a:lumMod val="6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1 REJECT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ELECTRICAL ISSUE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(DESIGN)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AA46A40-23B0-ECA8-004D-2A47CA7933FD}"/>
              </a:ext>
            </a:extLst>
          </p:cNvPr>
          <p:cNvCxnSpPr/>
          <p:nvPr/>
        </p:nvCxnSpPr>
        <p:spPr>
          <a:xfrm flipV="1">
            <a:off x="17400430" y="3646298"/>
            <a:ext cx="0" cy="45095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9D164BD-0509-DE1E-4E9D-A6E7E488B0B7}"/>
              </a:ext>
            </a:extLst>
          </p:cNvPr>
          <p:cNvCxnSpPr/>
          <p:nvPr/>
        </p:nvCxnSpPr>
        <p:spPr>
          <a:xfrm flipV="1">
            <a:off x="15826122" y="3754499"/>
            <a:ext cx="0" cy="45095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8F30D51-1DB0-0682-766C-BB8C219A403D}"/>
              </a:ext>
            </a:extLst>
          </p:cNvPr>
          <p:cNvCxnSpPr/>
          <p:nvPr/>
        </p:nvCxnSpPr>
        <p:spPr>
          <a:xfrm flipV="1">
            <a:off x="11303283" y="3464453"/>
            <a:ext cx="0" cy="45095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2B80580-DD00-50E5-14E2-44C039503647}"/>
              </a:ext>
            </a:extLst>
          </p:cNvPr>
          <p:cNvCxnSpPr/>
          <p:nvPr/>
        </p:nvCxnSpPr>
        <p:spPr>
          <a:xfrm flipV="1">
            <a:off x="13412303" y="3434953"/>
            <a:ext cx="0" cy="45095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7155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129EF-908C-D620-50E4-5524C4B0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D38D88C4-F867-9F51-8460-BACB51989AB4}"/>
              </a:ext>
            </a:extLst>
          </p:cNvPr>
          <p:cNvGraphicFramePr>
            <a:graphicFrameLocks/>
          </p:cNvGraphicFramePr>
          <p:nvPr/>
        </p:nvGraphicFramePr>
        <p:xfrm>
          <a:off x="450850" y="1476793"/>
          <a:ext cx="19202400" cy="822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extBox 5">
            <a:extLst>
              <a:ext uri="{FF2B5EF4-FFF2-40B4-BE49-F238E27FC236}">
                <a16:creationId xmlns:a16="http://schemas.microsoft.com/office/drawing/2014/main" id="{F2C79927-9D48-006C-2DEA-F5C3D4022B36}"/>
              </a:ext>
            </a:extLst>
          </p:cNvPr>
          <p:cNvSpPr txBox="1"/>
          <p:nvPr/>
        </p:nvSpPr>
        <p:spPr>
          <a:xfrm>
            <a:off x="222250" y="598653"/>
            <a:ext cx="1965960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1005280" rtl="0" eaLnBrk="1" fontAlgn="auto" latinLnBrk="0" hangingPunct="1">
              <a:lnSpc>
                <a:spcPts val="49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SunPower Direct M1 Corporate QA Inspection, WW25.5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B76AD7-C6E0-41B3-9690-D2924BB9CE24}"/>
              </a:ext>
            </a:extLst>
          </p:cNvPr>
          <p:cNvSpPr txBox="1"/>
          <p:nvPr/>
        </p:nvSpPr>
        <p:spPr>
          <a:xfrm>
            <a:off x="1963322" y="9772782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Author: RJG/EVV, 6/20/2026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A486AD-9F63-E958-F90F-52B3091B1C6C}"/>
              </a:ext>
            </a:extLst>
          </p:cNvPr>
          <p:cNvSpPr txBox="1"/>
          <p:nvPr/>
        </p:nvSpPr>
        <p:spPr>
          <a:xfrm>
            <a:off x="5834916" y="9772782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Owner: KMM/AEP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26453AA-6E55-C838-060B-58AA69E883F0}"/>
              </a:ext>
            </a:extLst>
          </p:cNvPr>
          <p:cNvGrpSpPr/>
          <p:nvPr/>
        </p:nvGrpSpPr>
        <p:grpSpPr>
          <a:xfrm>
            <a:off x="900351" y="3089152"/>
            <a:ext cx="7311380" cy="5140448"/>
            <a:chOff x="381553" y="2981578"/>
            <a:chExt cx="7311380" cy="514044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DCBC5C-2F49-BC61-999F-75A9926ED9A3}"/>
                </a:ext>
              </a:extLst>
            </p:cNvPr>
            <p:cNvSpPr txBox="1"/>
            <p:nvPr/>
          </p:nvSpPr>
          <p:spPr>
            <a:xfrm>
              <a:off x="5673932" y="5541262"/>
              <a:ext cx="2019001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Arial"/>
                  <a:sym typeface="Arial"/>
                </a:rPr>
                <a:t>SPEC 12285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Arial"/>
                  <a:sym typeface="Arial"/>
                </a:rPr>
                <a:t>ANDON CORD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Arial"/>
                  <a:sym typeface="Arial"/>
                </a:rPr>
                <a:t>RCCA 228, D6 (OPEN)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Arial"/>
                  <a:sym typeface="Arial"/>
                </a:rPr>
                <a:t>TRAINING 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89A7B3A6-C4BE-7778-C67D-0C33E94F651D}"/>
                </a:ext>
              </a:extLst>
            </p:cNvPr>
            <p:cNvGrpSpPr/>
            <p:nvPr/>
          </p:nvGrpSpPr>
          <p:grpSpPr>
            <a:xfrm>
              <a:off x="381553" y="2981578"/>
              <a:ext cx="7007918" cy="5140448"/>
              <a:chOff x="381553" y="2981578"/>
              <a:chExt cx="7007918" cy="5140448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6754023B-5C11-08DE-F692-D0CC68E0AB01}"/>
                  </a:ext>
                </a:extLst>
              </p:cNvPr>
              <p:cNvGrpSpPr/>
              <p:nvPr/>
            </p:nvGrpSpPr>
            <p:grpSpPr>
              <a:xfrm>
                <a:off x="2763617" y="2981578"/>
                <a:ext cx="4625854" cy="5140448"/>
                <a:chOff x="2763617" y="2947774"/>
                <a:chExt cx="4625854" cy="5140448"/>
              </a:xfrm>
            </p:grpSpPr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DD55854B-92F1-90B2-142D-BFEC77EBEEE5}"/>
                    </a:ext>
                  </a:extLst>
                </p:cNvPr>
                <p:cNvGrpSpPr/>
                <p:nvPr/>
              </p:nvGrpSpPr>
              <p:grpSpPr>
                <a:xfrm>
                  <a:off x="4002690" y="3116669"/>
                  <a:ext cx="1629678" cy="4971553"/>
                  <a:chOff x="-6628475" y="-3086646"/>
                  <a:chExt cx="1629678" cy="4971553"/>
                </a:xfrm>
              </p:grpSpPr>
              <p:cxnSp>
                <p:nvCxnSpPr>
                  <p:cNvPr id="8" name="Straight Connector 7">
                    <a:extLst>
                      <a:ext uri="{FF2B5EF4-FFF2-40B4-BE49-F238E27FC236}">
                        <a16:creationId xmlns:a16="http://schemas.microsoft.com/office/drawing/2014/main" id="{09E3721F-F540-3848-7FE5-BC96CB53B26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-6628475" y="-3086646"/>
                    <a:ext cx="0" cy="497155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  <a:prstDash val="dash"/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Straight Connector 24">
                    <a:extLst>
                      <a:ext uri="{FF2B5EF4-FFF2-40B4-BE49-F238E27FC236}">
                        <a16:creationId xmlns:a16="http://schemas.microsoft.com/office/drawing/2014/main" id="{6A6AD635-2239-BD09-D3A3-1F4AF9CC37F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-4998797" y="-3086646"/>
                    <a:ext cx="0" cy="497155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  <a:prstDash val="dash"/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6449F028-E89F-C44A-383A-89C0E2187F26}"/>
                    </a:ext>
                  </a:extLst>
                </p:cNvPr>
                <p:cNvGrpSpPr/>
                <p:nvPr/>
              </p:nvGrpSpPr>
              <p:grpSpPr>
                <a:xfrm>
                  <a:off x="2763617" y="2947774"/>
                  <a:ext cx="4625854" cy="2189059"/>
                  <a:chOff x="5372512" y="3036364"/>
                  <a:chExt cx="4625854" cy="2189059"/>
                </a:xfrm>
              </p:grpSpPr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5D644FF9-BF91-567B-0409-46C1AB3831BD}"/>
                      </a:ext>
                    </a:extLst>
                  </p:cNvPr>
                  <p:cNvSpPr txBox="1"/>
                  <p:nvPr/>
                </p:nvSpPr>
                <p:spPr>
                  <a:xfrm>
                    <a:off x="6611585" y="3421617"/>
                    <a:ext cx="2206243" cy="867745"/>
                  </a:xfrm>
                  <a:prstGeom prst="rect">
                    <a:avLst/>
                  </a:prstGeom>
                  <a:noFill/>
                  <a:ln w="9525" cmpd="sng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/>
                  </a:fontRef>
                </p:style>
                <p:txBody>
                  <a:bodyPr wrap="square" rtlCol="0" anchor="t"/>
                  <a:lstStyle>
                    <a:lvl1pPr marL="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r>
                      <a:rPr kumimoji="0" lang="en-US" sz="16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Roboto" panose="02000000000000000000" pitchFamily="2" charset="0"/>
                        <a:ea typeface="Roboto" panose="02000000000000000000" pitchFamily="2" charset="0"/>
                        <a:cs typeface="+mn-cs"/>
                        <a:sym typeface="Arial"/>
                      </a:rPr>
                      <a:t>SPEC 12285</a:t>
                    </a:r>
                  </a:p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r>
                      <a:rPr kumimoji="0" lang="en-US" sz="16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Roboto" panose="02000000000000000000" pitchFamily="2" charset="0"/>
                        <a:ea typeface="Roboto" panose="02000000000000000000" pitchFamily="2" charset="0"/>
                        <a:cs typeface="+mn-cs"/>
                        <a:sym typeface="Arial"/>
                      </a:rPr>
                      <a:t>ANDON CORD 1 </a:t>
                    </a:r>
                  </a:p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r>
                      <a:rPr kumimoji="0" lang="en-US" sz="16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Roboto" panose="02000000000000000000" pitchFamily="2" charset="0"/>
                        <a:ea typeface="Roboto" panose="02000000000000000000" pitchFamily="2" charset="0"/>
                        <a:cs typeface="+mn-cs"/>
                        <a:sym typeface="Arial"/>
                      </a:rPr>
                      <a:t>RCCA 228</a:t>
                    </a:r>
                  </a:p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endPara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endParaRPr>
                  </a:p>
                </p:txBody>
              </p:sp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65C98F92-02C2-7A23-1360-C766FD506971}"/>
                      </a:ext>
                    </a:extLst>
                  </p:cNvPr>
                  <p:cNvSpPr txBox="1"/>
                  <p:nvPr/>
                </p:nvSpPr>
                <p:spPr>
                  <a:xfrm>
                    <a:off x="7792123" y="3036364"/>
                    <a:ext cx="2206243" cy="337791"/>
                  </a:xfrm>
                  <a:prstGeom prst="rect">
                    <a:avLst/>
                  </a:prstGeom>
                  <a:noFill/>
                  <a:ln w="9525" cmpd="sng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/>
                  </a:fontRef>
                </p:style>
                <p:txBody>
                  <a:bodyPr wrap="square" rtlCol="0" anchor="t"/>
                  <a:lstStyle>
                    <a:lvl1pPr marL="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endPara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endParaRPr>
                  </a:p>
                </p:txBody>
              </p:sp>
              <p:sp>
                <p:nvSpPr>
                  <p:cNvPr id="22" name="Oval 21">
                    <a:extLst>
                      <a:ext uri="{FF2B5EF4-FFF2-40B4-BE49-F238E27FC236}">
                        <a16:creationId xmlns:a16="http://schemas.microsoft.com/office/drawing/2014/main" id="{1CF81034-E14F-AAF0-489B-AF202406DE89}"/>
                      </a:ext>
                    </a:extLst>
                  </p:cNvPr>
                  <p:cNvSpPr/>
                  <p:nvPr/>
                </p:nvSpPr>
                <p:spPr>
                  <a:xfrm>
                    <a:off x="5372512" y="4376954"/>
                    <a:ext cx="848469" cy="848469"/>
                  </a:xfrm>
                  <a:prstGeom prst="ellipse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endParaRPr kumimoji="0" lang="en-US" sz="1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  <a:sym typeface="Arial"/>
                    </a:endParaRPr>
                  </a:p>
                </p:txBody>
              </p:sp>
            </p:grpSp>
          </p:grpSp>
          <p:sp>
            <p:nvSpPr>
              <p:cNvPr id="6" name="TextBox 10">
                <a:extLst>
                  <a:ext uri="{FF2B5EF4-FFF2-40B4-BE49-F238E27FC236}">
                    <a16:creationId xmlns:a16="http://schemas.microsoft.com/office/drawing/2014/main" id="{50B5293D-928B-43D5-DBCA-42CE8F92112E}"/>
                  </a:ext>
                </a:extLst>
              </p:cNvPr>
              <p:cNvSpPr txBox="1"/>
              <p:nvPr/>
            </p:nvSpPr>
            <p:spPr>
              <a:xfrm>
                <a:off x="381553" y="2981578"/>
                <a:ext cx="1365232" cy="695325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+mn-cs"/>
                    <a:sym typeface="Arial"/>
                  </a:rPr>
                  <a:t>97%</a:t>
                </a:r>
              </a:p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+mn-cs"/>
                    <a:sym typeface="Arial"/>
                  </a:rPr>
                  <a:t>Escalate to</a:t>
                </a:r>
              </a:p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+mn-cs"/>
                    <a:sym typeface="Arial"/>
                  </a:rPr>
                  <a:t>SSB</a:t>
                </a:r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91F36ED-03CC-7069-9C68-3F3ABAC0B233}"/>
              </a:ext>
            </a:extLst>
          </p:cNvPr>
          <p:cNvSpPr txBox="1"/>
          <p:nvPr/>
        </p:nvSpPr>
        <p:spPr>
          <a:xfrm>
            <a:off x="9767736" y="9772782"/>
            <a:ext cx="7960756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* Additional Quality Staff Deployed and checked before submission to Corporate QA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1A3FC96-75E8-C3C6-6D9D-4FF8E9B1DAF0}"/>
              </a:ext>
            </a:extLst>
          </p:cNvPr>
          <p:cNvSpPr txBox="1"/>
          <p:nvPr/>
        </p:nvSpPr>
        <p:spPr>
          <a:xfrm>
            <a:off x="7437568" y="4066152"/>
            <a:ext cx="17395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CONTAINMENT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2483B49-300A-B509-1EFD-5A72ADF3F05B}"/>
              </a:ext>
            </a:extLst>
          </p:cNvPr>
          <p:cNvSpPr txBox="1"/>
          <p:nvPr/>
        </p:nvSpPr>
        <p:spPr>
          <a:xfrm>
            <a:off x="8089199" y="2689638"/>
            <a:ext cx="4485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*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84B63C6-DC0E-E38C-E615-69BF4BEEAF37}"/>
              </a:ext>
            </a:extLst>
          </p:cNvPr>
          <p:cNvSpPr txBox="1"/>
          <p:nvPr/>
        </p:nvSpPr>
        <p:spPr>
          <a:xfrm>
            <a:off x="9542077" y="2689638"/>
            <a:ext cx="4485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*</a:t>
            </a:r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FD2EB152-2A8C-42AE-9CE2-2C935EF622F1}"/>
              </a:ext>
            </a:extLst>
          </p:cNvPr>
          <p:cNvSpPr txBox="1"/>
          <p:nvPr/>
        </p:nvSpPr>
        <p:spPr>
          <a:xfrm flipH="1">
            <a:off x="8211731" y="10106192"/>
            <a:ext cx="9516761" cy="60450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WW24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: FIELD, PCS Bundling, CT Issue, FUNDING CSLB Disclosure, Production Modelling. Decoder 2 KMM and 2 RYW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WW25: 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DESIGN: Electrical Issue. Decoder 1 RYW</a:t>
            </a:r>
            <a:endParaRPr kumimoji="0" lang="en-US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  <a:sym typeface="Arial"/>
            </a:endParaRPr>
          </a:p>
        </p:txBody>
      </p:sp>
      <p:sp>
        <p:nvSpPr>
          <p:cNvPr id="19" name="TextBox 2">
            <a:extLst>
              <a:ext uri="{FF2B5EF4-FFF2-40B4-BE49-F238E27FC236}">
                <a16:creationId xmlns:a16="http://schemas.microsoft.com/office/drawing/2014/main" id="{77AD139F-1050-CCB0-3B10-190D5EA04EFE}"/>
              </a:ext>
            </a:extLst>
          </p:cNvPr>
          <p:cNvSpPr txBox="1"/>
          <p:nvPr/>
        </p:nvSpPr>
        <p:spPr>
          <a:xfrm flipH="1">
            <a:off x="8089199" y="4621561"/>
            <a:ext cx="3026806" cy="1397135"/>
          </a:xfrm>
          <a:prstGeom prst="accentCallout1">
            <a:avLst>
              <a:gd name="adj1" fmla="val 956"/>
              <a:gd name="adj2" fmla="val -554"/>
              <a:gd name="adj3" fmla="val -48073"/>
              <a:gd name="adj4" fmla="val 6775"/>
            </a:avLst>
          </a:prstGeom>
          <a:noFill/>
          <a:ln w="9525" cmpd="sng">
            <a:solidFill>
              <a:schemeClr val="bg1">
                <a:lumMod val="6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4 REJECTS. RCCA 228, D6 (OPEN)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ADDITIONAL TRAINING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SPEC 12285, REV N UPDATE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  <a:sym typeface="Arial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INSPECTION UPSTREAM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FOR DESIGN AND FIELD 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14C5EAD-86EA-B328-2F29-E51192B624E6}"/>
              </a:ext>
            </a:extLst>
          </p:cNvPr>
          <p:cNvSpPr txBox="1"/>
          <p:nvPr/>
        </p:nvSpPr>
        <p:spPr>
          <a:xfrm>
            <a:off x="9892257" y="4133929"/>
            <a:ext cx="385585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ROOT CAUSE CORRECTIVE ACTION 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448EF3-4C99-1194-6FAC-50CBEF44642F}"/>
              </a:ext>
            </a:extLst>
          </p:cNvPr>
          <p:cNvSpPr txBox="1"/>
          <p:nvPr/>
        </p:nvSpPr>
        <p:spPr>
          <a:xfrm>
            <a:off x="6600307" y="3739001"/>
            <a:ext cx="4485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*</a:t>
            </a: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34FC36D8-1195-C09A-46E8-F4DBFEF26D4F}"/>
              </a:ext>
            </a:extLst>
          </p:cNvPr>
          <p:cNvSpPr txBox="1"/>
          <p:nvPr/>
        </p:nvSpPr>
        <p:spPr>
          <a:xfrm flipH="1">
            <a:off x="10926129" y="4519147"/>
            <a:ext cx="3026806" cy="727679"/>
          </a:xfrm>
          <a:prstGeom prst="accentCallout1">
            <a:avLst>
              <a:gd name="adj1" fmla="val 956"/>
              <a:gd name="adj2" fmla="val -554"/>
              <a:gd name="adj3" fmla="val -48073"/>
              <a:gd name="adj4" fmla="val 6775"/>
            </a:avLst>
          </a:prstGeom>
          <a:noFill/>
          <a:ln w="9525" cmpd="sng">
            <a:solidFill>
              <a:schemeClr val="bg1">
                <a:lumMod val="6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1 REJECT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ELECTRICAL ISSUE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(DESIGN)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B11ED09-4C55-2329-6889-3B568C0837AA}"/>
              </a:ext>
            </a:extLst>
          </p:cNvPr>
          <p:cNvCxnSpPr/>
          <p:nvPr/>
        </p:nvCxnSpPr>
        <p:spPr>
          <a:xfrm flipV="1">
            <a:off x="11288205" y="3635233"/>
            <a:ext cx="0" cy="45095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3AB9563-4512-F0D5-4304-D31824672251}"/>
              </a:ext>
            </a:extLst>
          </p:cNvPr>
          <p:cNvCxnSpPr/>
          <p:nvPr/>
        </p:nvCxnSpPr>
        <p:spPr>
          <a:xfrm flipV="1">
            <a:off x="14085161" y="3739001"/>
            <a:ext cx="0" cy="45095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6054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129EF-908C-D620-50E4-5524C4B0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BDEFA55D-853D-0DF4-15FA-8FC09E4909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8525" y="1546951"/>
          <a:ext cx="18307050" cy="832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0058400" imgH="4572000" progId="Excel.Sheet.12">
                  <p:link updateAutomatic="1"/>
                </p:oleObj>
              </mc:Choice>
              <mc:Fallback>
                <p:oleObj name="Worksheet" r:id="rId2" imgW="10058400" imgH="4572000" progId="Excel.Sheet.12">
                  <p:link updateAutomatic="1"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BDEFA55D-853D-0DF4-15FA-8FC09E4909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98525" y="1546951"/>
                        <a:ext cx="18307050" cy="8321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5">
            <a:extLst>
              <a:ext uri="{FF2B5EF4-FFF2-40B4-BE49-F238E27FC236}">
                <a16:creationId xmlns:a16="http://schemas.microsoft.com/office/drawing/2014/main" id="{F2C79927-9D48-006C-2DEA-F5C3D4022B36}"/>
              </a:ext>
            </a:extLst>
          </p:cNvPr>
          <p:cNvSpPr txBox="1"/>
          <p:nvPr/>
        </p:nvSpPr>
        <p:spPr>
          <a:xfrm>
            <a:off x="898525" y="598653"/>
            <a:ext cx="1830705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1005280" rtl="0" eaLnBrk="1" fontAlgn="auto" latinLnBrk="0" hangingPunct="1">
              <a:lnSpc>
                <a:spcPts val="49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SunPower Direct M1 Corporate QA Inspection, WW24-WW25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B76AD7-C6E0-41B3-9690-D2924BB9CE24}"/>
              </a:ext>
            </a:extLst>
          </p:cNvPr>
          <p:cNvSpPr txBox="1"/>
          <p:nvPr/>
        </p:nvSpPr>
        <p:spPr>
          <a:xfrm>
            <a:off x="1685960" y="9868852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Author: RJG/EVV, 6/22/2026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43007C-F1F8-BEDA-A151-6F2C598ECE62}"/>
              </a:ext>
            </a:extLst>
          </p:cNvPr>
          <p:cNvSpPr txBox="1"/>
          <p:nvPr/>
        </p:nvSpPr>
        <p:spPr>
          <a:xfrm>
            <a:off x="5557554" y="9868852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Owner: KMM	QA: RJG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53EEE7-34D3-F06E-402F-556E1456EAE9}"/>
              </a:ext>
            </a:extLst>
          </p:cNvPr>
          <p:cNvSpPr/>
          <p:nvPr/>
        </p:nvSpPr>
        <p:spPr>
          <a:xfrm>
            <a:off x="16041567" y="1662118"/>
            <a:ext cx="18288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Spec 12285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AFD040-0A25-6122-DEB0-0A78D1209D74}"/>
              </a:ext>
            </a:extLst>
          </p:cNvPr>
          <p:cNvSpPr/>
          <p:nvPr/>
        </p:nvSpPr>
        <p:spPr>
          <a:xfrm>
            <a:off x="2526824" y="1662118"/>
            <a:ext cx="1371600" cy="5486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RCCA 228. D6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(OPEN)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8D9F43-444C-7A97-3BA0-1B25CCEA9B8B}"/>
              </a:ext>
            </a:extLst>
          </p:cNvPr>
          <p:cNvSpPr txBox="1"/>
          <p:nvPr/>
        </p:nvSpPr>
        <p:spPr>
          <a:xfrm>
            <a:off x="8523180" y="9850218"/>
            <a:ext cx="9223014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* Additional Quality Staff Deployed and checked before submission to Corporate QA (from 21.2TD)</a:t>
            </a: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4CAD0638-5C43-63B1-65F4-158C0280421C}"/>
              </a:ext>
            </a:extLst>
          </p:cNvPr>
          <p:cNvSpPr txBox="1"/>
          <p:nvPr/>
        </p:nvSpPr>
        <p:spPr>
          <a:xfrm flipH="1">
            <a:off x="8225542" y="10207406"/>
            <a:ext cx="9516761" cy="60450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WW24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: FIELD, PCS Bundling, CT Issue, FUNDING CSLB Disclosure, Production Modelling. Decoder 2 KMM and 2 RYW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WW25: 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DESIGN: Electrical Issue. Decoder 1 RYW</a:t>
            </a:r>
            <a:endParaRPr kumimoji="0" lang="en-US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91182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129EF-908C-D620-50E4-5524C4B0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4618F98-80FB-5C81-844C-BF713CBBC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584" y="1549400"/>
            <a:ext cx="17090933" cy="8229600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F2C79927-9D48-006C-2DEA-F5C3D4022B36}"/>
              </a:ext>
            </a:extLst>
          </p:cNvPr>
          <p:cNvSpPr txBox="1"/>
          <p:nvPr/>
        </p:nvSpPr>
        <p:spPr>
          <a:xfrm>
            <a:off x="222250" y="598653"/>
            <a:ext cx="1965960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1005280" rtl="0" eaLnBrk="1" fontAlgn="auto" latinLnBrk="0" hangingPunct="1">
              <a:lnSpc>
                <a:spcPts val="49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SunPower Direct M1 Corporate QA Inspection, WW24-WW25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B76AD7-C6E0-41B3-9690-D2924BB9CE24}"/>
              </a:ext>
            </a:extLst>
          </p:cNvPr>
          <p:cNvSpPr txBox="1"/>
          <p:nvPr/>
        </p:nvSpPr>
        <p:spPr>
          <a:xfrm>
            <a:off x="1882720" y="9892580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Author: RJG/EVV, 6/22/2026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43007C-F1F8-BEDA-A151-6F2C598ECE62}"/>
              </a:ext>
            </a:extLst>
          </p:cNvPr>
          <p:cNvSpPr txBox="1"/>
          <p:nvPr/>
        </p:nvSpPr>
        <p:spPr>
          <a:xfrm>
            <a:off x="5754314" y="9892580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Owner: KMM/AEP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53EEE7-34D3-F06E-402F-556E1456EAE9}"/>
              </a:ext>
            </a:extLst>
          </p:cNvPr>
          <p:cNvSpPr/>
          <p:nvPr/>
        </p:nvSpPr>
        <p:spPr>
          <a:xfrm>
            <a:off x="16085812" y="1662980"/>
            <a:ext cx="18288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Spec 12285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AFD040-0A25-6122-DEB0-0A78D1209D74}"/>
              </a:ext>
            </a:extLst>
          </p:cNvPr>
          <p:cNvSpPr/>
          <p:nvPr/>
        </p:nvSpPr>
        <p:spPr>
          <a:xfrm>
            <a:off x="2526824" y="1662980"/>
            <a:ext cx="1371600" cy="5486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RCCA 228. D6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(OPEN)</a:t>
            </a:r>
          </a:p>
        </p:txBody>
      </p:sp>
    </p:spTree>
    <p:extLst>
      <p:ext uri="{BB962C8B-B14F-4D97-AF65-F5344CB8AC3E}">
        <p14:creationId xmlns:p14="http://schemas.microsoft.com/office/powerpoint/2010/main" val="17114975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129EF-908C-D620-50E4-5524C4B0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BDEFA55D-853D-0DF4-15FA-8FC09E4909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8525" y="1547813"/>
          <a:ext cx="18307050" cy="832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0058400" imgH="4572000" progId="Excel.Sheet.12">
                  <p:link updateAutomatic="1"/>
                </p:oleObj>
              </mc:Choice>
              <mc:Fallback>
                <p:oleObj name="Worksheet" r:id="rId2" imgW="10058400" imgH="4572000" progId="Excel.Sheet.12">
                  <p:link updateAutomatic="1"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BDEFA55D-853D-0DF4-15FA-8FC09E4909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98525" y="1547813"/>
                        <a:ext cx="18307050" cy="8321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5">
            <a:extLst>
              <a:ext uri="{FF2B5EF4-FFF2-40B4-BE49-F238E27FC236}">
                <a16:creationId xmlns:a16="http://schemas.microsoft.com/office/drawing/2014/main" id="{F2C79927-9D48-006C-2DEA-F5C3D4022B36}"/>
              </a:ext>
            </a:extLst>
          </p:cNvPr>
          <p:cNvSpPr txBox="1"/>
          <p:nvPr/>
        </p:nvSpPr>
        <p:spPr>
          <a:xfrm>
            <a:off x="898525" y="598653"/>
            <a:ext cx="1830705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1005280" rtl="0" eaLnBrk="1" fontAlgn="auto" latinLnBrk="0" hangingPunct="1">
              <a:lnSpc>
                <a:spcPts val="49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SunPower Direct M1 Corporate QA Inspection, WW19-WW25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B76AD7-C6E0-41B3-9690-D2924BB9CE24}"/>
              </a:ext>
            </a:extLst>
          </p:cNvPr>
          <p:cNvSpPr txBox="1"/>
          <p:nvPr/>
        </p:nvSpPr>
        <p:spPr>
          <a:xfrm>
            <a:off x="1730205" y="9908572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Author: RJG/EVV, 6/22/2026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43007C-F1F8-BEDA-A151-6F2C598ECE62}"/>
              </a:ext>
            </a:extLst>
          </p:cNvPr>
          <p:cNvSpPr txBox="1"/>
          <p:nvPr/>
        </p:nvSpPr>
        <p:spPr>
          <a:xfrm>
            <a:off x="5601799" y="9868852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Owner: KMM	QA: RJG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53EEE7-34D3-F06E-402F-556E1456EAE9}"/>
              </a:ext>
            </a:extLst>
          </p:cNvPr>
          <p:cNvSpPr/>
          <p:nvPr/>
        </p:nvSpPr>
        <p:spPr>
          <a:xfrm>
            <a:off x="16085812" y="1702700"/>
            <a:ext cx="18288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Spec 12285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AFD040-0A25-6122-DEB0-0A78D1209D74}"/>
              </a:ext>
            </a:extLst>
          </p:cNvPr>
          <p:cNvSpPr/>
          <p:nvPr/>
        </p:nvSpPr>
        <p:spPr>
          <a:xfrm>
            <a:off x="2526824" y="1702700"/>
            <a:ext cx="1371600" cy="5486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RCCA 228. D6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(OPEN)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8D9F43-444C-7A97-3BA0-1B25CCEA9B8B}"/>
              </a:ext>
            </a:extLst>
          </p:cNvPr>
          <p:cNvSpPr txBox="1"/>
          <p:nvPr/>
        </p:nvSpPr>
        <p:spPr>
          <a:xfrm>
            <a:off x="8567425" y="9851080"/>
            <a:ext cx="9223014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* Additional Quality Staff Deployed and checked before submission to Corporate QA (from 21.2TD)</a:t>
            </a:r>
          </a:p>
        </p:txBody>
      </p:sp>
    </p:spTree>
    <p:extLst>
      <p:ext uri="{BB962C8B-B14F-4D97-AF65-F5344CB8AC3E}">
        <p14:creationId xmlns:p14="http://schemas.microsoft.com/office/powerpoint/2010/main" val="29134759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129EF-908C-D620-50E4-5524C4B0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0C57F49C-C80F-1733-4658-E46C88669D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03902" y="1547813"/>
          <a:ext cx="16590963" cy="822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239161" imgH="4581038" progId="Excel.Sheet.12">
                  <p:link updateAutomatic="1"/>
                </p:oleObj>
              </mc:Choice>
              <mc:Fallback>
                <p:oleObj name="Worksheet" r:id="rId2" imgW="9239161" imgH="4581038" progId="Excel.Sheet.12">
                  <p:link updateAutomatic="1"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0C57F49C-C80F-1733-4658-E46C88669D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803902" y="1547813"/>
                        <a:ext cx="16590963" cy="8226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5">
            <a:extLst>
              <a:ext uri="{FF2B5EF4-FFF2-40B4-BE49-F238E27FC236}">
                <a16:creationId xmlns:a16="http://schemas.microsoft.com/office/drawing/2014/main" id="{F2C79927-9D48-006C-2DEA-F5C3D4022B36}"/>
              </a:ext>
            </a:extLst>
          </p:cNvPr>
          <p:cNvSpPr txBox="1"/>
          <p:nvPr/>
        </p:nvSpPr>
        <p:spPr>
          <a:xfrm>
            <a:off x="222250" y="598653"/>
            <a:ext cx="1965960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1005280" rtl="0" eaLnBrk="1" fontAlgn="auto" latinLnBrk="0" hangingPunct="1">
              <a:lnSpc>
                <a:spcPts val="49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SunPower Direct M1 Corporate QA Inspection, WW19-WW25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B76AD7-C6E0-41B3-9690-D2924BB9CE24}"/>
              </a:ext>
            </a:extLst>
          </p:cNvPr>
          <p:cNvSpPr txBox="1"/>
          <p:nvPr/>
        </p:nvSpPr>
        <p:spPr>
          <a:xfrm>
            <a:off x="1930847" y="9889405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Author: RJG/EVV, 6/22/2026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43007C-F1F8-BEDA-A151-6F2C598ECE62}"/>
              </a:ext>
            </a:extLst>
          </p:cNvPr>
          <p:cNvSpPr txBox="1"/>
          <p:nvPr/>
        </p:nvSpPr>
        <p:spPr>
          <a:xfrm>
            <a:off x="5802441" y="9892580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Owner: KMM/AEP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53EEE7-34D3-F06E-402F-556E1456EAE9}"/>
              </a:ext>
            </a:extLst>
          </p:cNvPr>
          <p:cNvSpPr/>
          <p:nvPr/>
        </p:nvSpPr>
        <p:spPr>
          <a:xfrm>
            <a:off x="16133939" y="1659805"/>
            <a:ext cx="18288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Spec 12285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AFD040-0A25-6122-DEB0-0A78D1209D74}"/>
              </a:ext>
            </a:extLst>
          </p:cNvPr>
          <p:cNvSpPr/>
          <p:nvPr/>
        </p:nvSpPr>
        <p:spPr>
          <a:xfrm>
            <a:off x="2574951" y="1659805"/>
            <a:ext cx="1371600" cy="5486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RCCA 228. D6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(OPEN)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CC4C77-3763-2A8F-73CA-1172897D9312}"/>
              </a:ext>
            </a:extLst>
          </p:cNvPr>
          <p:cNvSpPr txBox="1"/>
          <p:nvPr/>
        </p:nvSpPr>
        <p:spPr>
          <a:xfrm>
            <a:off x="8580872" y="9889405"/>
            <a:ext cx="9223014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* Additional Quality Staff Deployed and checked before submission to Corporate QA (from 21.2TD)</a:t>
            </a:r>
          </a:p>
        </p:txBody>
      </p:sp>
    </p:spTree>
    <p:extLst>
      <p:ext uri="{BB962C8B-B14F-4D97-AF65-F5344CB8AC3E}">
        <p14:creationId xmlns:p14="http://schemas.microsoft.com/office/powerpoint/2010/main" val="33777878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CAE74-E204-8FFF-CD38-2B856BE2A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96E22743-C4C9-A913-A4F7-F73955C321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08163" y="1393825"/>
          <a:ext cx="16489362" cy="821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nary Worksheet" r:id="rId3" imgW="11010546" imgH="5486400" progId="Excel.SheetBinaryMacroEnabled.12">
                  <p:link updateAutomatic="1"/>
                </p:oleObj>
              </mc:Choice>
              <mc:Fallback>
                <p:oleObj name="Binary Worksheet" r:id="rId3" imgW="11010546" imgH="5486400" progId="Excel.SheetBinaryMacroEnabled.12">
                  <p:link updateAutomatic="1"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96E22743-C4C9-A913-A4F7-F73955C321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08163" y="1393825"/>
                        <a:ext cx="16489362" cy="821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5">
            <a:extLst>
              <a:ext uri="{FF2B5EF4-FFF2-40B4-BE49-F238E27FC236}">
                <a16:creationId xmlns:a16="http://schemas.microsoft.com/office/drawing/2014/main" id="{59695686-DD0A-E3E4-4917-FAA848BA98FD}"/>
              </a:ext>
            </a:extLst>
          </p:cNvPr>
          <p:cNvSpPr txBox="1"/>
          <p:nvPr/>
        </p:nvSpPr>
        <p:spPr>
          <a:xfrm>
            <a:off x="222250" y="599962"/>
            <a:ext cx="1965960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1005280" rtl="0" eaLnBrk="1" fontAlgn="auto" latinLnBrk="0" hangingPunct="1">
              <a:lnSpc>
                <a:spcPts val="49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S14: SPWR Direct Final Inspection Verified FPY, WW18-WW25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2BB82FC-8E19-F6BB-AE56-DD1F0179AF59}"/>
              </a:ext>
            </a:extLst>
          </p:cNvPr>
          <p:cNvSpPr/>
          <p:nvPr/>
        </p:nvSpPr>
        <p:spPr>
          <a:xfrm>
            <a:off x="450851" y="9617464"/>
            <a:ext cx="7946390" cy="39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Data Source: 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  <a:hlinkClick r:id="rId5"/>
              </a:rPr>
              <a:t>Salesforce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/EVV, 6/22/2026	Owner: RLJ 	QA: TGM, ZJW</a:t>
            </a:r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CB368E56-3988-02D9-2609-BF63BFAB5BF5}"/>
              </a:ext>
            </a:extLst>
          </p:cNvPr>
          <p:cNvSpPr txBox="1"/>
          <p:nvPr/>
        </p:nvSpPr>
        <p:spPr>
          <a:xfrm>
            <a:off x="15360586" y="5155000"/>
            <a:ext cx="1469720" cy="69532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91440" tIns="45720" rIns="91440" bIns="45720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SPEC 12807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RCCA 187, D3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(OPEN)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E8FAD6D-0CA0-8545-7E21-5C0CC12B6BFF}"/>
              </a:ext>
            </a:extLst>
          </p:cNvPr>
          <p:cNvGrpSpPr/>
          <p:nvPr/>
        </p:nvGrpSpPr>
        <p:grpSpPr>
          <a:xfrm>
            <a:off x="2817889" y="2497255"/>
            <a:ext cx="14037923" cy="5702365"/>
            <a:chOff x="1140244" y="2497255"/>
            <a:chExt cx="14037923" cy="5702365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69EAE52-5807-0244-F56A-1079AD3275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178167" y="2497255"/>
              <a:ext cx="0" cy="5702365"/>
            </a:xfrm>
            <a:prstGeom prst="line">
              <a:avLst/>
            </a:prstGeom>
            <a:ln w="38100">
              <a:solidFill>
                <a:srgbClr val="FF0000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13">
              <a:extLst>
                <a:ext uri="{FF2B5EF4-FFF2-40B4-BE49-F238E27FC236}">
                  <a16:creationId xmlns:a16="http://schemas.microsoft.com/office/drawing/2014/main" id="{C833041D-6C0C-3EC3-8C54-458166D0FB98}"/>
                </a:ext>
              </a:extLst>
            </p:cNvPr>
            <p:cNvSpPr txBox="1"/>
            <p:nvPr/>
          </p:nvSpPr>
          <p:spPr>
            <a:xfrm>
              <a:off x="1140244" y="3090415"/>
              <a:ext cx="1256004" cy="593033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  <a:sym typeface="Arial"/>
                </a:rPr>
                <a:t>97%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  <a:sym typeface="Arial"/>
                </a:rPr>
                <a:t>Escalation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  <a:sym typeface="Arial"/>
                </a:rPr>
                <a:t>to SSB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862C5453-9EB2-A90F-A268-AC52D886F1B3}"/>
              </a:ext>
            </a:extLst>
          </p:cNvPr>
          <p:cNvSpPr txBox="1"/>
          <p:nvPr/>
        </p:nvSpPr>
        <p:spPr>
          <a:xfrm>
            <a:off x="12978618" y="4014220"/>
            <a:ext cx="5334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*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B5A4AB-67C8-FC5B-97AF-7A66FB79E672}"/>
              </a:ext>
            </a:extLst>
          </p:cNvPr>
          <p:cNvSpPr txBox="1"/>
          <p:nvPr/>
        </p:nvSpPr>
        <p:spPr>
          <a:xfrm>
            <a:off x="17662089" y="8436760"/>
            <a:ext cx="5334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**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DFB7D8-4E71-6D48-8ED9-AD5C3D6DF2D0}"/>
              </a:ext>
            </a:extLst>
          </p:cNvPr>
          <p:cNvSpPr/>
          <p:nvPr/>
        </p:nvSpPr>
        <p:spPr>
          <a:xfrm>
            <a:off x="8397241" y="9617464"/>
            <a:ext cx="6020737" cy="39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* ANDON CORD FOCUSED ON CREW FROM IL &amp; MI – </a:t>
            </a: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  <a:hlinkClick r:id="rId6"/>
              </a:rPr>
              <a:t>ZJW-30A</a:t>
            </a:r>
            <a:endParaRPr kumimoji="0" lang="en-US" sz="1600" b="1" i="0" u="none" strike="noStrike" kern="0" cap="none" spc="0" normalizeH="0" baseline="0" noProof="0">
              <a:ln>
                <a:noFill/>
              </a:ln>
              <a:solidFill>
                <a:srgbClr val="3A3838"/>
              </a:solidFill>
              <a:effectLst/>
              <a:uLnTx/>
              <a:uFillTx/>
              <a:latin typeface="Roboto"/>
              <a:ea typeface="Roboto"/>
              <a:cs typeface="Roboto"/>
              <a:sym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FE950D-261B-2066-DDFE-03AB8871C5E1}"/>
              </a:ext>
            </a:extLst>
          </p:cNvPr>
          <p:cNvSpPr txBox="1"/>
          <p:nvPr/>
        </p:nvSpPr>
        <p:spPr>
          <a:xfrm>
            <a:off x="14295120" y="9688996"/>
            <a:ext cx="5358130" cy="338554"/>
          </a:xfrm>
          <a:prstGeom prst="rect">
            <a:avLst/>
          </a:prstGeom>
          <a:solidFill>
            <a:srgbClr val="FFFFCC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* WW20-24 Data Under Validation with RLJ (FIV Team)</a:t>
            </a:r>
          </a:p>
        </p:txBody>
      </p:sp>
    </p:spTree>
    <p:extLst>
      <p:ext uri="{BB962C8B-B14F-4D97-AF65-F5344CB8AC3E}">
        <p14:creationId xmlns:p14="http://schemas.microsoft.com/office/powerpoint/2010/main" val="42541117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CAE74-E204-8FFF-CD38-2B856BE2A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2DFEA3D5-CBD5-980F-254F-AE91A709C606}"/>
              </a:ext>
            </a:extLst>
          </p:cNvPr>
          <p:cNvGraphicFramePr>
            <a:graphicFrameLocks/>
          </p:cNvGraphicFramePr>
          <p:nvPr/>
        </p:nvGraphicFramePr>
        <p:xfrm>
          <a:off x="450850" y="1387863"/>
          <a:ext cx="19202400" cy="822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Box 5">
            <a:extLst>
              <a:ext uri="{FF2B5EF4-FFF2-40B4-BE49-F238E27FC236}">
                <a16:creationId xmlns:a16="http://schemas.microsoft.com/office/drawing/2014/main" id="{59695686-DD0A-E3E4-4917-FAA848BA98FD}"/>
              </a:ext>
            </a:extLst>
          </p:cNvPr>
          <p:cNvSpPr txBox="1"/>
          <p:nvPr/>
        </p:nvSpPr>
        <p:spPr>
          <a:xfrm>
            <a:off x="222250" y="599962"/>
            <a:ext cx="1965960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1005280" rtl="0" eaLnBrk="1" fontAlgn="auto" latinLnBrk="0" hangingPunct="1">
              <a:lnSpc>
                <a:spcPts val="49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SPWR Direct S14 Final Inspection Verified Pareto, </a:t>
            </a: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WW18-WW25</a:t>
            </a:r>
            <a:endParaRPr kumimoji="0" lang="en-US" sz="4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  <a:sym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1CC1DE-F1FB-F083-E3E0-1F6EB97E396E}"/>
              </a:ext>
            </a:extLst>
          </p:cNvPr>
          <p:cNvSpPr txBox="1"/>
          <p:nvPr/>
        </p:nvSpPr>
        <p:spPr>
          <a:xfrm>
            <a:off x="14295120" y="9688996"/>
            <a:ext cx="5358130" cy="338554"/>
          </a:xfrm>
          <a:prstGeom prst="rect">
            <a:avLst/>
          </a:prstGeom>
          <a:solidFill>
            <a:srgbClr val="FFFFCC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* WW20-25 Data Under Validation with RLJ (FIV Team)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43FCC9C-6F80-FE4F-F07E-A42A20784E8F}"/>
              </a:ext>
            </a:extLst>
          </p:cNvPr>
          <p:cNvGrpSpPr/>
          <p:nvPr/>
        </p:nvGrpSpPr>
        <p:grpSpPr>
          <a:xfrm>
            <a:off x="2539869" y="8921421"/>
            <a:ext cx="6506518" cy="665790"/>
            <a:chOff x="2597897" y="8448980"/>
            <a:chExt cx="6506518" cy="66579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B00ED70-241C-AAB3-D3D6-B89B21338910}"/>
                </a:ext>
              </a:extLst>
            </p:cNvPr>
            <p:cNvSpPr/>
            <p:nvPr/>
          </p:nvSpPr>
          <p:spPr>
            <a:xfrm>
              <a:off x="2597897" y="8448981"/>
              <a:ext cx="584969" cy="665789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1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9430367-95BE-9850-20D8-DB03E68AD7C7}"/>
                </a:ext>
              </a:extLst>
            </p:cNvPr>
            <p:cNvSpPr/>
            <p:nvPr/>
          </p:nvSpPr>
          <p:spPr>
            <a:xfrm>
              <a:off x="3510133" y="8448981"/>
              <a:ext cx="584969" cy="665789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2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DDE9B36-87B2-A5F5-A2CF-5FF443EFCA5A}"/>
                </a:ext>
              </a:extLst>
            </p:cNvPr>
            <p:cNvSpPr/>
            <p:nvPr/>
          </p:nvSpPr>
          <p:spPr>
            <a:xfrm>
              <a:off x="4692200" y="8448981"/>
              <a:ext cx="584969" cy="665789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3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6C4CB1A-ED7E-818B-0706-AA3F0B2164E0}"/>
                </a:ext>
              </a:extLst>
            </p:cNvPr>
            <p:cNvSpPr/>
            <p:nvPr/>
          </p:nvSpPr>
          <p:spPr>
            <a:xfrm>
              <a:off x="5874267" y="8448980"/>
              <a:ext cx="584969" cy="665789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4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DFC1E17-C869-1314-5A5F-ED9106824385}"/>
                </a:ext>
              </a:extLst>
            </p:cNvPr>
            <p:cNvSpPr/>
            <p:nvPr/>
          </p:nvSpPr>
          <p:spPr>
            <a:xfrm>
              <a:off x="7283210" y="8448980"/>
              <a:ext cx="584969" cy="665789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5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9596AEE-799F-FD80-17C2-0E09483B5BE4}"/>
                </a:ext>
              </a:extLst>
            </p:cNvPr>
            <p:cNvSpPr/>
            <p:nvPr/>
          </p:nvSpPr>
          <p:spPr>
            <a:xfrm>
              <a:off x="8519446" y="8448980"/>
              <a:ext cx="584969" cy="665789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6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E0AD02B-3BF3-75F4-FFB0-9F84571558E4}"/>
              </a:ext>
            </a:extLst>
          </p:cNvPr>
          <p:cNvGrpSpPr/>
          <p:nvPr/>
        </p:nvGrpSpPr>
        <p:grpSpPr>
          <a:xfrm>
            <a:off x="1895377" y="1537765"/>
            <a:ext cx="16850968" cy="5348542"/>
            <a:chOff x="1895377" y="1537765"/>
            <a:chExt cx="16850968" cy="534854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195C138-2901-7977-EBD5-E6D4F07D249C}"/>
                </a:ext>
              </a:extLst>
            </p:cNvPr>
            <p:cNvSpPr/>
            <p:nvPr/>
          </p:nvSpPr>
          <p:spPr>
            <a:xfrm>
              <a:off x="16917545" y="1537765"/>
              <a:ext cx="1828800" cy="4572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150777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Arial"/>
                </a:rPr>
                <a:t>Spec 12807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615F432-95E2-8CC6-4181-9EEC3C1DD8C0}"/>
                </a:ext>
              </a:extLst>
            </p:cNvPr>
            <p:cNvSpPr/>
            <p:nvPr/>
          </p:nvSpPr>
          <p:spPr>
            <a:xfrm>
              <a:off x="1895377" y="1691887"/>
              <a:ext cx="4200255" cy="457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RCCA 187, D3 (OPEN)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E20CDED-01CA-5DBC-B5D3-B2A4516D4F3E}"/>
                </a:ext>
              </a:extLst>
            </p:cNvPr>
            <p:cNvSpPr/>
            <p:nvPr/>
          </p:nvSpPr>
          <p:spPr>
            <a:xfrm>
              <a:off x="13731240" y="3013547"/>
              <a:ext cx="4670150" cy="387276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Ins="91440" bIns="91440" rtlCol="0" anchor="t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Arial"/>
                </a:rPr>
                <a:t>SUBCATEGORY</a:t>
              </a:r>
              <a:b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</a:br>
              <a:endPara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Arial"/>
                </a:rPr>
                <a:t>1- Uncategorized: </a:t>
              </a: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Arial"/>
                </a:rPr>
                <a:t>Attribution for review and category validation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Arial"/>
                </a:rPr>
                <a:t>2-AHJ: </a:t>
              </a: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Arial"/>
                </a:rPr>
                <a:t>City or County Requirements</a:t>
              </a:r>
              <a:endPara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3-ELECTRICAL TECH (ET): </a:t>
              </a: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Human Error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Arial"/>
                </a:rPr>
                <a:t>4-</a:t>
              </a: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DESIGN: </a:t>
              </a: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Incorrect Design, AB Design Process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Arial"/>
                </a:rPr>
                <a:t>5-INSPECTION: </a:t>
              </a: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Arial"/>
                </a:rPr>
                <a:t>Schedule confirmation, </a:t>
              </a: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lt"/>
                  <a:cs typeface="Arial"/>
                  <a:sym typeface="Arial"/>
                </a:rPr>
                <a:t>Missing or incomplete required documentation</a:t>
              </a:r>
              <a:endPara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Arial"/>
                </a:rPr>
                <a:t>6-CUSTOMER</a:t>
              </a:r>
              <a:endPara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endParaRPr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9EE3D6EA-CF03-073D-F475-C960EC71F788}"/>
              </a:ext>
            </a:extLst>
          </p:cNvPr>
          <p:cNvSpPr/>
          <p:nvPr/>
        </p:nvSpPr>
        <p:spPr>
          <a:xfrm>
            <a:off x="450850" y="9617464"/>
            <a:ext cx="9601200" cy="39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Data Source: 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  <a:hlinkClick r:id="rId4"/>
              </a:rPr>
              <a:t>Salesforce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/EVV, 6/22/2026	Owner: RLJ 	QA Support: ZJW, TGM</a:t>
            </a:r>
          </a:p>
        </p:txBody>
      </p:sp>
    </p:spTree>
    <p:extLst>
      <p:ext uri="{BB962C8B-B14F-4D97-AF65-F5344CB8AC3E}">
        <p14:creationId xmlns:p14="http://schemas.microsoft.com/office/powerpoint/2010/main" val="38457896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CAE74-E204-8FFF-CD38-2B856BE2A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>
            <a:extLst>
              <a:ext uri="{FF2B5EF4-FFF2-40B4-BE49-F238E27FC236}">
                <a16:creationId xmlns:a16="http://schemas.microsoft.com/office/drawing/2014/main" id="{59695686-DD0A-E3E4-4917-FAA848BA98FD}"/>
              </a:ext>
            </a:extLst>
          </p:cNvPr>
          <p:cNvSpPr txBox="1"/>
          <p:nvPr/>
        </p:nvSpPr>
        <p:spPr>
          <a:xfrm>
            <a:off x="222250" y="599962"/>
            <a:ext cx="1965960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1005280" rtl="0" eaLnBrk="1" fontAlgn="auto" latinLnBrk="0" hangingPunct="1">
              <a:lnSpc>
                <a:spcPts val="49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SPWR Direct S14 Final Inspection Verified Pareto, WW18-WW25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EE3D6EA-CF03-073D-F475-C960EC71F788}"/>
              </a:ext>
            </a:extLst>
          </p:cNvPr>
          <p:cNvSpPr/>
          <p:nvPr/>
        </p:nvSpPr>
        <p:spPr>
          <a:xfrm>
            <a:off x="450850" y="8641877"/>
            <a:ext cx="13569950" cy="39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Data Source: 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  <a:hlinkClick r:id="rId3"/>
              </a:rPr>
              <a:t>Salesforce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/EVV, 6/22/2026	Owner: RLJ 	QA Support: TGM, ZJW</a:t>
            </a:r>
            <a:endParaRPr kumimoji="0" lang="en-US" sz="1600" b="1" i="0" u="none" strike="noStrike" kern="0" cap="none" spc="0" normalizeH="0" baseline="0" noProof="0">
              <a:ln>
                <a:noFill/>
              </a:ln>
              <a:solidFill>
                <a:srgbClr val="3A3838"/>
              </a:solidFill>
              <a:effectLst/>
              <a:uLnTx/>
              <a:uFillTx/>
              <a:latin typeface="Roboto"/>
              <a:ea typeface="Roboto"/>
              <a:cs typeface="Roboto"/>
              <a:sym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4FC6C5-9723-80EA-3FEB-34C827EBB72E}"/>
              </a:ext>
            </a:extLst>
          </p:cNvPr>
          <p:cNvSpPr/>
          <p:nvPr/>
        </p:nvSpPr>
        <p:spPr>
          <a:xfrm>
            <a:off x="14383825" y="1387863"/>
            <a:ext cx="4837203" cy="39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2ND LEVEL PARETO BY CREW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54E334-1991-1012-B623-D4FC0D3D83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83825" y="1777930"/>
            <a:ext cx="3383828" cy="8229600"/>
          </a:xfrm>
          <a:prstGeom prst="rect">
            <a:avLst/>
          </a:prstGeom>
          <a:solidFill>
            <a:schemeClr val="bg1"/>
          </a:solidFill>
        </p:spPr>
      </p:pic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E433E8CF-B472-BE80-C781-F23294DD73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0850" y="1777929"/>
          <a:ext cx="13716000" cy="68639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nary Worksheet" r:id="rId5" imgW="10982113" imgH="5495708" progId="Excel.SheetBinaryMacroEnabled.12">
                  <p:link updateAutomatic="1"/>
                </p:oleObj>
              </mc:Choice>
              <mc:Fallback>
                <p:oleObj name="Binary Worksheet" r:id="rId5" imgW="10982113" imgH="5495708" progId="Excel.SheetBinaryMacroEnabled.12">
                  <p:link updateAutomatic="1"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E433E8CF-B472-BE80-C781-F23294DD73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0850" y="1777929"/>
                        <a:ext cx="13716000" cy="68639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676744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CAE74-E204-8FFF-CD38-2B856BE2A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>
            <a:extLst>
              <a:ext uri="{FF2B5EF4-FFF2-40B4-BE49-F238E27FC236}">
                <a16:creationId xmlns:a16="http://schemas.microsoft.com/office/drawing/2014/main" id="{59695686-DD0A-E3E4-4917-FAA848BA98FD}"/>
              </a:ext>
            </a:extLst>
          </p:cNvPr>
          <p:cNvSpPr txBox="1"/>
          <p:nvPr/>
        </p:nvSpPr>
        <p:spPr>
          <a:xfrm>
            <a:off x="222250" y="599962"/>
            <a:ext cx="1965960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1005280" rtl="0" eaLnBrk="1" fontAlgn="auto" latinLnBrk="0" hangingPunct="1">
              <a:lnSpc>
                <a:spcPts val="49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SPWR Direct S14 Final Inspection Verified Pareto, WW11-WW18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EE3D6EA-CF03-073D-F475-C960EC71F788}"/>
              </a:ext>
            </a:extLst>
          </p:cNvPr>
          <p:cNvSpPr/>
          <p:nvPr/>
        </p:nvSpPr>
        <p:spPr>
          <a:xfrm>
            <a:off x="450850" y="9617464"/>
            <a:ext cx="13569950" cy="39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Data Source: 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  <a:hlinkClick r:id="rId3"/>
              </a:rPr>
              <a:t>Salesforce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/EVV, 5/11/2026	Owner: RLJ 	QA Support: TGM, ZJW	</a:t>
            </a: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MEMO </a:t>
            </a: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  <a:hlinkClick r:id="rId4"/>
              </a:rPr>
              <a:t>ZJW-30A</a:t>
            </a:r>
            <a:endParaRPr kumimoji="0" lang="en-US" sz="1600" b="1" i="0" u="none" strike="noStrike" kern="0" cap="none" spc="0" normalizeH="0" baseline="0" noProof="0">
              <a:ln>
                <a:noFill/>
              </a:ln>
              <a:solidFill>
                <a:srgbClr val="3A3838"/>
              </a:solidFill>
              <a:effectLst/>
              <a:uLnTx/>
              <a:uFillTx/>
              <a:latin typeface="Roboto"/>
              <a:ea typeface="Roboto"/>
              <a:cs typeface="Roboto"/>
              <a:sym typeface="Arial"/>
            </a:endParaRP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2715AB33-E315-4CFE-C88E-CE0B41E80ACB}"/>
              </a:ext>
            </a:extLst>
          </p:cNvPr>
          <p:cNvGraphicFramePr>
            <a:graphicFrameLocks/>
          </p:cNvGraphicFramePr>
          <p:nvPr/>
        </p:nvGraphicFramePr>
        <p:xfrm>
          <a:off x="450850" y="1387863"/>
          <a:ext cx="19202400" cy="822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" name="TextBox 13">
            <a:extLst>
              <a:ext uri="{FF2B5EF4-FFF2-40B4-BE49-F238E27FC236}">
                <a16:creationId xmlns:a16="http://schemas.microsoft.com/office/drawing/2014/main" id="{BB8639B2-4A9B-2151-2413-C12349085A4A}"/>
              </a:ext>
            </a:extLst>
          </p:cNvPr>
          <p:cNvSpPr txBox="1"/>
          <p:nvPr/>
        </p:nvSpPr>
        <p:spPr>
          <a:xfrm>
            <a:off x="450850" y="1032152"/>
            <a:ext cx="1256004" cy="39237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BASELINE</a:t>
            </a:r>
          </a:p>
        </p:txBody>
      </p:sp>
    </p:spTree>
    <p:extLst>
      <p:ext uri="{BB962C8B-B14F-4D97-AF65-F5344CB8AC3E}">
        <p14:creationId xmlns:p14="http://schemas.microsoft.com/office/powerpoint/2010/main" val="25812383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129EF-908C-D620-50E4-5524C4B0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BE2175C7-2989-3AA7-AC52-CEF4DF6F8E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89113" y="1581150"/>
          <a:ext cx="16562605" cy="822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200884" imgH="4572000" progId="Excel.Sheet.12">
                  <p:link updateAutomatic="1"/>
                </p:oleObj>
              </mc:Choice>
              <mc:Fallback>
                <p:oleObj name="Worksheet" r:id="rId2" imgW="9200884" imgH="4572000" progId="Excel.Sheet.12">
                  <p:link updateAutomatic="1"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BE2175C7-2989-3AA7-AC52-CEF4DF6F8E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89113" y="1581150"/>
                        <a:ext cx="16562605" cy="822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5">
            <a:extLst>
              <a:ext uri="{FF2B5EF4-FFF2-40B4-BE49-F238E27FC236}">
                <a16:creationId xmlns:a16="http://schemas.microsoft.com/office/drawing/2014/main" id="{F2C79927-9D48-006C-2DEA-F5C3D4022B36}"/>
              </a:ext>
            </a:extLst>
          </p:cNvPr>
          <p:cNvSpPr txBox="1"/>
          <p:nvPr/>
        </p:nvSpPr>
        <p:spPr>
          <a:xfrm>
            <a:off x="1789113" y="598653"/>
            <a:ext cx="16562606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1005280" rtl="0" eaLnBrk="1" fontAlgn="auto" latinLnBrk="0" hangingPunct="1">
              <a:lnSpc>
                <a:spcPts val="49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SunPower Direct M2 Corporate QA Inspection, WW25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B76AD7-C6E0-41B3-9690-D2924BB9CE24}"/>
              </a:ext>
            </a:extLst>
          </p:cNvPr>
          <p:cNvSpPr txBox="1"/>
          <p:nvPr/>
        </p:nvSpPr>
        <p:spPr>
          <a:xfrm>
            <a:off x="1878056" y="9837083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Author: RJG/EVV, 6/20/2026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A486AD-9F63-E958-F90F-52B3091B1C6C}"/>
              </a:ext>
            </a:extLst>
          </p:cNvPr>
          <p:cNvSpPr txBox="1"/>
          <p:nvPr/>
        </p:nvSpPr>
        <p:spPr>
          <a:xfrm>
            <a:off x="5749650" y="9837083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Owner: KMM/AEP</a:t>
            </a: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9013A9AB-ABE0-75FA-FEF4-788D6E5F13E2}"/>
              </a:ext>
            </a:extLst>
          </p:cNvPr>
          <p:cNvSpPr txBox="1"/>
          <p:nvPr/>
        </p:nvSpPr>
        <p:spPr>
          <a:xfrm>
            <a:off x="1053274" y="3227109"/>
            <a:ext cx="1365232" cy="69532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6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6C90822-99D6-E8DF-F057-44DA1EF88ECB}"/>
              </a:ext>
            </a:extLst>
          </p:cNvPr>
          <p:cNvGrpSpPr/>
          <p:nvPr/>
        </p:nvGrpSpPr>
        <p:grpSpPr>
          <a:xfrm>
            <a:off x="13779916" y="3227109"/>
            <a:ext cx="2355742" cy="4863006"/>
            <a:chOff x="16755969" y="3227109"/>
            <a:chExt cx="2355742" cy="4863006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A54D5D6-7C9C-E731-433C-939E7B58D806}"/>
                </a:ext>
              </a:extLst>
            </p:cNvPr>
            <p:cNvCxnSpPr>
              <a:cxnSpLocks/>
            </p:cNvCxnSpPr>
            <p:nvPr/>
          </p:nvCxnSpPr>
          <p:spPr>
            <a:xfrm>
              <a:off x="19111711" y="3227109"/>
              <a:ext cx="0" cy="4863006"/>
            </a:xfrm>
            <a:prstGeom prst="line">
              <a:avLst/>
            </a:prstGeom>
            <a:ln w="38100">
              <a:solidFill>
                <a:srgbClr val="FF0000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673FF2A-58B6-9346-712D-248AD6DDDB8A}"/>
                </a:ext>
              </a:extLst>
            </p:cNvPr>
            <p:cNvSpPr txBox="1"/>
            <p:nvPr/>
          </p:nvSpPr>
          <p:spPr>
            <a:xfrm>
              <a:off x="16755969" y="6141336"/>
              <a:ext cx="2206243" cy="867745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  <a:sym typeface="Arial"/>
                </a:rPr>
                <a:t>SPEC 12445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  <a:sym typeface="Arial"/>
                </a:rPr>
                <a:t>RCCA 234, D3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  <a:sym typeface="Arial"/>
                </a:rPr>
                <a:t>(OPEN)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A9370F9-F53F-AF45-6082-C26EFA1368B8}"/>
              </a:ext>
            </a:extLst>
          </p:cNvPr>
          <p:cNvSpPr txBox="1"/>
          <p:nvPr/>
        </p:nvSpPr>
        <p:spPr>
          <a:xfrm>
            <a:off x="8421286" y="9837083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Spec: 12445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0A28B18F-43DD-B777-B48E-AC9B84273127}"/>
              </a:ext>
            </a:extLst>
          </p:cNvPr>
          <p:cNvSpPr txBox="1"/>
          <p:nvPr/>
        </p:nvSpPr>
        <p:spPr>
          <a:xfrm>
            <a:off x="2118134" y="3293783"/>
            <a:ext cx="1365232" cy="69532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97%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Escalate to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SSB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862D751-0C0D-6295-9166-AE687B3F563A}"/>
              </a:ext>
            </a:extLst>
          </p:cNvPr>
          <p:cNvSpPr txBox="1"/>
          <p:nvPr/>
        </p:nvSpPr>
        <p:spPr>
          <a:xfrm>
            <a:off x="13929415" y="2644342"/>
            <a:ext cx="2206243" cy="69532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THIS IS CANDIDATE FOR ANDON CORD</a:t>
            </a:r>
          </a:p>
        </p:txBody>
      </p:sp>
    </p:spTree>
    <p:extLst>
      <p:ext uri="{BB962C8B-B14F-4D97-AF65-F5344CB8AC3E}">
        <p14:creationId xmlns:p14="http://schemas.microsoft.com/office/powerpoint/2010/main" val="30207183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129EF-908C-D620-50E4-5524C4B0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BE2175C7-2989-3AA7-AC52-CEF4DF6F8E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89113" y="1581150"/>
          <a:ext cx="16562605" cy="822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200884" imgH="4572000" progId="Excel.Sheet.12">
                  <p:link updateAutomatic="1"/>
                </p:oleObj>
              </mc:Choice>
              <mc:Fallback>
                <p:oleObj name="Worksheet" r:id="rId2" imgW="9200884" imgH="4572000" progId="Excel.Sheet.12">
                  <p:link updateAutomatic="1"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BE2175C7-2989-3AA7-AC52-CEF4DF6F8E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89113" y="1581150"/>
                        <a:ext cx="16562605" cy="822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5">
            <a:extLst>
              <a:ext uri="{FF2B5EF4-FFF2-40B4-BE49-F238E27FC236}">
                <a16:creationId xmlns:a16="http://schemas.microsoft.com/office/drawing/2014/main" id="{F2C79927-9D48-006C-2DEA-F5C3D4022B36}"/>
              </a:ext>
            </a:extLst>
          </p:cNvPr>
          <p:cNvSpPr txBox="1"/>
          <p:nvPr/>
        </p:nvSpPr>
        <p:spPr>
          <a:xfrm>
            <a:off x="1789113" y="598653"/>
            <a:ext cx="16562606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1005280" rtl="0" eaLnBrk="1" fontAlgn="auto" latinLnBrk="0" hangingPunct="1">
              <a:lnSpc>
                <a:spcPts val="49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SunPower Direct M2 Corporate QA Inspection, WW25.5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B76AD7-C6E0-41B3-9690-D2924BB9CE24}"/>
              </a:ext>
            </a:extLst>
          </p:cNvPr>
          <p:cNvSpPr txBox="1"/>
          <p:nvPr/>
        </p:nvSpPr>
        <p:spPr>
          <a:xfrm>
            <a:off x="1878056" y="9837083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Author: RJG/EVV, 6/20/2026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A486AD-9F63-E958-F90F-52B3091B1C6C}"/>
              </a:ext>
            </a:extLst>
          </p:cNvPr>
          <p:cNvSpPr txBox="1"/>
          <p:nvPr/>
        </p:nvSpPr>
        <p:spPr>
          <a:xfrm>
            <a:off x="5749650" y="9837083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Owner: KMM/AEP</a:t>
            </a: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9013A9AB-ABE0-75FA-FEF4-788D6E5F13E2}"/>
              </a:ext>
            </a:extLst>
          </p:cNvPr>
          <p:cNvSpPr txBox="1"/>
          <p:nvPr/>
        </p:nvSpPr>
        <p:spPr>
          <a:xfrm>
            <a:off x="1053274" y="3227109"/>
            <a:ext cx="1365232" cy="69532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6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6C90822-99D6-E8DF-F057-44DA1EF88ECB}"/>
              </a:ext>
            </a:extLst>
          </p:cNvPr>
          <p:cNvGrpSpPr/>
          <p:nvPr/>
        </p:nvGrpSpPr>
        <p:grpSpPr>
          <a:xfrm>
            <a:off x="12018351" y="3227109"/>
            <a:ext cx="2355742" cy="4863006"/>
            <a:chOff x="16755969" y="3227109"/>
            <a:chExt cx="2355742" cy="4863006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A54D5D6-7C9C-E731-433C-939E7B58D806}"/>
                </a:ext>
              </a:extLst>
            </p:cNvPr>
            <p:cNvCxnSpPr>
              <a:cxnSpLocks/>
            </p:cNvCxnSpPr>
            <p:nvPr/>
          </p:nvCxnSpPr>
          <p:spPr>
            <a:xfrm>
              <a:off x="19111711" y="3227109"/>
              <a:ext cx="0" cy="4863006"/>
            </a:xfrm>
            <a:prstGeom prst="line">
              <a:avLst/>
            </a:prstGeom>
            <a:ln w="38100">
              <a:solidFill>
                <a:srgbClr val="FF0000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673FF2A-58B6-9346-712D-248AD6DDDB8A}"/>
                </a:ext>
              </a:extLst>
            </p:cNvPr>
            <p:cNvSpPr txBox="1"/>
            <p:nvPr/>
          </p:nvSpPr>
          <p:spPr>
            <a:xfrm>
              <a:off x="16755969" y="6141336"/>
              <a:ext cx="2206243" cy="867745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  <a:sym typeface="Arial"/>
                </a:rPr>
                <a:t>SPEC 12445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  <a:sym typeface="Arial"/>
                </a:rPr>
                <a:t>RCCA 234, D3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  <a:sym typeface="Arial"/>
                </a:rPr>
                <a:t>(OPEN)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A9370F9-F53F-AF45-6082-C26EFA1368B8}"/>
              </a:ext>
            </a:extLst>
          </p:cNvPr>
          <p:cNvSpPr txBox="1"/>
          <p:nvPr/>
        </p:nvSpPr>
        <p:spPr>
          <a:xfrm>
            <a:off x="8421286" y="9837083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Spec: 12445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0A28B18F-43DD-B777-B48E-AC9B84273127}"/>
              </a:ext>
            </a:extLst>
          </p:cNvPr>
          <p:cNvSpPr txBox="1"/>
          <p:nvPr/>
        </p:nvSpPr>
        <p:spPr>
          <a:xfrm>
            <a:off x="2118134" y="3293783"/>
            <a:ext cx="1365232" cy="69532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97%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Escalate to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SSB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862D751-0C0D-6295-9166-AE687B3F563A}"/>
              </a:ext>
            </a:extLst>
          </p:cNvPr>
          <p:cNvSpPr txBox="1"/>
          <p:nvPr/>
        </p:nvSpPr>
        <p:spPr>
          <a:xfrm>
            <a:off x="12167850" y="2644342"/>
            <a:ext cx="2206243" cy="69532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THIS IS CANDIDATE FOR ANDON CORD</a:t>
            </a:r>
          </a:p>
        </p:txBody>
      </p:sp>
    </p:spTree>
    <p:extLst>
      <p:ext uri="{BB962C8B-B14F-4D97-AF65-F5344CB8AC3E}">
        <p14:creationId xmlns:p14="http://schemas.microsoft.com/office/powerpoint/2010/main" val="29223439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129EF-908C-D620-50E4-5524C4B0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0B2D1215-8D30-4498-0B21-45F67670A2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2443" y="1547812"/>
          <a:ext cx="16579215" cy="822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210453" imgH="4572000" progId="Excel.Sheet.12">
                  <p:link updateAutomatic="1"/>
                </p:oleObj>
              </mc:Choice>
              <mc:Fallback>
                <p:oleObj name="Worksheet" r:id="rId2" imgW="9210453" imgH="4572000" progId="Excel.Sheet.12">
                  <p:link updateAutomatic="1"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0B2D1215-8D30-4498-0B21-45F67670A2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62443" y="1547812"/>
                        <a:ext cx="16579215" cy="822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5">
            <a:extLst>
              <a:ext uri="{FF2B5EF4-FFF2-40B4-BE49-F238E27FC236}">
                <a16:creationId xmlns:a16="http://schemas.microsoft.com/office/drawing/2014/main" id="{F2C79927-9D48-006C-2DEA-F5C3D4022B36}"/>
              </a:ext>
            </a:extLst>
          </p:cNvPr>
          <p:cNvSpPr txBox="1"/>
          <p:nvPr/>
        </p:nvSpPr>
        <p:spPr>
          <a:xfrm>
            <a:off x="222250" y="598653"/>
            <a:ext cx="1965960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1005280" rtl="0" eaLnBrk="1" fontAlgn="auto" latinLnBrk="0" hangingPunct="1">
              <a:lnSpc>
                <a:spcPts val="49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SunPower Direct M2 Corporate QA Inspection, WW24-WW25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53EEE7-34D3-F06E-402F-556E1456EAE9}"/>
              </a:ext>
            </a:extLst>
          </p:cNvPr>
          <p:cNvSpPr/>
          <p:nvPr/>
        </p:nvSpPr>
        <p:spPr>
          <a:xfrm>
            <a:off x="16085812" y="1662980"/>
            <a:ext cx="18288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Spec 12445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AFD040-0A25-6122-DEB0-0A78D1209D74}"/>
              </a:ext>
            </a:extLst>
          </p:cNvPr>
          <p:cNvSpPr/>
          <p:nvPr/>
        </p:nvSpPr>
        <p:spPr>
          <a:xfrm>
            <a:off x="2526824" y="1662980"/>
            <a:ext cx="1371600" cy="5486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RCCA 234. D1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(OPEN)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88A592-8E1F-6693-E252-D9D78BD023C8}"/>
              </a:ext>
            </a:extLst>
          </p:cNvPr>
          <p:cNvSpPr txBox="1"/>
          <p:nvPr/>
        </p:nvSpPr>
        <p:spPr>
          <a:xfrm>
            <a:off x="1762443" y="9837083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Author: RJG/EVV, 6/22/2026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9EE032-6EE2-6267-7B8E-2B626B042EC1}"/>
              </a:ext>
            </a:extLst>
          </p:cNvPr>
          <p:cNvSpPr txBox="1"/>
          <p:nvPr/>
        </p:nvSpPr>
        <p:spPr>
          <a:xfrm>
            <a:off x="5634037" y="9837083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Owner: KMM/AEP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A2BD40-01F9-1BDC-07A0-3A9894C95736}"/>
              </a:ext>
            </a:extLst>
          </p:cNvPr>
          <p:cNvSpPr/>
          <p:nvPr/>
        </p:nvSpPr>
        <p:spPr>
          <a:xfrm>
            <a:off x="9261363" y="7547675"/>
            <a:ext cx="1554480" cy="762197"/>
          </a:xfrm>
          <a:prstGeom prst="rect">
            <a:avLst/>
          </a:prstGeom>
          <a:solidFill>
            <a:schemeClr val="lt1">
              <a:alpha val="7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Incorrect Shine Disclosure</a:t>
            </a:r>
            <a:b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</a:b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(FUNDING)</a:t>
            </a:r>
          </a:p>
        </p:txBody>
      </p:sp>
    </p:spTree>
    <p:extLst>
      <p:ext uri="{BB962C8B-B14F-4D97-AF65-F5344CB8AC3E}">
        <p14:creationId xmlns:p14="http://schemas.microsoft.com/office/powerpoint/2010/main" val="33376421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129EF-908C-D620-50E4-5524C4B0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1D57A88E-90D4-9E29-C063-D1F0B7EADF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1650" y="1547813"/>
          <a:ext cx="16560800" cy="821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220023" imgH="4572000" progId="Excel.Sheet.12">
                  <p:link updateAutomatic="1"/>
                </p:oleObj>
              </mc:Choice>
              <mc:Fallback>
                <p:oleObj name="Worksheet" r:id="rId2" imgW="9220023" imgH="4572000" progId="Excel.Sheet.12">
                  <p:link updateAutomatic="1"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1D57A88E-90D4-9E29-C063-D1F0B7EADF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71650" y="1547813"/>
                        <a:ext cx="16560800" cy="8212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5">
            <a:extLst>
              <a:ext uri="{FF2B5EF4-FFF2-40B4-BE49-F238E27FC236}">
                <a16:creationId xmlns:a16="http://schemas.microsoft.com/office/drawing/2014/main" id="{F2C79927-9D48-006C-2DEA-F5C3D4022B36}"/>
              </a:ext>
            </a:extLst>
          </p:cNvPr>
          <p:cNvSpPr txBox="1"/>
          <p:nvPr/>
        </p:nvSpPr>
        <p:spPr>
          <a:xfrm>
            <a:off x="1771650" y="598653"/>
            <a:ext cx="1656080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1005280" rtl="0" eaLnBrk="1" fontAlgn="auto" latinLnBrk="0" hangingPunct="1">
              <a:lnSpc>
                <a:spcPts val="49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SunPower Direct M2 Corporate QA Inspection, WW24-WW25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B76AD7-C6E0-41B3-9690-D2924BB9CE24}"/>
              </a:ext>
            </a:extLst>
          </p:cNvPr>
          <p:cNvSpPr txBox="1"/>
          <p:nvPr/>
        </p:nvSpPr>
        <p:spPr>
          <a:xfrm>
            <a:off x="1882720" y="9753098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Author: RJG/EVV, 6/22/2026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43007C-F1F8-BEDA-A151-6F2C598ECE62}"/>
              </a:ext>
            </a:extLst>
          </p:cNvPr>
          <p:cNvSpPr txBox="1"/>
          <p:nvPr/>
        </p:nvSpPr>
        <p:spPr>
          <a:xfrm>
            <a:off x="5754314" y="9753098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Owner: KMM/AEP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1C56C0-08B4-4F1F-D35B-9DF565F0578A}"/>
              </a:ext>
            </a:extLst>
          </p:cNvPr>
          <p:cNvSpPr/>
          <p:nvPr/>
        </p:nvSpPr>
        <p:spPr>
          <a:xfrm>
            <a:off x="16085812" y="1662980"/>
            <a:ext cx="18288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Spec 12445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83E9D7-E5E9-728A-BE4F-BA7D7078E7CE}"/>
              </a:ext>
            </a:extLst>
          </p:cNvPr>
          <p:cNvSpPr/>
          <p:nvPr/>
        </p:nvSpPr>
        <p:spPr>
          <a:xfrm>
            <a:off x="2526824" y="1662980"/>
            <a:ext cx="1371600" cy="5486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RCCA 234. D3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(OPEN)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E2953A-65E9-E005-414A-2FAEBDB3A356}"/>
              </a:ext>
            </a:extLst>
          </p:cNvPr>
          <p:cNvSpPr txBox="1"/>
          <p:nvPr/>
        </p:nvSpPr>
        <p:spPr>
          <a:xfrm>
            <a:off x="9625907" y="9753098"/>
            <a:ext cx="58878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TGH – Tyson Hunter, LTD – Leo Miguel De Perio</a:t>
            </a:r>
          </a:p>
        </p:txBody>
      </p:sp>
    </p:spTree>
    <p:extLst>
      <p:ext uri="{BB962C8B-B14F-4D97-AF65-F5344CB8AC3E}">
        <p14:creationId xmlns:p14="http://schemas.microsoft.com/office/powerpoint/2010/main" val="30679234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129EF-908C-D620-50E4-5524C4B0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9D6C46A3-1897-EF69-C45E-5CE9E3AE10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9588" y="1555750"/>
          <a:ext cx="16544925" cy="821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210453" imgH="4572000" progId="Excel.Sheet.12">
                  <p:link updateAutomatic="1"/>
                </p:oleObj>
              </mc:Choice>
              <mc:Fallback>
                <p:oleObj name="Worksheet" r:id="rId2" imgW="9210453" imgH="4572000" progId="Excel.Sheet.12">
                  <p:link updateAutomatic="1"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9D6C46A3-1897-EF69-C45E-5CE9E3AE10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79588" y="1555750"/>
                        <a:ext cx="16544925" cy="8212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5">
            <a:extLst>
              <a:ext uri="{FF2B5EF4-FFF2-40B4-BE49-F238E27FC236}">
                <a16:creationId xmlns:a16="http://schemas.microsoft.com/office/drawing/2014/main" id="{F2C79927-9D48-006C-2DEA-F5C3D4022B36}"/>
              </a:ext>
            </a:extLst>
          </p:cNvPr>
          <p:cNvSpPr txBox="1"/>
          <p:nvPr/>
        </p:nvSpPr>
        <p:spPr>
          <a:xfrm>
            <a:off x="1778250" y="598653"/>
            <a:ext cx="16544925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1005280" rtl="0" eaLnBrk="1" fontAlgn="auto" latinLnBrk="0" hangingPunct="1">
              <a:lnSpc>
                <a:spcPts val="49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SunPower Direct M2 Corporate QA Inspection, WW19-WW25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B76AD7-C6E0-41B3-9690-D2924BB9CE24}"/>
              </a:ext>
            </a:extLst>
          </p:cNvPr>
          <p:cNvSpPr txBox="1"/>
          <p:nvPr/>
        </p:nvSpPr>
        <p:spPr>
          <a:xfrm>
            <a:off x="1778251" y="9791362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Author: RJG/EVV, 6/22/2026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43007C-F1F8-BEDA-A151-6F2C598ECE62}"/>
              </a:ext>
            </a:extLst>
          </p:cNvPr>
          <p:cNvSpPr txBox="1"/>
          <p:nvPr/>
        </p:nvSpPr>
        <p:spPr>
          <a:xfrm>
            <a:off x="5649845" y="9791362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Owner: KMM/AEP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53EEE7-34D3-F06E-402F-556E1456EAE9}"/>
              </a:ext>
            </a:extLst>
          </p:cNvPr>
          <p:cNvSpPr/>
          <p:nvPr/>
        </p:nvSpPr>
        <p:spPr>
          <a:xfrm>
            <a:off x="16085812" y="1662980"/>
            <a:ext cx="18288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Spec 12445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AFD040-0A25-6122-DEB0-0A78D1209D74}"/>
              </a:ext>
            </a:extLst>
          </p:cNvPr>
          <p:cNvSpPr/>
          <p:nvPr/>
        </p:nvSpPr>
        <p:spPr>
          <a:xfrm>
            <a:off x="2526824" y="1662980"/>
            <a:ext cx="1371600" cy="5486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RCCA 234. D3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(OPEN)</a:t>
            </a:r>
          </a:p>
        </p:txBody>
      </p:sp>
      <p:sp>
        <p:nvSpPr>
          <p:cNvPr id="9" name="Callout: Line 8">
            <a:extLst>
              <a:ext uri="{FF2B5EF4-FFF2-40B4-BE49-F238E27FC236}">
                <a16:creationId xmlns:a16="http://schemas.microsoft.com/office/drawing/2014/main" id="{CA27926D-CF7C-684D-96B1-C4BFDC26F028}"/>
              </a:ext>
            </a:extLst>
          </p:cNvPr>
          <p:cNvSpPr/>
          <p:nvPr/>
        </p:nvSpPr>
        <p:spPr>
          <a:xfrm>
            <a:off x="7854392" y="4932793"/>
            <a:ext cx="2197657" cy="1063652"/>
          </a:xfrm>
          <a:prstGeom prst="borderCallout1">
            <a:avLst>
              <a:gd name="adj1" fmla="val 100347"/>
              <a:gd name="adj2" fmla="val -357"/>
              <a:gd name="adj3" fmla="val 160583"/>
              <a:gd name="adj4" fmla="val -446"/>
            </a:avLst>
          </a:prstGeom>
          <a:solidFill>
            <a:schemeClr val="lt1">
              <a:alpha val="7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2 – Request new Shine Disclosure (FUNDING)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2 – Incorrect Shine Disclosure (FUNDING)</a:t>
            </a:r>
          </a:p>
        </p:txBody>
      </p:sp>
    </p:spTree>
    <p:extLst>
      <p:ext uri="{BB962C8B-B14F-4D97-AF65-F5344CB8AC3E}">
        <p14:creationId xmlns:p14="http://schemas.microsoft.com/office/powerpoint/2010/main" val="26457540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129EF-908C-D620-50E4-5524C4B0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1D57A88E-90D4-9E29-C063-D1F0B7EADF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1650" y="1547813"/>
          <a:ext cx="16560800" cy="821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220023" imgH="4572000" progId="Excel.Sheet.12">
                  <p:link updateAutomatic="1"/>
                </p:oleObj>
              </mc:Choice>
              <mc:Fallback>
                <p:oleObj name="Worksheet" r:id="rId2" imgW="9220023" imgH="4572000" progId="Excel.Sheet.12">
                  <p:link updateAutomatic="1"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1D57A88E-90D4-9E29-C063-D1F0B7EADF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71650" y="1547813"/>
                        <a:ext cx="16560800" cy="8212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5">
            <a:extLst>
              <a:ext uri="{FF2B5EF4-FFF2-40B4-BE49-F238E27FC236}">
                <a16:creationId xmlns:a16="http://schemas.microsoft.com/office/drawing/2014/main" id="{F2C79927-9D48-006C-2DEA-F5C3D4022B36}"/>
              </a:ext>
            </a:extLst>
          </p:cNvPr>
          <p:cNvSpPr txBox="1"/>
          <p:nvPr/>
        </p:nvSpPr>
        <p:spPr>
          <a:xfrm>
            <a:off x="1771650" y="598653"/>
            <a:ext cx="1656080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1005280" rtl="0" eaLnBrk="1" fontAlgn="auto" latinLnBrk="0" hangingPunct="1">
              <a:lnSpc>
                <a:spcPts val="49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SunPower Direct M2 Corporate QA Inspection, WW19-WW25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B76AD7-C6E0-41B3-9690-D2924BB9CE24}"/>
              </a:ext>
            </a:extLst>
          </p:cNvPr>
          <p:cNvSpPr txBox="1"/>
          <p:nvPr/>
        </p:nvSpPr>
        <p:spPr>
          <a:xfrm>
            <a:off x="1882720" y="9753098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Author: RJG/EVV, 6/22/2026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43007C-F1F8-BEDA-A151-6F2C598ECE62}"/>
              </a:ext>
            </a:extLst>
          </p:cNvPr>
          <p:cNvSpPr txBox="1"/>
          <p:nvPr/>
        </p:nvSpPr>
        <p:spPr>
          <a:xfrm>
            <a:off x="5754314" y="9753098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Owner: KMM/AEP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1C56C0-08B4-4F1F-D35B-9DF565F0578A}"/>
              </a:ext>
            </a:extLst>
          </p:cNvPr>
          <p:cNvSpPr/>
          <p:nvPr/>
        </p:nvSpPr>
        <p:spPr>
          <a:xfrm>
            <a:off x="16085812" y="1662980"/>
            <a:ext cx="18288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Spec 12445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83E9D7-E5E9-728A-BE4F-BA7D7078E7CE}"/>
              </a:ext>
            </a:extLst>
          </p:cNvPr>
          <p:cNvSpPr/>
          <p:nvPr/>
        </p:nvSpPr>
        <p:spPr>
          <a:xfrm>
            <a:off x="2526824" y="1662980"/>
            <a:ext cx="1371600" cy="5486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RCCA 234. D3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(OPEN)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E2953A-65E9-E005-414A-2FAEBDB3A356}"/>
              </a:ext>
            </a:extLst>
          </p:cNvPr>
          <p:cNvSpPr txBox="1"/>
          <p:nvPr/>
        </p:nvSpPr>
        <p:spPr>
          <a:xfrm>
            <a:off x="9625907" y="9753098"/>
            <a:ext cx="58878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TGH – Tyson Hunter, LTD – Leo Miguel De Perio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JDH – James Hampton, PXB – Pallavi Bhasker</a:t>
            </a:r>
          </a:p>
        </p:txBody>
      </p:sp>
    </p:spTree>
    <p:extLst>
      <p:ext uri="{BB962C8B-B14F-4D97-AF65-F5344CB8AC3E}">
        <p14:creationId xmlns:p14="http://schemas.microsoft.com/office/powerpoint/2010/main" val="36138986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CAE74-E204-8FFF-CD38-2B856BE2A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4D2467F-4497-5FC3-C78E-1217218598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3976" y="1540170"/>
            <a:ext cx="16436162" cy="8229023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5952C5A-132F-B733-835D-16EFF9FD0FAA}"/>
              </a:ext>
            </a:extLst>
          </p:cNvPr>
          <p:cNvSpPr/>
          <p:nvPr/>
        </p:nvSpPr>
        <p:spPr>
          <a:xfrm>
            <a:off x="1833970" y="9769190"/>
            <a:ext cx="3367803" cy="4285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507635">
              <a:buClr>
                <a:srgbClr val="000000"/>
              </a:buClr>
              <a:defRPr/>
            </a:pPr>
            <a:r>
              <a:rPr lang="en-US" sz="1600" kern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  <a:sym typeface="Arial"/>
              </a:rPr>
              <a:t>Author: EVV, 6/16/2026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59695686-DD0A-E3E4-4917-FAA848BA98FD}"/>
              </a:ext>
            </a:extLst>
          </p:cNvPr>
          <p:cNvSpPr txBox="1"/>
          <p:nvPr/>
        </p:nvSpPr>
        <p:spPr>
          <a:xfrm>
            <a:off x="1833974" y="688209"/>
            <a:ext cx="16436162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1005188">
              <a:lnSpc>
                <a:spcPts val="4926"/>
              </a:lnSpc>
              <a:buClr>
                <a:srgbClr val="000000"/>
              </a:buClr>
              <a:defRPr/>
            </a:pPr>
            <a:r>
              <a:rPr lang="en-US" sz="4400" b="1" kern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S5: SPWR Direct Permit Pack Complete QA FPY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79B0C4-8231-43DC-1EBD-D84D7AC15EBE}"/>
              </a:ext>
            </a:extLst>
          </p:cNvPr>
          <p:cNvSpPr/>
          <p:nvPr/>
        </p:nvSpPr>
        <p:spPr>
          <a:xfrm>
            <a:off x="5201775" y="9769190"/>
            <a:ext cx="7985455" cy="4285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507635">
              <a:buClr>
                <a:srgbClr val="000000"/>
              </a:buClr>
              <a:defRPr/>
            </a:pPr>
            <a:r>
              <a:rPr lang="en-US" sz="1600" kern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  <a:sym typeface="Arial"/>
              </a:rPr>
              <a:t>Owner: SGS/BCB	QA: DJF</a:t>
            </a:r>
          </a:p>
        </p:txBody>
      </p:sp>
      <p:sp>
        <p:nvSpPr>
          <p:cNvPr id="9" name="TextBox 13">
            <a:extLst>
              <a:ext uri="{FF2B5EF4-FFF2-40B4-BE49-F238E27FC236}">
                <a16:creationId xmlns:a16="http://schemas.microsoft.com/office/drawing/2014/main" id="{F70A6A98-2BD9-DCDC-3EFF-5551397DC490}"/>
              </a:ext>
            </a:extLst>
          </p:cNvPr>
          <p:cNvSpPr txBox="1"/>
          <p:nvPr/>
        </p:nvSpPr>
        <p:spPr>
          <a:xfrm>
            <a:off x="2563411" y="3402439"/>
            <a:ext cx="1255916" cy="592992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914314">
              <a:buClr>
                <a:srgbClr val="000000"/>
              </a:buClr>
            </a:pPr>
            <a:r>
              <a:rPr lang="en-US" sz="1600" b="1" kern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sym typeface="Arial"/>
              </a:rPr>
              <a:t>97%</a:t>
            </a:r>
          </a:p>
          <a:p>
            <a:pPr algn="r" defTabSz="914314">
              <a:buClr>
                <a:srgbClr val="000000"/>
              </a:buClr>
            </a:pPr>
            <a:r>
              <a:rPr lang="en-US" sz="1600" b="1" kern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sym typeface="Arial"/>
              </a:rPr>
              <a:t>Escalation</a:t>
            </a:r>
          </a:p>
          <a:p>
            <a:pPr algn="r" defTabSz="914314">
              <a:buClr>
                <a:srgbClr val="000000"/>
              </a:buClr>
            </a:pPr>
            <a:r>
              <a:rPr lang="en-US" sz="1600" b="1" kern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sym typeface="Arial"/>
              </a:rPr>
              <a:t>to SSB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D7440E-EE90-D9D2-FB51-4ADF00D4F82E}"/>
              </a:ext>
            </a:extLst>
          </p:cNvPr>
          <p:cNvSpPr/>
          <p:nvPr/>
        </p:nvSpPr>
        <p:spPr>
          <a:xfrm>
            <a:off x="4755695" y="4522998"/>
            <a:ext cx="10592710" cy="2762107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157" indent="-457157" defTabSz="1507635">
              <a:buClr>
                <a:srgbClr val="000000"/>
              </a:buClr>
              <a:buFont typeface="Arial"/>
              <a:buAutoNum type="arabicPeriod"/>
              <a:defRPr/>
            </a:pPr>
            <a:r>
              <a:rPr lang="en-US" sz="2399" b="1" kern="0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  <a:sym typeface="Arial"/>
              </a:rPr>
              <a:t>RE-INTORDUCE PERMIT PACK QA</a:t>
            </a:r>
          </a:p>
          <a:p>
            <a:pPr marL="457157" indent="-457157" defTabSz="1507635">
              <a:buClr>
                <a:srgbClr val="000000"/>
              </a:buClr>
              <a:buFont typeface="Arial"/>
              <a:buAutoNum type="arabicPeriod"/>
              <a:defRPr/>
            </a:pPr>
            <a:r>
              <a:rPr lang="en-US" sz="2399" b="1" kern="0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  <a:sym typeface="Arial"/>
              </a:rPr>
              <a:t>REVISE PERMIT PACK QA TO REFLECT THE CORRECT PROCESS</a:t>
            </a:r>
          </a:p>
          <a:p>
            <a:pPr marL="457157" indent="-457157" defTabSz="1507635">
              <a:buClr>
                <a:srgbClr val="000000"/>
              </a:buClr>
              <a:buFont typeface="Arial"/>
              <a:buAutoNum type="arabicPeriod"/>
              <a:defRPr/>
            </a:pPr>
            <a:r>
              <a:rPr lang="en-US" sz="2399" b="1" kern="0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  <a:sym typeface="Arial"/>
              </a:rPr>
              <a:t>TRAIN AND DEPLOY PERMIT PACK QA TO DESIGN TEAM</a:t>
            </a:r>
          </a:p>
          <a:p>
            <a:pPr marL="457157" indent="-457157" defTabSz="1507635">
              <a:buClr>
                <a:srgbClr val="000000"/>
              </a:buClr>
              <a:buFont typeface="Arial"/>
              <a:buAutoNum type="arabicPeriod"/>
              <a:defRPr/>
            </a:pPr>
            <a:r>
              <a:rPr lang="en-US" sz="2399" b="1" kern="0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  <a:sym typeface="Arial"/>
              </a:rPr>
              <a:t>QUALITY AUDITS AGAINST THE SPEC</a:t>
            </a:r>
          </a:p>
          <a:p>
            <a:pPr marL="457157" indent="-457157" defTabSz="1507635">
              <a:buClr>
                <a:srgbClr val="000000"/>
              </a:buClr>
              <a:buFont typeface="Arial"/>
              <a:buAutoNum type="arabicPeriod"/>
              <a:defRPr/>
            </a:pPr>
            <a:r>
              <a:rPr lang="en-US" sz="2399" b="1" kern="0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  <a:sym typeface="Arial"/>
              </a:rPr>
              <a:t>REVIVE THE FPY OF ENPHASE DESIGN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D44FAC-4B3A-D07F-3AC6-3BB5CCBF55C2}"/>
              </a:ext>
            </a:extLst>
          </p:cNvPr>
          <p:cNvSpPr txBox="1"/>
          <p:nvPr/>
        </p:nvSpPr>
        <p:spPr>
          <a:xfrm>
            <a:off x="11434496" y="9769191"/>
            <a:ext cx="68251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14">
              <a:buClr>
                <a:srgbClr val="000000"/>
              </a:buClr>
            </a:pPr>
            <a:r>
              <a:rPr lang="en-US" sz="1600" kern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Specs L2: 12777	Specs L4: 12385</a:t>
            </a:r>
          </a:p>
        </p:txBody>
      </p:sp>
    </p:spTree>
    <p:extLst>
      <p:ext uri="{BB962C8B-B14F-4D97-AF65-F5344CB8AC3E}">
        <p14:creationId xmlns:p14="http://schemas.microsoft.com/office/powerpoint/2010/main" val="10946868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129EF-908C-D620-50E4-5524C4B0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740B40E-F92B-A8B6-AE2E-CB54ADA7DC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976" y="1540170"/>
            <a:ext cx="16436162" cy="822902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F53EEE7-34D3-F06E-402F-556E1456EAE9}"/>
              </a:ext>
            </a:extLst>
          </p:cNvPr>
          <p:cNvSpPr/>
          <p:nvPr/>
        </p:nvSpPr>
        <p:spPr>
          <a:xfrm>
            <a:off x="15962838" y="1937562"/>
            <a:ext cx="1828672" cy="4571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defTabSz="1507635">
              <a:buClr>
                <a:srgbClr val="000000"/>
              </a:buClr>
              <a:defRPr/>
            </a:pPr>
            <a:r>
              <a:rPr lang="en-US" sz="2000" b="1" kern="0">
                <a:solidFill>
                  <a:srgbClr val="000000"/>
                </a:solidFill>
                <a:latin typeface="Roboto"/>
                <a:ea typeface="Roboto"/>
                <a:cs typeface="Roboto"/>
                <a:sym typeface="Arial"/>
              </a:rPr>
              <a:t>Spec 12385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EB555A-8A4E-8509-F517-DCE27C786851}"/>
              </a:ext>
            </a:extLst>
          </p:cNvPr>
          <p:cNvSpPr txBox="1"/>
          <p:nvPr/>
        </p:nvSpPr>
        <p:spPr>
          <a:xfrm>
            <a:off x="1833970" y="9769191"/>
            <a:ext cx="96005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14">
              <a:buClr>
                <a:srgbClr val="000000"/>
              </a:buClr>
            </a:pPr>
            <a:r>
              <a:rPr lang="en-US" sz="1600" kern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Author: EVV, 6/16/2026		Owner: SGS/BCB 		QA: DJF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0C8E21-1435-5468-BC66-9DB4377AF648}"/>
              </a:ext>
            </a:extLst>
          </p:cNvPr>
          <p:cNvSpPr txBox="1"/>
          <p:nvPr/>
        </p:nvSpPr>
        <p:spPr>
          <a:xfrm>
            <a:off x="11434496" y="9769191"/>
            <a:ext cx="68251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14">
              <a:buClr>
                <a:srgbClr val="000000"/>
              </a:buClr>
            </a:pPr>
            <a:r>
              <a:rPr lang="en-US" sz="1600" kern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Specs L2: 12777	Specs L4: 12385</a:t>
            </a: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A6A87D23-3EA0-C95A-B70C-E9346C6B7219}"/>
              </a:ext>
            </a:extLst>
          </p:cNvPr>
          <p:cNvSpPr txBox="1"/>
          <p:nvPr/>
        </p:nvSpPr>
        <p:spPr>
          <a:xfrm>
            <a:off x="1833974" y="688209"/>
            <a:ext cx="16436162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1005188">
              <a:lnSpc>
                <a:spcPts val="4926"/>
              </a:lnSpc>
              <a:buClr>
                <a:srgbClr val="000000"/>
              </a:buClr>
              <a:defRPr/>
            </a:pPr>
            <a:r>
              <a:rPr lang="en-US" sz="4400" b="1" kern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S5: SPWR Direct Permit Pack QA Pareto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BB6FBEA-0F42-216D-E681-B36D760EE0D4}"/>
              </a:ext>
            </a:extLst>
          </p:cNvPr>
          <p:cNvSpPr/>
          <p:nvPr/>
        </p:nvSpPr>
        <p:spPr>
          <a:xfrm>
            <a:off x="4830072" y="4273623"/>
            <a:ext cx="10443969" cy="2762107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157" indent="-457157" defTabSz="1507635">
              <a:buClr>
                <a:srgbClr val="000000"/>
              </a:buClr>
              <a:buFont typeface="Arial"/>
              <a:buAutoNum type="arabicPeriod"/>
              <a:defRPr/>
            </a:pPr>
            <a:r>
              <a:rPr lang="en-US" sz="2399" b="1" kern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  <a:sym typeface="Arial"/>
              </a:rPr>
              <a:t>START WITH DESIGN DEFECTS FOR Q2 FROM FUNDING (M1 &amp; M2)</a:t>
            </a:r>
          </a:p>
          <a:p>
            <a:pPr marL="457157" indent="-457157" defTabSz="1507635">
              <a:buClr>
                <a:srgbClr val="000000"/>
              </a:buClr>
              <a:buFont typeface="Arial"/>
              <a:buAutoNum type="arabicPeriod"/>
              <a:defRPr/>
            </a:pPr>
            <a:r>
              <a:rPr lang="en-US" sz="2399" b="1" kern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  <a:sym typeface="Arial"/>
              </a:rPr>
              <a:t>PULL DATA FROM SALESFORCE BASED ON LAYOUT AND UPGRADE REVIEW</a:t>
            </a:r>
          </a:p>
          <a:p>
            <a:pPr defTabSz="1507635">
              <a:buClr>
                <a:srgbClr val="000000"/>
              </a:buClr>
              <a:defRPr/>
            </a:pPr>
            <a:endParaRPr lang="en-US" sz="2399" b="1" kern="0">
              <a:solidFill>
                <a:srgbClr val="3A3838"/>
              </a:solidFill>
              <a:latin typeface="Roboto" panose="02000000000000000000" pitchFamily="2" charset="0"/>
              <a:ea typeface="Roboto" panose="02000000000000000000" pitchFamily="2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868075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4C02B-61C6-9680-893D-456B044F6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98F5B-D642-2699-41F5-767781475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605" y="399"/>
            <a:ext cx="18864812" cy="1232187"/>
          </a:xfrm>
        </p:spPr>
        <p:txBody>
          <a:bodyPr>
            <a:noAutofit/>
          </a:bodyPr>
          <a:lstStyle/>
          <a:p>
            <a:pPr algn="l"/>
            <a:r>
              <a:rPr lang="en-US" sz="4617" b="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NEW HOMES PROCESSES: TARGET TO FPY=100%</a:t>
            </a:r>
            <a:endParaRPr lang="en-US" sz="4617" dirty="0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0B378DA-F4DA-F3BB-9B7C-74D1B95B6F05}"/>
              </a:ext>
            </a:extLst>
          </p:cNvPr>
          <p:cNvGraphicFramePr>
            <a:graphicFrameLocks noGrp="1"/>
          </p:cNvGraphicFramePr>
          <p:nvPr>
            <p:ph sz="quarter" idx="12"/>
          </p:nvPr>
        </p:nvGraphicFramePr>
        <p:xfrm>
          <a:off x="515609" y="949059"/>
          <a:ext cx="19072888" cy="9411231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890863">
                  <a:extLst>
                    <a:ext uri="{9D8B030D-6E8A-4147-A177-3AD203B41FA5}">
                      <a16:colId xmlns:a16="http://schemas.microsoft.com/office/drawing/2014/main" val="3842544468"/>
                    </a:ext>
                  </a:extLst>
                </a:gridCol>
                <a:gridCol w="971698">
                  <a:extLst>
                    <a:ext uri="{9D8B030D-6E8A-4147-A177-3AD203B41FA5}">
                      <a16:colId xmlns:a16="http://schemas.microsoft.com/office/drawing/2014/main" val="1410292681"/>
                    </a:ext>
                  </a:extLst>
                </a:gridCol>
                <a:gridCol w="1980846">
                  <a:extLst>
                    <a:ext uri="{9D8B030D-6E8A-4147-A177-3AD203B41FA5}">
                      <a16:colId xmlns:a16="http://schemas.microsoft.com/office/drawing/2014/main" val="787894804"/>
                    </a:ext>
                  </a:extLst>
                </a:gridCol>
                <a:gridCol w="3319935">
                  <a:extLst>
                    <a:ext uri="{9D8B030D-6E8A-4147-A177-3AD203B41FA5}">
                      <a16:colId xmlns:a16="http://schemas.microsoft.com/office/drawing/2014/main" val="4106445735"/>
                    </a:ext>
                  </a:extLst>
                </a:gridCol>
                <a:gridCol w="768982">
                  <a:extLst>
                    <a:ext uri="{9D8B030D-6E8A-4147-A177-3AD203B41FA5}">
                      <a16:colId xmlns:a16="http://schemas.microsoft.com/office/drawing/2014/main" val="3567871352"/>
                    </a:ext>
                  </a:extLst>
                </a:gridCol>
                <a:gridCol w="5277326">
                  <a:extLst>
                    <a:ext uri="{9D8B030D-6E8A-4147-A177-3AD203B41FA5}">
                      <a16:colId xmlns:a16="http://schemas.microsoft.com/office/drawing/2014/main" val="1161482405"/>
                    </a:ext>
                  </a:extLst>
                </a:gridCol>
                <a:gridCol w="1200509">
                  <a:extLst>
                    <a:ext uri="{9D8B030D-6E8A-4147-A177-3AD203B41FA5}">
                      <a16:colId xmlns:a16="http://schemas.microsoft.com/office/drawing/2014/main" val="2415657813"/>
                    </a:ext>
                  </a:extLst>
                </a:gridCol>
                <a:gridCol w="1200509">
                  <a:extLst>
                    <a:ext uri="{9D8B030D-6E8A-4147-A177-3AD203B41FA5}">
                      <a16:colId xmlns:a16="http://schemas.microsoft.com/office/drawing/2014/main" val="1933493864"/>
                    </a:ext>
                  </a:extLst>
                </a:gridCol>
                <a:gridCol w="1200509">
                  <a:extLst>
                    <a:ext uri="{9D8B030D-6E8A-4147-A177-3AD203B41FA5}">
                      <a16:colId xmlns:a16="http://schemas.microsoft.com/office/drawing/2014/main" val="3413017769"/>
                    </a:ext>
                  </a:extLst>
                </a:gridCol>
                <a:gridCol w="2261711">
                  <a:extLst>
                    <a:ext uri="{9D8B030D-6E8A-4147-A177-3AD203B41FA5}">
                      <a16:colId xmlns:a16="http://schemas.microsoft.com/office/drawing/2014/main" val="2520571553"/>
                    </a:ext>
                  </a:extLst>
                </a:gridCol>
              </a:tblGrid>
              <a:tr h="70364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 Level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Stage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Process Owner/Quality</a:t>
                      </a:r>
                      <a:endParaRPr lang="en-US" sz="1800" b="1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Milestone1</a:t>
                      </a:r>
                      <a:endParaRPr lang="en-US" sz="1800" b="1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1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Milestone2</a:t>
                      </a:r>
                      <a:endParaRPr lang="en-US" sz="1800" b="1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Level 2</a:t>
                      </a:r>
                      <a:endParaRPr lang="en-US" sz="1800" b="1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Level 3</a:t>
                      </a:r>
                      <a:endParaRPr lang="en-US" sz="1800" b="1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RCCA</a:t>
                      </a:r>
                      <a:endParaRPr lang="en-US" sz="1800" b="1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LATEST FPY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038433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C1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SFA/RJG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Community Lead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Community Bid Request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12321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10508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145, D6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412855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C2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SFA/RJG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Community Bid Request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Community Bid Review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12321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12507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649009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C3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SFA/RJG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Community Bid Review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Community Award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12321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12507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639556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C4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MTO/TGM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Community Award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Final Design Approved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11227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11463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100%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8355924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C5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MQT/TGM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Final Design Approved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Production Trench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13051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12507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6553007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L6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RIH/TGM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Production Trench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Lot Design Requested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13044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10549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154, D8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5976764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L7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MTO/TGM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Lot Design Requested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Lot Design Completed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11229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11466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154, D8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100% (WW21)</a:t>
                      </a:r>
                      <a:endParaRPr kumimoji="0" 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6091776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L8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JMN/ZJW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Lot Design Completed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Lot Permit Approved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11287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10506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150, D6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0015413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L9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RIH/ZJW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Lot Permit Approved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Rough Wire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13044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10791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6033860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L10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RIH/TGM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Rough Wire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Install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13044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10790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1828324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L11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ROS/TGM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Installation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ctr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Job Close Out (JCO)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12752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10790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161, D6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100%</a:t>
                      </a:r>
                      <a:r>
                        <a:rPr kumimoji="0" lang="en-US" sz="1600" b="1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kumimoji="0" lang="en-US" sz="16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(QC)</a:t>
                      </a:r>
                      <a:endParaRPr kumimoji="0" lang="en-US" sz="16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0289524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L12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RIH/ZJW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Job Close Out (JCO)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Final Permit Approved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13044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12327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4328094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L13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LKR/EZD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Final Permit Approved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ctr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Permission To Operate (PTO)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12281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10853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148, D6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100%</a:t>
                      </a:r>
                      <a:r>
                        <a:rPr lang="en-US" sz="1600" b="1" u="none" strike="noStrike" baseline="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(CQA)</a:t>
                      </a:r>
                      <a:endParaRPr lang="en-US" sz="1600" b="1" i="0" u="none" strike="noStrike" baseline="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3547765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L14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KAM/EZD/TGM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Permission To Operate (PTO)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Activation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13058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12152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1808336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C15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RIH/EZD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Model Trench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Community Install Complete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(Parallel)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13044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11971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0372352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L16P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LMR/RJG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Opportunity appt. confirmed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HO Contract Signed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(Parallel)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13037</a:t>
                      </a:r>
                      <a:endParaRPr lang="en-US" sz="16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10782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5053070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L17P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PPV/RJG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HO Contract Signed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Escrow date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(Parallel)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13066</a:t>
                      </a:r>
                      <a:endParaRPr lang="en-US" sz="16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10670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1059602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L18P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PPV/RJG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Job Close Out (JCO)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Escrow date </a:t>
                      </a: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(Parallel)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13066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10670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148, D6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4290973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L19P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LMR/RJG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Escrow date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TPO Contract Signed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(Parallel)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13037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12477</a:t>
                      </a:r>
                      <a:r>
                        <a:rPr kumimoji="0" lang="en-US" sz="13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9978780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L20P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AEP/RJG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TPO Contract Signed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M1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-Installation (Financier Approval)</a:t>
                      </a: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(Parallel)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12752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10724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228, D4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100% (CQA)</a:t>
                      </a:r>
                      <a:endParaRPr kumimoji="0" 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0243060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L21P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AEP/RJG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M2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-Activation (Financier Approval)</a:t>
                      </a: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(Parallel)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12752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10808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224, D6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100% (CQA)</a:t>
                      </a:r>
                      <a:endParaRPr kumimoji="0" lang="en-US" sz="16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2313663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CBB65BCE-EEC3-9CF0-6FCF-C1FFB3CE036D}"/>
              </a:ext>
            </a:extLst>
          </p:cNvPr>
          <p:cNvSpPr/>
          <p:nvPr/>
        </p:nvSpPr>
        <p:spPr>
          <a:xfrm>
            <a:off x="515606" y="10328853"/>
            <a:ext cx="3569963" cy="378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2486207">
              <a:defRPr/>
            </a:pPr>
            <a:r>
              <a:rPr lang="en-US" sz="1649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Author: JYH/EVV/ERF, 5/30/2026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D93FE1-B8DB-06AB-9128-E942A4A8016C}"/>
              </a:ext>
            </a:extLst>
          </p:cNvPr>
          <p:cNvSpPr/>
          <p:nvPr/>
        </p:nvSpPr>
        <p:spPr>
          <a:xfrm>
            <a:off x="4085565" y="10328853"/>
            <a:ext cx="2261711" cy="378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2486207">
              <a:defRPr/>
            </a:pPr>
            <a:r>
              <a:rPr lang="en-US" sz="1649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Owner: ERF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DF0E41-B22B-A5BA-1A93-0E20BD818E02}"/>
              </a:ext>
            </a:extLst>
          </p:cNvPr>
          <p:cNvSpPr/>
          <p:nvPr/>
        </p:nvSpPr>
        <p:spPr>
          <a:xfrm>
            <a:off x="6347276" y="10328853"/>
            <a:ext cx="2261711" cy="378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2486207">
              <a:defRPr/>
            </a:pPr>
            <a:r>
              <a:rPr lang="en-US" sz="1649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Spec: 10009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B5E716-067C-29C7-2D3B-45D298E9269F}"/>
              </a:ext>
            </a:extLst>
          </p:cNvPr>
          <p:cNvSpPr/>
          <p:nvPr/>
        </p:nvSpPr>
        <p:spPr>
          <a:xfrm>
            <a:off x="13688426" y="10902127"/>
            <a:ext cx="4987843" cy="641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ctr"/>
          <a:lstStyle/>
          <a:p>
            <a:pPr defTabSz="2486207">
              <a:defRPr/>
            </a:pPr>
            <a:r>
              <a:rPr lang="en-US" sz="1319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 – PREVIOUS WEEK</a:t>
            </a:r>
          </a:p>
          <a:p>
            <a:pPr defTabSz="2486207">
              <a:defRPr/>
            </a:pPr>
            <a:r>
              <a:rPr lang="en-US" sz="1319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2 – MONTHLY CADENCE</a:t>
            </a:r>
          </a:p>
          <a:p>
            <a:pPr defTabSz="2486207">
              <a:defRPr/>
            </a:pPr>
            <a:r>
              <a:rPr lang="en-US" sz="1319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3 – ALBATROSS DATA ONLY</a:t>
            </a:r>
          </a:p>
          <a:p>
            <a:pPr defTabSz="2486207">
              <a:defRPr/>
            </a:pPr>
            <a:r>
              <a:rPr lang="en-US" sz="1319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4 – PENDING SIGNOFF</a:t>
            </a:r>
          </a:p>
          <a:p>
            <a:pPr defTabSz="2486207">
              <a:defRPr/>
            </a:pPr>
            <a:r>
              <a:rPr lang="en-US" sz="1319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5 – SPEC FOR UPDATE</a:t>
            </a:r>
          </a:p>
          <a:p>
            <a:pPr defTabSz="2486207">
              <a:defRPr/>
            </a:pPr>
            <a:endParaRPr lang="en-US" sz="1319" dirty="0">
              <a:solidFill>
                <a:srgbClr val="3A3838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947831-E3C2-FB73-EFDC-B83BC63EA593}"/>
              </a:ext>
            </a:extLst>
          </p:cNvPr>
          <p:cNvSpPr/>
          <p:nvPr/>
        </p:nvSpPr>
        <p:spPr>
          <a:xfrm>
            <a:off x="16732828" y="10328854"/>
            <a:ext cx="2855668" cy="3540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defTabSz="2486207">
              <a:defRPr/>
            </a:pPr>
            <a:r>
              <a:rPr lang="en-US" sz="1319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* Salesforce Data gathering</a:t>
            </a:r>
            <a:endParaRPr lang="en-US" sz="1319">
              <a:solidFill>
                <a:srgbClr val="3A3838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185045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SunPower_v3">
  <a:themeElements>
    <a:clrScheme name="SunPower">
      <a:dk1>
        <a:srgbClr val="000000"/>
      </a:dk1>
      <a:lt1>
        <a:srgbClr val="FFFFFF"/>
      </a:lt1>
      <a:dk2>
        <a:srgbClr val="162241"/>
      </a:dk2>
      <a:lt2>
        <a:srgbClr val="E8E8E8"/>
      </a:lt2>
      <a:accent1>
        <a:srgbClr val="162241"/>
      </a:accent1>
      <a:accent2>
        <a:srgbClr val="0056B8"/>
      </a:accent2>
      <a:accent3>
        <a:srgbClr val="FAD646"/>
      </a:accent3>
      <a:accent4>
        <a:srgbClr val="000000"/>
      </a:accent4>
      <a:accent5>
        <a:srgbClr val="FFFFFF"/>
      </a:accent5>
      <a:accent6>
        <a:srgbClr val="404040"/>
      </a:accent6>
      <a:hlink>
        <a:srgbClr val="839FFE"/>
      </a:hlink>
      <a:folHlink>
        <a:srgbClr val="839FF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  <a:ln>
          <a:noFill/>
        </a:ln>
      </a:spPr>
      <a:bodyPr spcFirstLastPara="1" wrap="square" lIns="0" tIns="7307" rIns="0" bIns="0" rtlCol="0" anchor="t" anchorCtr="0">
        <a:spAutoFit/>
      </a:bodyPr>
      <a:lstStyle>
        <a:defPPr marL="7701" marR="3081" algn="r">
          <a:lnSpc>
            <a:spcPct val="119500"/>
          </a:lnSpc>
          <a:defRPr sz="1800" b="1" i="0" dirty="0">
            <a:solidFill>
              <a:schemeClr val="accent4"/>
            </a:solidFill>
            <a:latin typeface="Open Sans ExtraBold" pitchFamily="2" charset="0"/>
            <a:ea typeface="Open Sans ExtraBold" pitchFamily="2" charset="0"/>
            <a:cs typeface="Open Sans ExtraBold" pitchFamily="2" charset="0"/>
            <a:sym typeface="Figtree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unPower_v3" id="{4596D956-87D5-3A42-8782-DE3527235942}" vid="{408376D1-EDEC-574E-95E1-F424A780B37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0C504355090C444BE7D10ADFD191CD1" ma:contentTypeVersion="84" ma:contentTypeDescription="Create a new document." ma:contentTypeScope="" ma:versionID="a0de59c850f63590172dccfc0ab2cd06">
  <xsd:schema xmlns:xsd="http://www.w3.org/2001/XMLSchema" xmlns:xs="http://www.w3.org/2001/XMLSchema" xmlns:p="http://schemas.microsoft.com/office/2006/metadata/properties" xmlns:ns1="http://schemas.microsoft.com/sharepoint/v3" xmlns:ns2="83f8eacf-2526-432c-b3e2-18eea6be12a3" xmlns:ns3="a8d63d1d-10eb-44b3-8a11-d5a029092278" targetNamespace="http://schemas.microsoft.com/office/2006/metadata/properties" ma:root="true" ma:fieldsID="d2de3c7ce2308ae132d05e48147c0fe7" ns1:_="" ns2:_="" ns3:_="">
    <xsd:import namespace="http://schemas.microsoft.com/sharepoint/v3"/>
    <xsd:import namespace="83f8eacf-2526-432c-b3e2-18eea6be12a3"/>
    <xsd:import namespace="a8d63d1d-10eb-44b3-8a11-d5a02909227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  <xsd:element ref="ns2:MediaServiceDateTaken" minOccurs="0"/>
                <xsd:element ref="ns3:TaxCatchAll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2:MediaServiceOCR" minOccurs="0"/>
                <xsd:element ref="ns2:MediaLengthInSeconds" minOccurs="0"/>
                <xsd:element ref="ns1:_ip_UnifiedCompliancePolicyProperties" minOccurs="0"/>
                <xsd:element ref="ns1:_ip_UnifiedCompliancePolicyUIAction" minOccurs="0"/>
                <xsd:element ref="ns2:Owners_x002f_DataStewards" minOccurs="0"/>
                <xsd:element ref="ns2:Information" minOccurs="0"/>
                <xsd:element ref="ns2:Bright_x0020_Idea_x0020_Submis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f8eacf-2526-432c-b3e2-18eea6be12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12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8" nillable="true" ma:displayName="Image Tags_0" ma:hidden="true" ma:internalName="lcf76f155ced4ddcb4097134ff3c332f">
      <xsd:simpleType>
        <xsd:restriction base="dms:Note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Owners_x002f_DataStewards" ma:index="24" nillable="true" ma:displayName="Owners/Data Stewards" ma:format="Dropdown" ma:list="UserInfo" ma:SharePointGroup="0" ma:internalName="Owners_x002f_DataSteward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Information" ma:index="25" nillable="true" ma:displayName="Information" ma:format="Dropdown" ma:internalName="Information">
      <xsd:simpleType>
        <xsd:restriction base="dms:Note">
          <xsd:maxLength value="255"/>
        </xsd:restriction>
      </xsd:simpleType>
    </xsd:element>
    <xsd:element name="Bright_x0020_Idea_x0020_Submissions" ma:index="26" nillable="true" ma:displayName="Bright Idea Submissions" ma:internalName="Bright_x0020_Idea_x0020_Submissions" ma:percentage="FALSE">
      <xsd:simpleType>
        <xsd:restriction base="dms:Number">
          <xsd:maxInclusive value="1.7976931348623157e+308"/>
          <xsd:minInclusive value="-1.7976931348623157e+308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d63d1d-10eb-44b3-8a11-d5a02909227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a37dc13-104b-4894-a790-8da42721ea16}" ma:internalName="TaxCatchAll" ma:showField="CatchAllData" ma:web="a8d63d1d-10eb-44b3-8a11-d5a02909227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8d63d1d-10eb-44b3-8a11-d5a029092278" xsi:nil="true"/>
    <_ip_UnifiedCompliancePolicyUIAction xmlns="http://schemas.microsoft.com/sharepoint/v3" xsi:nil="true"/>
    <lcf76f155ced4ddcb4097134ff3c332f xmlns="83f8eacf-2526-432c-b3e2-18eea6be12a3" xsi:nil="true"/>
    <Information xmlns="83f8eacf-2526-432c-b3e2-18eea6be12a3" xsi:nil="true"/>
    <Bright_x0020_Idea_x0020_Submissions xmlns="83f8eacf-2526-432c-b3e2-18eea6be12a3" xsi:nil="true"/>
    <Owners_x002f_DataStewards xmlns="83f8eacf-2526-432c-b3e2-18eea6be12a3">
      <UserInfo>
        <DisplayName/>
        <AccountId xsi:nil="true"/>
        <AccountType/>
      </UserInfo>
    </Owners_x002f_DataStewards>
    <_ip_UnifiedCompliancePolicyProperties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36A2A52-DF72-4630-96B1-EC00318D3C53}">
  <ds:schemaRefs>
    <ds:schemaRef ds:uri="83f8eacf-2526-432c-b3e2-18eea6be12a3"/>
    <ds:schemaRef ds:uri="a8d63d1d-10eb-44b3-8a11-d5a02909227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4E8A881-0B0D-423E-8AD5-DD5B6EE7E43E}">
  <ds:schemaRefs>
    <ds:schemaRef ds:uri="http://schemas.microsoft.com/office/2006/metadata/properties"/>
    <ds:schemaRef ds:uri="http://www.w3.org/XML/1998/namespace"/>
    <ds:schemaRef ds:uri="http://schemas.microsoft.com/office/infopath/2007/PartnerControls"/>
    <ds:schemaRef ds:uri="a8d63d1d-10eb-44b3-8a11-d5a029092278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83f8eacf-2526-432c-b3e2-18eea6be12a3"/>
    <ds:schemaRef ds:uri="http://schemas.microsoft.com/sharepoint/v3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8B181334-4667-421D-BCEF-E3978F79462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8391</TotalTime>
  <Words>2389</Words>
  <Application>Microsoft Office PowerPoint</Application>
  <PresentationFormat>Custom</PresentationFormat>
  <Paragraphs>733</Paragraphs>
  <Slides>25</Slides>
  <Notes>11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Links</vt:lpstr>
      </vt:variant>
      <vt:variant>
        <vt:i4>13</vt:i4>
      </vt:variant>
      <vt:variant>
        <vt:lpstr>Slide Titles</vt:lpstr>
      </vt:variant>
      <vt:variant>
        <vt:i4>25</vt:i4>
      </vt:variant>
    </vt:vector>
  </HeadingPairs>
  <TitlesOfParts>
    <vt:vector size="50" baseType="lpstr">
      <vt:lpstr>Aptos</vt:lpstr>
      <vt:lpstr>Arial</vt:lpstr>
      <vt:lpstr>Figtree</vt:lpstr>
      <vt:lpstr>Figtree Light</vt:lpstr>
      <vt:lpstr>Open Sans Light</vt:lpstr>
      <vt:lpstr>Roboto</vt:lpstr>
      <vt:lpstr>Segoe UI</vt:lpstr>
      <vt:lpstr>Segoe UI Semibold</vt:lpstr>
      <vt:lpstr>Segoe UI Semilight</vt:lpstr>
      <vt:lpstr>SunPower_v3</vt:lpstr>
      <vt:lpstr>Office Theme</vt:lpstr>
      <vt:lpstr>1_Office Theme</vt:lpstr>
      <vt:lpstr>https://blueravensolar.sharepoint.com/sites/QualityOMandCustomerSuccess/Shared%20Documents/BRS%20SCV/BRS%20SCV_Corp_Audit_rev01.xlsx!QA-BRS_FPY_Pareto!%5bBRS%20SCV_Corp_Audit_rev01.xlsx%5dQA-BRS_FPY_Pareto%20Chart%201</vt:lpstr>
      <vt:lpstr>https://blueravensolar.sharepoint.com/sites/QualityOMandCustomerSuccess/Shared%20Documents/NH%20JCO%20First%20Pass%20Yield%20Data/NH%20M2%20FPY%20for%20CorpQA_rev00.xlsx!SPD_LR_JF_Pareto!%5bNH%20M2%20FPY%20for%20CorpQA_rev00.xlsx%5dSPD_LR_JF_Pareto%20Pareto_M1QA</vt:lpstr>
      <vt:lpstr>https://blueravensolar.sharepoint.com/sites/QualityOMandCustomerSuccess/Shared%20Documents/NH%20JCO%20First%20Pass%20Yield%20Data/NH%20M2%20FPY%20for%20CorpQA_rev00.xlsx!SPD_LR_JF_Pareto!%5bNH%20M2%20FPY%20for%20CorpQA_rev00.xlsx%5dSPD_LR_JF_Pareto%20Pareto_M1QA</vt:lpstr>
      <vt:lpstr>https://blueravensolar.sharepoint.com/sites/QualityOMandCustomerSuccess/Shared%20Documents/NH%20JCO%20First%20Pass%20Yield%20Data/NH%20M2%20FPY%20for%20CorpQA_rev00.xlsx!SPD_LR_JF_Pareto!%5bNH%20M2%20FPY%20for%20CorpQA_rev00.xlsx%5dSPD_LR_JF_Pareto%20Chart%2016</vt:lpstr>
      <vt:lpstr>https://blueravensolar.sharepoint.com/sites/QualityOMandCustomerSuccess/Shared%20Documents/NH%20JCO%20First%20Pass%20Yield%20Data/NH%20M2%20FPY%20for%20CorpQA_rev00.xlsx!SPD_LR_FPY!%5bNH%20M2%20FPY%20for%20CorpQA_rev00.xlsx%5dSPD_LR_FPY%20Chart%205</vt:lpstr>
      <vt:lpstr>https://blueravensolar.sharepoint.com/sites/QualityOMandCustomerSuccess/Shared%20Documents/NH%20JCO%20First%20Pass%20Yield%20Data/NH%20M2%20FPY%20for%20CorpQA_rev00.xlsx!SPD_LR_FPY!%5bNH%20M2%20FPY%20for%20CorpQA_rev00.xlsx%5dSPD_LR_FPY%20Chart%205</vt:lpstr>
      <vt:lpstr>https://blueravensolar.sharepoint.com/sites/QualityOMandCustomerSuccess/Shared%20Documents/NH%20JCO%20First%20Pass%20Yield%20Data/NH%20M2%20FPY%20for%20CorpQA_rev00.xlsx!SPD_LR_JF_Pareto!%5bNH%20M2%20FPY%20for%20CorpQA_rev00.xlsx%5dSPD_LR_JF_Pareto%20Chart%206</vt:lpstr>
      <vt:lpstr>https://blueravensolar.sharepoint.com/sites/QualityOMandCustomerSuccess/Shared%20Documents/NH%20JCO%20First%20Pass%20Yield%20Data/NH%20M2%20FPY%20for%20CorpQA_rev00.xlsx!SPD_LR_JF_Pareto!%5bNH%20M2%20FPY%20for%20CorpQA_rev00.xlsx%5dSPD_LR_JF_Pareto%20Chart%208</vt:lpstr>
      <vt:lpstr>https://blueravensolar.sharepoint.com/sites/QualityOMandCustomerSuccess/Shared%20Documents/NH%20JCO%20First%20Pass%20Yield%20Data/NH%20M2%20FPY%20for%20CorpQA_rev00.xlsx!SPD_LR_JF_Pareto!%5bNH%20M2%20FPY%20for%20CorpQA_rev00.xlsx%5dSPD_LR_JF_Pareto%20Chart%206</vt:lpstr>
      <vt:lpstr>https://blueravensolar.sharepoint.com/sites/QualityOMandCustomerSuccess/Shared%20Documents/NH%20JCO%20First%20Pass%20Yield%20Data/NH%20M2%20FPY%20for%20CorpQA_rev00.xlsx!SPD_LR_JF_Pareto!%5bNH%20M2%20FPY%20for%20CorpQA_rev00.xlsx%5dSPD_LR_JF_Pareto%20Chart%208</vt:lpstr>
      <vt:lpstr>https://blueravensolar.sharepoint.com/sites/QualityOMandCustomerSuccess/Shared%20Documents/Quality%20Data%20Repository/SPWR%20Direct%20FPY/FPY_SPD_8_rev00.xlsb!FPY_Summary!%5bFPY_SPD_8_rev00.xlsb%5dFPY_Summary%20Chart%205</vt:lpstr>
      <vt:lpstr>https://blueravensolar.sharepoint.com/sites/QualityOMandCustomerSuccess/Shared%20Documents/Quality%20Data%20Repository/SPWR%20Direct%20FPY/14%20Final%20Inspection%20Verified/S14_FIV_FPY_rev00.xlsb!FPY_Pareto!%5bS14_FIV_FPY_rev00.xlsb%5dFPY_Pareto%20Chart%205</vt:lpstr>
      <vt:lpstr>https://blueravensolar.sharepoint.com/sites/QualityOMandCustomerSuccess/Shared%20Documents/Quality%20Data%20Repository/SPWR%20Direct%20FPY/14%20Final%20Inspection%20Verified/S14_FIV_FPY_rev00.xlsb!FPY_Pareto!%5bS14_FIV_FPY_rev00.xlsb%5dFPY_Pareto%20Chart%204</vt:lpstr>
      <vt:lpstr>Cignetti Turnaround</vt:lpstr>
      <vt:lpstr>SUNPOWER DIRECT PROCESSES: TARGET TO FPY=100%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NEW HOMES PROCESSES: TARGET TO FPY=100%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ERF - Edryl Figueroa</dc:creator>
  <cp:lastModifiedBy>ERF - Edryl Figueroa</cp:lastModifiedBy>
  <cp:revision>6</cp:revision>
  <dcterms:created xsi:type="dcterms:W3CDTF">2026-05-13T23:00:09Z</dcterms:created>
  <dcterms:modified xsi:type="dcterms:W3CDTF">2026-06-23T15:48:23Z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0x01010030C504355090C444BE7D10ADFD191CD1</vt:lpwstr>
  </property>
</Properties>
</file>